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x="18288000" cy="10287000"/>
  <p:notesSz cx="6858000" cy="9144000"/>
  <p:embeddedFontLst>
    <p:embeddedFont>
      <p:font typeface="League Spartan" charset="1" panose="00000800000000000000"/>
      <p:regular r:id="rId43"/>
    </p:embeddedFont>
    <p:embeddedFont>
      <p:font typeface="Arimo" charset="1" panose="020B0604020202020204"/>
      <p:regular r:id="rId44"/>
    </p:embeddedFont>
    <p:embeddedFont>
      <p:font typeface="Arimo Bold" charset="1" panose="020B0704020202020204"/>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embeddings/oleObject1.bin" Type="http://schemas.openxmlformats.org/officeDocument/2006/relationships/oleObjec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embeddings/oleObject2.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embeddings/oleObject3.bin" Type="http://schemas.openxmlformats.org/officeDocument/2006/relationships/oleObjec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media/image20.png" Type="http://schemas.openxmlformats.org/officeDocument/2006/relationships/image"/><Relationship Id="rId4" Target="../embeddings/oleObject4.bin" Type="http://schemas.openxmlformats.org/officeDocument/2006/relationships/oleObjec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embeddings/oleObject5.bin" Type="http://schemas.openxmlformats.org/officeDocument/2006/relationships/oleObjec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embeddings/oleObject6.bin" Type="http://schemas.openxmlformats.org/officeDocument/2006/relationships/oleObject"/><Relationship Id="rId4" Target="../media/image23.png" Type="http://schemas.openxmlformats.org/officeDocument/2006/relationships/image"/><Relationship Id="rId5" Target="../embeddings/oleObject7.bin" Type="http://schemas.openxmlformats.org/officeDocument/2006/relationships/oleObjec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embeddings/oleObject8.bin" Type="http://schemas.openxmlformats.org/officeDocument/2006/relationships/oleObjec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embeddings/oleObject9.bin" Type="http://schemas.openxmlformats.org/officeDocument/2006/relationships/oleObjec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embeddings/oleObject10.bin" Type="http://schemas.openxmlformats.org/officeDocument/2006/relationships/oleObjec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embeddings/oleObject11.bin" Type="http://schemas.openxmlformats.org/officeDocument/2006/relationships/oleObjec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embeddings/oleObject12.bin" Type="http://schemas.openxmlformats.org/officeDocument/2006/relationships/oleObjec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embeddings/oleObject13.bin" Type="http://schemas.openxmlformats.org/officeDocument/2006/relationships/oleObjec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embeddings/oleObject14.bin" Type="http://schemas.openxmlformats.org/officeDocument/2006/relationships/oleObjec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embeddings/oleObject15.bin" Type="http://schemas.openxmlformats.org/officeDocument/2006/relationships/oleObjec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embeddings/oleObject16.bin" Type="http://schemas.openxmlformats.org/officeDocument/2006/relationships/oleObjec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embeddings/oleObject17.bin" Type="http://schemas.openxmlformats.org/officeDocument/2006/relationships/oleObjec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embeddings/oleObject18.bin" Type="http://schemas.openxmlformats.org/officeDocument/2006/relationships/oleObjec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embeddings/oleObject19.bin" Type="http://schemas.openxmlformats.org/officeDocument/2006/relationships/oleObject"/><Relationship Id="rId4" Target="../media/image37.png" Type="http://schemas.openxmlformats.org/officeDocument/2006/relationships/image"/><Relationship Id="rId5" Target="../embeddings/oleObject20.bin" Type="http://schemas.openxmlformats.org/officeDocument/2006/relationships/oleObjec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6635353" y="6637609"/>
            <a:ext cx="8572348" cy="4043501"/>
          </a:xfrm>
          <a:custGeom>
            <a:avLst/>
            <a:gdLst/>
            <a:ahLst/>
            <a:cxnLst/>
            <a:rect r="r" b="b" t="t" l="l"/>
            <a:pathLst>
              <a:path h="4043501" w="8572348">
                <a:moveTo>
                  <a:pt x="0" y="0"/>
                </a:moveTo>
                <a:lnTo>
                  <a:pt x="8572348" y="0"/>
                </a:lnTo>
                <a:lnTo>
                  <a:pt x="8572348" y="4043501"/>
                </a:lnTo>
                <a:lnTo>
                  <a:pt x="0" y="40435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081354" y="1028700"/>
            <a:ext cx="4282420" cy="8229600"/>
          </a:xfrm>
          <a:custGeom>
            <a:avLst/>
            <a:gdLst/>
            <a:ahLst/>
            <a:cxnLst/>
            <a:rect r="r" b="b" t="t" l="l"/>
            <a:pathLst>
              <a:path h="8229600" w="4282420">
                <a:moveTo>
                  <a:pt x="0" y="0"/>
                </a:moveTo>
                <a:lnTo>
                  <a:pt x="4282420" y="0"/>
                </a:lnTo>
                <a:lnTo>
                  <a:pt x="4282420" y="8229600"/>
                </a:lnTo>
                <a:lnTo>
                  <a:pt x="0" y="8229600"/>
                </a:lnTo>
                <a:lnTo>
                  <a:pt x="0" y="0"/>
                </a:lnTo>
                <a:close/>
              </a:path>
            </a:pathLst>
          </a:custGeom>
          <a:blipFill>
            <a:blip r:embed="rId4"/>
            <a:stretch>
              <a:fillRect l="0" t="0" r="0" b="0"/>
            </a:stretch>
          </a:blipFill>
        </p:spPr>
      </p:sp>
      <p:sp>
        <p:nvSpPr>
          <p:cNvPr name="Freeform 4" id="4"/>
          <p:cNvSpPr/>
          <p:nvPr/>
        </p:nvSpPr>
        <p:spPr>
          <a:xfrm flipH="true" flipV="false" rot="0">
            <a:off x="0" y="1028700"/>
            <a:ext cx="4282420" cy="8229600"/>
          </a:xfrm>
          <a:custGeom>
            <a:avLst/>
            <a:gdLst/>
            <a:ahLst/>
            <a:cxnLst/>
            <a:rect r="r" b="b" t="t" l="l"/>
            <a:pathLst>
              <a:path h="8229600" w="4282420">
                <a:moveTo>
                  <a:pt x="4282420" y="0"/>
                </a:moveTo>
                <a:lnTo>
                  <a:pt x="0" y="0"/>
                </a:lnTo>
                <a:lnTo>
                  <a:pt x="0" y="8229600"/>
                </a:lnTo>
                <a:lnTo>
                  <a:pt x="4282420" y="8229600"/>
                </a:lnTo>
                <a:lnTo>
                  <a:pt x="4282420" y="0"/>
                </a:lnTo>
                <a:close/>
              </a:path>
            </a:pathLst>
          </a:custGeom>
          <a:blipFill>
            <a:blip r:embed="rId4"/>
            <a:stretch>
              <a:fillRect l="0" t="0" r="0" b="0"/>
            </a:stretch>
          </a:blipFill>
        </p:spPr>
      </p:sp>
      <p:sp>
        <p:nvSpPr>
          <p:cNvPr name="TextBox 5" id="5"/>
          <p:cNvSpPr txBox="true"/>
          <p:nvPr/>
        </p:nvSpPr>
        <p:spPr>
          <a:xfrm rot="0">
            <a:off x="859875" y="2972711"/>
            <a:ext cx="16568251" cy="6150529"/>
          </a:xfrm>
          <a:prstGeom prst="rect">
            <a:avLst/>
          </a:prstGeom>
        </p:spPr>
        <p:txBody>
          <a:bodyPr anchor="t" rtlCol="false" tIns="0" lIns="0" bIns="0" rIns="0">
            <a:spAutoFit/>
          </a:bodyPr>
          <a:lstStyle/>
          <a:p>
            <a:pPr algn="ctr">
              <a:lnSpc>
                <a:spcPts val="12049"/>
              </a:lnSpc>
            </a:pPr>
            <a:r>
              <a:rPr lang="en-US" sz="11367" spc="1136">
                <a:solidFill>
                  <a:srgbClr val="FFFFFF"/>
                </a:solidFill>
                <a:latin typeface="League Spartan"/>
                <a:ea typeface="League Spartan"/>
                <a:cs typeface="League Spartan"/>
                <a:sym typeface="League Spartan"/>
              </a:rPr>
              <a:t>DATABASE CONNECTION POOLING VÀ RDS PROXY</a:t>
            </a:r>
          </a:p>
        </p:txBody>
      </p:sp>
      <p:sp>
        <p:nvSpPr>
          <p:cNvPr name="Freeform 6" id="6"/>
          <p:cNvSpPr/>
          <p:nvPr/>
        </p:nvSpPr>
        <p:spPr>
          <a:xfrm flipH="false" flipV="false" rot="0">
            <a:off x="12467517" y="6745731"/>
            <a:ext cx="8572348" cy="4043501"/>
          </a:xfrm>
          <a:custGeom>
            <a:avLst/>
            <a:gdLst/>
            <a:ahLst/>
            <a:cxnLst/>
            <a:rect r="r" b="b" t="t" l="l"/>
            <a:pathLst>
              <a:path h="4043501" w="8572348">
                <a:moveTo>
                  <a:pt x="0" y="0"/>
                </a:moveTo>
                <a:lnTo>
                  <a:pt x="8572348" y="0"/>
                </a:lnTo>
                <a:lnTo>
                  <a:pt x="8572348" y="4043501"/>
                </a:lnTo>
                <a:lnTo>
                  <a:pt x="0" y="40435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8278001" y="278918"/>
            <a:ext cx="1731997" cy="1499565"/>
          </a:xfrm>
          <a:custGeom>
            <a:avLst/>
            <a:gdLst/>
            <a:ahLst/>
            <a:cxnLst/>
            <a:rect r="r" b="b" t="t" l="l"/>
            <a:pathLst>
              <a:path h="1499565" w="1731997">
                <a:moveTo>
                  <a:pt x="0" y="0"/>
                </a:moveTo>
                <a:lnTo>
                  <a:pt x="1731998" y="0"/>
                </a:lnTo>
                <a:lnTo>
                  <a:pt x="1731998" y="1499564"/>
                </a:lnTo>
                <a:lnTo>
                  <a:pt x="0" y="14995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16243" y="6637609"/>
            <a:ext cx="8572348" cy="4043501"/>
          </a:xfrm>
          <a:custGeom>
            <a:avLst/>
            <a:gdLst/>
            <a:ahLst/>
            <a:cxnLst/>
            <a:rect r="r" b="b" t="t" l="l"/>
            <a:pathLst>
              <a:path h="4043501" w="8572348">
                <a:moveTo>
                  <a:pt x="0" y="0"/>
                </a:moveTo>
                <a:lnTo>
                  <a:pt x="8572348" y="0"/>
                </a:lnTo>
                <a:lnTo>
                  <a:pt x="8572348" y="4043501"/>
                </a:lnTo>
                <a:lnTo>
                  <a:pt x="0" y="40435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true" flipV="false" rot="0">
            <a:off x="8788436" y="-316726"/>
            <a:ext cx="7886994" cy="10920453"/>
          </a:xfrm>
          <a:custGeom>
            <a:avLst/>
            <a:gdLst/>
            <a:ahLst/>
            <a:cxnLst/>
            <a:rect r="r" b="b" t="t" l="l"/>
            <a:pathLst>
              <a:path h="10920453" w="7886994">
                <a:moveTo>
                  <a:pt x="7886994" y="0"/>
                </a:moveTo>
                <a:lnTo>
                  <a:pt x="0" y="0"/>
                </a:lnTo>
                <a:lnTo>
                  <a:pt x="0" y="10920452"/>
                </a:lnTo>
                <a:lnTo>
                  <a:pt x="7886994" y="10920452"/>
                </a:lnTo>
                <a:lnTo>
                  <a:pt x="7886994" y="0"/>
                </a:lnTo>
                <a:close/>
              </a:path>
            </a:pathLst>
          </a:custGeom>
          <a:blipFill>
            <a:blip r:embed="rId2"/>
            <a:stretch>
              <a:fillRect l="0" t="0" r="0" b="0"/>
            </a:stretch>
          </a:blipFill>
        </p:spPr>
      </p:sp>
      <p:grpSp>
        <p:nvGrpSpPr>
          <p:cNvPr name="Group 3" id="3"/>
          <p:cNvGrpSpPr/>
          <p:nvPr/>
        </p:nvGrpSpPr>
        <p:grpSpPr>
          <a:xfrm rot="0">
            <a:off x="9144000" y="0"/>
            <a:ext cx="9144000" cy="10287000"/>
            <a:chOff x="0" y="0"/>
            <a:chExt cx="2408296" cy="2709333"/>
          </a:xfrm>
        </p:grpSpPr>
        <p:sp>
          <p:nvSpPr>
            <p:cNvPr name="Freeform 4" id="4"/>
            <p:cNvSpPr/>
            <p:nvPr/>
          </p:nvSpPr>
          <p:spPr>
            <a:xfrm flipH="false" flipV="false" rot="0">
              <a:off x="0" y="0"/>
              <a:ext cx="2408296" cy="2709333"/>
            </a:xfrm>
            <a:custGeom>
              <a:avLst/>
              <a:gdLst/>
              <a:ahLst/>
              <a:cxnLst/>
              <a:rect r="r" b="b" t="t" l="l"/>
              <a:pathLst>
                <a:path h="2709333" w="2408296">
                  <a:moveTo>
                    <a:pt x="0" y="0"/>
                  </a:moveTo>
                  <a:lnTo>
                    <a:pt x="2408296" y="0"/>
                  </a:lnTo>
                  <a:lnTo>
                    <a:pt x="2408296" y="2709333"/>
                  </a:lnTo>
                  <a:lnTo>
                    <a:pt x="0" y="2709333"/>
                  </a:lnTo>
                  <a:close/>
                </a:path>
              </a:pathLst>
            </a:custGeom>
            <a:solidFill>
              <a:srgbClr val="FFFFFF"/>
            </a:solidFill>
          </p:spPr>
        </p:sp>
        <p:sp>
          <p:nvSpPr>
            <p:cNvPr name="TextBox 5" id="5"/>
            <p:cNvSpPr txBox="true"/>
            <p:nvPr/>
          </p:nvSpPr>
          <p:spPr>
            <a:xfrm>
              <a:off x="0" y="-47625"/>
              <a:ext cx="2408296" cy="2756958"/>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028700" y="3930106"/>
            <a:ext cx="8115300" cy="3627476"/>
          </a:xfrm>
          <a:prstGeom prst="rect">
            <a:avLst/>
          </a:prstGeom>
        </p:spPr>
        <p:txBody>
          <a:bodyPr anchor="t" rtlCol="false" tIns="0" lIns="0" bIns="0" rIns="0">
            <a:spAutoFit/>
          </a:bodyPr>
          <a:lstStyle/>
          <a:p>
            <a:pPr algn="l" marL="824737" indent="-412369" lvl="1">
              <a:lnSpc>
                <a:spcPts val="7296"/>
              </a:lnSpc>
              <a:buFont typeface="Arial"/>
              <a:buChar char="•"/>
            </a:pPr>
            <a:r>
              <a:rPr lang="en-US" sz="3819" spc="381">
                <a:solidFill>
                  <a:srgbClr val="FFFFFF"/>
                </a:solidFill>
                <a:latin typeface="Arimo"/>
                <a:ea typeface="Arimo"/>
                <a:cs typeface="Arimo"/>
                <a:sym typeface="Arimo"/>
              </a:rPr>
              <a:t>Tổng quan đề tài</a:t>
            </a:r>
          </a:p>
          <a:p>
            <a:pPr algn="l" marL="824737" indent="-412369" lvl="1">
              <a:lnSpc>
                <a:spcPts val="7296"/>
              </a:lnSpc>
              <a:buFont typeface="Arial"/>
              <a:buChar char="•"/>
            </a:pPr>
            <a:r>
              <a:rPr lang="en-US" sz="3819" spc="381">
                <a:solidFill>
                  <a:srgbClr val="FFFFFF"/>
                </a:solidFill>
                <a:latin typeface="Arimo"/>
                <a:ea typeface="Arimo"/>
                <a:cs typeface="Arimo"/>
                <a:sym typeface="Arimo"/>
              </a:rPr>
              <a:t>Vấn đề</a:t>
            </a:r>
          </a:p>
          <a:p>
            <a:pPr algn="l" marL="824737" indent="-412369" lvl="1">
              <a:lnSpc>
                <a:spcPts val="7296"/>
              </a:lnSpc>
              <a:buFont typeface="Arial"/>
              <a:buChar char="•"/>
            </a:pPr>
            <a:r>
              <a:rPr lang="en-US" sz="3819" spc="381">
                <a:solidFill>
                  <a:srgbClr val="FFFFFF"/>
                </a:solidFill>
                <a:latin typeface="Arimo"/>
                <a:ea typeface="Arimo"/>
                <a:cs typeface="Arimo"/>
                <a:sym typeface="Arimo"/>
              </a:rPr>
              <a:t>Kiến trúc giải pháp</a:t>
            </a:r>
          </a:p>
          <a:p>
            <a:pPr algn="l" marL="824737" indent="-412369" lvl="1">
              <a:lnSpc>
                <a:spcPts val="7296"/>
              </a:lnSpc>
              <a:buFont typeface="Arial"/>
              <a:buChar char="•"/>
            </a:pPr>
            <a:r>
              <a:rPr lang="en-US" sz="3819" spc="381">
                <a:solidFill>
                  <a:srgbClr val="FFFFFF"/>
                </a:solidFill>
                <a:latin typeface="Arimo"/>
                <a:ea typeface="Arimo"/>
                <a:cs typeface="Arimo"/>
                <a:sym typeface="Arimo"/>
              </a:rPr>
              <a:t>Triển khai kỹ thuật</a:t>
            </a:r>
          </a:p>
        </p:txBody>
      </p:sp>
      <p:sp>
        <p:nvSpPr>
          <p:cNvPr name="TextBox 7" id="7"/>
          <p:cNvSpPr txBox="true"/>
          <p:nvPr/>
        </p:nvSpPr>
        <p:spPr>
          <a:xfrm rot="0">
            <a:off x="9915525" y="3874719"/>
            <a:ext cx="7600950" cy="3617646"/>
          </a:xfrm>
          <a:prstGeom prst="rect">
            <a:avLst/>
          </a:prstGeom>
        </p:spPr>
        <p:txBody>
          <a:bodyPr anchor="t" rtlCol="false" tIns="0" lIns="0" bIns="0" rIns="0">
            <a:spAutoFit/>
          </a:bodyPr>
          <a:lstStyle/>
          <a:p>
            <a:pPr algn="l" marL="825079" indent="-412540" lvl="1">
              <a:lnSpc>
                <a:spcPts val="7299"/>
              </a:lnSpc>
              <a:buFont typeface="Arial"/>
              <a:buChar char="•"/>
            </a:pPr>
            <a:r>
              <a:rPr lang="en-US" sz="3821" spc="382">
                <a:solidFill>
                  <a:srgbClr val="194A8D"/>
                </a:solidFill>
                <a:latin typeface="Arimo"/>
                <a:ea typeface="Arimo"/>
                <a:cs typeface="Arimo"/>
                <a:sym typeface="Arimo"/>
              </a:rPr>
              <a:t>Các mốc quan trọng</a:t>
            </a:r>
          </a:p>
          <a:p>
            <a:pPr algn="l" marL="825079" indent="-412540" lvl="1">
              <a:lnSpc>
                <a:spcPts val="7299"/>
              </a:lnSpc>
              <a:buFont typeface="Arial"/>
              <a:buChar char="•"/>
            </a:pPr>
            <a:r>
              <a:rPr lang="en-US" sz="3821" spc="382">
                <a:solidFill>
                  <a:srgbClr val="194A8D"/>
                </a:solidFill>
                <a:latin typeface="Arimo"/>
                <a:ea typeface="Arimo"/>
                <a:cs typeface="Arimo"/>
                <a:sym typeface="Arimo"/>
              </a:rPr>
              <a:t>Dự đoán ngân sách</a:t>
            </a:r>
          </a:p>
          <a:p>
            <a:pPr algn="l" marL="825079" indent="-412540" lvl="1">
              <a:lnSpc>
                <a:spcPts val="7299"/>
              </a:lnSpc>
              <a:buFont typeface="Arial"/>
              <a:buChar char="•"/>
            </a:pPr>
            <a:r>
              <a:rPr lang="en-US" sz="3821" spc="382">
                <a:solidFill>
                  <a:srgbClr val="194A8D"/>
                </a:solidFill>
                <a:latin typeface="Arimo"/>
                <a:ea typeface="Arimo"/>
                <a:cs typeface="Arimo"/>
                <a:sym typeface="Arimo"/>
              </a:rPr>
              <a:t>Đánh giá rủi ro</a:t>
            </a:r>
          </a:p>
          <a:p>
            <a:pPr algn="l" marL="825079" indent="-412540" lvl="1">
              <a:lnSpc>
                <a:spcPts val="7299"/>
              </a:lnSpc>
              <a:buFont typeface="Arial"/>
              <a:buChar char="•"/>
            </a:pPr>
            <a:r>
              <a:rPr lang="en-US" sz="3821" spc="382">
                <a:solidFill>
                  <a:srgbClr val="194A8D"/>
                </a:solidFill>
                <a:latin typeface="Arimo"/>
                <a:ea typeface="Arimo"/>
                <a:cs typeface="Arimo"/>
                <a:sym typeface="Arimo"/>
              </a:rPr>
              <a:t>Kết quả mong đợi</a:t>
            </a:r>
          </a:p>
        </p:txBody>
      </p:sp>
      <p:sp>
        <p:nvSpPr>
          <p:cNvPr name="Freeform 8" id="8"/>
          <p:cNvSpPr/>
          <p:nvPr/>
        </p:nvSpPr>
        <p:spPr>
          <a:xfrm flipH="false" flipV="false" rot="0">
            <a:off x="8944127" y="8134952"/>
            <a:ext cx="6667707" cy="3145099"/>
          </a:xfrm>
          <a:custGeom>
            <a:avLst/>
            <a:gdLst/>
            <a:ahLst/>
            <a:cxnLst/>
            <a:rect r="r" b="b" t="t" l="l"/>
            <a:pathLst>
              <a:path h="3145099" w="6667707">
                <a:moveTo>
                  <a:pt x="0" y="0"/>
                </a:moveTo>
                <a:lnTo>
                  <a:pt x="6667707" y="0"/>
                </a:lnTo>
                <a:lnTo>
                  <a:pt x="6667707" y="3145098"/>
                </a:lnTo>
                <a:lnTo>
                  <a:pt x="0" y="31450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4182621" y="8134952"/>
            <a:ext cx="6667707" cy="3145099"/>
          </a:xfrm>
          <a:custGeom>
            <a:avLst/>
            <a:gdLst/>
            <a:ahLst/>
            <a:cxnLst/>
            <a:rect r="r" b="b" t="t" l="l"/>
            <a:pathLst>
              <a:path h="3145099" w="6667707">
                <a:moveTo>
                  <a:pt x="0" y="0"/>
                </a:moveTo>
                <a:lnTo>
                  <a:pt x="6667708" y="0"/>
                </a:lnTo>
                <a:lnTo>
                  <a:pt x="6667708" y="3145098"/>
                </a:lnTo>
                <a:lnTo>
                  <a:pt x="0" y="31450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410120" y="2109787"/>
            <a:ext cx="7086415" cy="1135783"/>
          </a:xfrm>
          <a:prstGeom prst="rect">
            <a:avLst/>
          </a:prstGeom>
        </p:spPr>
        <p:txBody>
          <a:bodyPr anchor="t" rtlCol="false" tIns="0" lIns="0" bIns="0" rIns="0">
            <a:spAutoFit/>
          </a:bodyPr>
          <a:lstStyle/>
          <a:p>
            <a:pPr algn="l">
              <a:lnSpc>
                <a:spcPts val="8655"/>
              </a:lnSpc>
            </a:pPr>
            <a:r>
              <a:rPr lang="en-US" sz="8165" spc="816">
                <a:solidFill>
                  <a:srgbClr val="FFFFFF"/>
                </a:solidFill>
                <a:latin typeface="League Spartan"/>
                <a:ea typeface="League Spartan"/>
                <a:cs typeface="League Spartan"/>
                <a:sym typeface="League Spartan"/>
              </a:rPr>
              <a:t>NỘI DUNG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0" y="9759340"/>
            <a:ext cx="18288000" cy="4163081"/>
            <a:chOff x="0" y="0"/>
            <a:chExt cx="2833290" cy="644970"/>
          </a:xfrm>
        </p:grpSpPr>
        <p:sp>
          <p:nvSpPr>
            <p:cNvPr name="Freeform 3" id="3"/>
            <p:cNvSpPr/>
            <p:nvPr/>
          </p:nvSpPr>
          <p:spPr>
            <a:xfrm flipH="false" flipV="false" rot="0">
              <a:off x="0" y="0"/>
              <a:ext cx="2833290" cy="644970"/>
            </a:xfrm>
            <a:custGeom>
              <a:avLst/>
              <a:gdLst/>
              <a:ahLst/>
              <a:cxnLst/>
              <a:rect r="r" b="b" t="t" l="l"/>
              <a:pathLst>
                <a:path h="644970" w="2833290">
                  <a:moveTo>
                    <a:pt x="0" y="0"/>
                  </a:moveTo>
                  <a:lnTo>
                    <a:pt x="2833290" y="0"/>
                  </a:lnTo>
                  <a:lnTo>
                    <a:pt x="2833290" y="644970"/>
                  </a:lnTo>
                  <a:lnTo>
                    <a:pt x="0" y="644970"/>
                  </a:lnTo>
                  <a:close/>
                </a:path>
              </a:pathLst>
            </a:custGeom>
            <a:blipFill>
              <a:blip r:embed="rId2"/>
              <a:stretch>
                <a:fillRect l="0" t="-171934" r="0" b="-20742"/>
              </a:stretch>
            </a:blipFill>
          </p:spPr>
        </p:sp>
      </p:grpSp>
      <p:sp>
        <p:nvSpPr>
          <p:cNvPr name="Freeform 4" id="4"/>
          <p:cNvSpPr/>
          <p:nvPr/>
        </p:nvSpPr>
        <p:spPr>
          <a:xfrm flipH="false" flipV="true" rot="-5400000">
            <a:off x="15177010" y="-1253949"/>
            <a:ext cx="2720897" cy="5228794"/>
          </a:xfrm>
          <a:custGeom>
            <a:avLst/>
            <a:gdLst/>
            <a:ahLst/>
            <a:cxnLst/>
            <a:rect r="r" b="b" t="t" l="l"/>
            <a:pathLst>
              <a:path h="5228794" w="2720897">
                <a:moveTo>
                  <a:pt x="0" y="5228795"/>
                </a:moveTo>
                <a:lnTo>
                  <a:pt x="2720897" y="5228795"/>
                </a:lnTo>
                <a:lnTo>
                  <a:pt x="2720897" y="0"/>
                </a:lnTo>
                <a:lnTo>
                  <a:pt x="0" y="0"/>
                </a:lnTo>
                <a:lnTo>
                  <a:pt x="0" y="5228795"/>
                </a:lnTo>
                <a:close/>
              </a:path>
            </a:pathLst>
          </a:custGeom>
          <a:blipFill>
            <a:blip r:embed="rId3"/>
            <a:stretch>
              <a:fillRect l="0" t="0" r="0" b="0"/>
            </a:stretch>
          </a:blipFill>
        </p:spPr>
      </p:sp>
      <p:sp>
        <p:nvSpPr>
          <p:cNvPr name="TextBox 5" id="5"/>
          <p:cNvSpPr txBox="true"/>
          <p:nvPr/>
        </p:nvSpPr>
        <p:spPr>
          <a:xfrm rot="0">
            <a:off x="3541740" y="844944"/>
            <a:ext cx="12172520" cy="1135783"/>
          </a:xfrm>
          <a:prstGeom prst="rect">
            <a:avLst/>
          </a:prstGeom>
        </p:spPr>
        <p:txBody>
          <a:bodyPr anchor="t" rtlCol="false" tIns="0" lIns="0" bIns="0" rIns="0">
            <a:spAutoFit/>
          </a:bodyPr>
          <a:lstStyle/>
          <a:p>
            <a:pPr algn="ctr">
              <a:lnSpc>
                <a:spcPts val="8655"/>
              </a:lnSpc>
            </a:pPr>
            <a:r>
              <a:rPr lang="en-US" sz="8165" spc="816">
                <a:solidFill>
                  <a:srgbClr val="FFFFFF"/>
                </a:solidFill>
                <a:latin typeface="League Spartan"/>
                <a:ea typeface="League Spartan"/>
                <a:cs typeface="League Spartan"/>
                <a:sym typeface="League Spartan"/>
              </a:rPr>
              <a:t>TỔNG QUAN ĐỀ TÀI</a:t>
            </a:r>
          </a:p>
        </p:txBody>
      </p:sp>
      <p:sp>
        <p:nvSpPr>
          <p:cNvPr name="TextBox 6" id="6"/>
          <p:cNvSpPr txBox="true"/>
          <p:nvPr/>
        </p:nvSpPr>
        <p:spPr>
          <a:xfrm rot="0">
            <a:off x="1885602" y="3056832"/>
            <a:ext cx="5602921" cy="6097106"/>
          </a:xfrm>
          <a:prstGeom prst="rect">
            <a:avLst/>
          </a:prstGeom>
        </p:spPr>
        <p:txBody>
          <a:bodyPr anchor="t" rtlCol="false" tIns="0" lIns="0" bIns="0" rIns="0">
            <a:spAutoFit/>
          </a:bodyPr>
          <a:lstStyle/>
          <a:p>
            <a:pPr algn="l">
              <a:lnSpc>
                <a:spcPts val="4040"/>
              </a:lnSpc>
            </a:pPr>
            <a:r>
              <a:rPr lang="en-US" sz="3812" spc="381">
                <a:solidFill>
                  <a:srgbClr val="FFFFFF"/>
                </a:solidFill>
                <a:latin typeface="Arimo"/>
                <a:ea typeface="Arimo"/>
                <a:cs typeface="Arimo"/>
                <a:sym typeface="Arimo"/>
              </a:rPr>
              <a:t>Các hệ thống cơ sở dữ liệu hiện tại đang gặp vấn đề về hiệu suất, khả năng mở rộng và quản lý các kết nối một cách không tối ưu. Điều đó thường gây ra tình trạng quá tải kết nối đến cơ sở dữ liệu, lỗi kết nối trong trường hợp failover</a:t>
            </a:r>
            <a:r>
              <a:rPr lang="en-US" sz="3812" spc="381">
                <a:solidFill>
                  <a:srgbClr val="FFFFFF"/>
                </a:solidFill>
                <a:latin typeface="Arimo"/>
                <a:ea typeface="Arimo"/>
                <a:cs typeface="Arimo"/>
                <a:sym typeface="Arimo"/>
              </a:rPr>
              <a:t>.</a:t>
            </a:r>
          </a:p>
        </p:txBody>
      </p:sp>
      <p:sp>
        <p:nvSpPr>
          <p:cNvPr name="Freeform 7" id="7"/>
          <p:cNvSpPr/>
          <p:nvPr/>
        </p:nvSpPr>
        <p:spPr>
          <a:xfrm flipH="false" flipV="false" rot="-5400000">
            <a:off x="390093" y="-1471468"/>
            <a:ext cx="2720897" cy="5228794"/>
          </a:xfrm>
          <a:custGeom>
            <a:avLst/>
            <a:gdLst/>
            <a:ahLst/>
            <a:cxnLst/>
            <a:rect r="r" b="b" t="t" l="l"/>
            <a:pathLst>
              <a:path h="5228794" w="2720897">
                <a:moveTo>
                  <a:pt x="0" y="0"/>
                </a:moveTo>
                <a:lnTo>
                  <a:pt x="2720897" y="0"/>
                </a:lnTo>
                <a:lnTo>
                  <a:pt x="2720897" y="5228794"/>
                </a:lnTo>
                <a:lnTo>
                  <a:pt x="0" y="5228794"/>
                </a:lnTo>
                <a:lnTo>
                  <a:pt x="0" y="0"/>
                </a:lnTo>
                <a:close/>
              </a:path>
            </a:pathLst>
          </a:custGeom>
          <a:blipFill>
            <a:blip r:embed="rId3"/>
            <a:stretch>
              <a:fillRect l="0" t="0" r="0" b="0"/>
            </a:stretch>
          </a:blipFill>
        </p:spPr>
      </p:sp>
      <p:sp>
        <p:nvSpPr>
          <p:cNvPr name="TextBox 8" id="8"/>
          <p:cNvSpPr txBox="true"/>
          <p:nvPr/>
        </p:nvSpPr>
        <p:spPr>
          <a:xfrm rot="0">
            <a:off x="826110" y="1826099"/>
            <a:ext cx="8317890" cy="1021183"/>
          </a:xfrm>
          <a:prstGeom prst="rect">
            <a:avLst/>
          </a:prstGeom>
        </p:spPr>
        <p:txBody>
          <a:bodyPr anchor="t" rtlCol="false" tIns="0" lIns="0" bIns="0" rIns="0">
            <a:spAutoFit/>
          </a:bodyPr>
          <a:lstStyle/>
          <a:p>
            <a:pPr algn="l" marL="975864" indent="-487932" lvl="1">
              <a:lnSpc>
                <a:spcPts val="8633"/>
              </a:lnSpc>
              <a:buFont typeface="Arial"/>
              <a:buChar char="•"/>
            </a:pPr>
            <a:r>
              <a:rPr lang="en-US" b="true" sz="4519" spc="451">
                <a:solidFill>
                  <a:srgbClr val="FFFFFF"/>
                </a:solidFill>
                <a:latin typeface="Arimo Bold"/>
                <a:ea typeface="Arimo Bold"/>
                <a:cs typeface="Arimo Bold"/>
                <a:sym typeface="Arimo Bold"/>
              </a:rPr>
              <a:t>Tổng quan vấn đề</a:t>
            </a:r>
          </a:p>
        </p:txBody>
      </p:sp>
      <p:sp>
        <p:nvSpPr>
          <p:cNvPr name="TextBox 9" id="9"/>
          <p:cNvSpPr txBox="true"/>
          <p:nvPr/>
        </p:nvSpPr>
        <p:spPr>
          <a:xfrm rot="0">
            <a:off x="8941410" y="1826099"/>
            <a:ext cx="8317890" cy="1021183"/>
          </a:xfrm>
          <a:prstGeom prst="rect">
            <a:avLst/>
          </a:prstGeom>
        </p:spPr>
        <p:txBody>
          <a:bodyPr anchor="t" rtlCol="false" tIns="0" lIns="0" bIns="0" rIns="0">
            <a:spAutoFit/>
          </a:bodyPr>
          <a:lstStyle/>
          <a:p>
            <a:pPr algn="l" marL="975864" indent="-487932" lvl="1">
              <a:lnSpc>
                <a:spcPts val="8633"/>
              </a:lnSpc>
              <a:buFont typeface="Arial"/>
              <a:buChar char="•"/>
            </a:pPr>
            <a:r>
              <a:rPr lang="en-US" b="true" sz="4519" spc="451">
                <a:solidFill>
                  <a:srgbClr val="FFFFFF"/>
                </a:solidFill>
                <a:latin typeface="Arimo Bold"/>
                <a:ea typeface="Arimo Bold"/>
                <a:cs typeface="Arimo Bold"/>
                <a:sym typeface="Arimo Bold"/>
              </a:rPr>
              <a:t>Tổng quan giải pháp</a:t>
            </a:r>
          </a:p>
        </p:txBody>
      </p:sp>
      <p:sp>
        <p:nvSpPr>
          <p:cNvPr name="TextBox 10" id="10"/>
          <p:cNvSpPr txBox="true"/>
          <p:nvPr/>
        </p:nvSpPr>
        <p:spPr>
          <a:xfrm rot="0">
            <a:off x="10298894" y="3056832"/>
            <a:ext cx="5602921" cy="5087456"/>
          </a:xfrm>
          <a:prstGeom prst="rect">
            <a:avLst/>
          </a:prstGeom>
        </p:spPr>
        <p:txBody>
          <a:bodyPr anchor="t" rtlCol="false" tIns="0" lIns="0" bIns="0" rIns="0">
            <a:spAutoFit/>
          </a:bodyPr>
          <a:lstStyle/>
          <a:p>
            <a:pPr algn="l">
              <a:lnSpc>
                <a:spcPts val="4040"/>
              </a:lnSpc>
            </a:pPr>
            <a:r>
              <a:rPr lang="en-US" sz="3812" spc="381">
                <a:solidFill>
                  <a:srgbClr val="FFFFFF"/>
                </a:solidFill>
                <a:latin typeface="Arimo"/>
                <a:ea typeface="Arimo"/>
                <a:cs typeface="Arimo"/>
                <a:sym typeface="Arimo"/>
              </a:rPr>
              <a:t>Sử dụng Amazon RDS Proxy làm lớp trung gian giữa các container và Amazon RDS. Proxy sẽ quản lý connection pooling để tái sử dụng kết nối hiện có và tự động chuyển đổi endpoint khi failover</a:t>
            </a:r>
          </a:p>
        </p:txBody>
      </p:sp>
    </p:spTree>
  </p:cSld>
  <p:clrMapOvr>
    <a:masterClrMapping/>
  </p:clrMapOvr>
</p:sld>
</file>

<file path=ppt/slides/slide4.xml><?xml version="1.0" encoding="utf-8"?>
<p:sld xmlns:p="http://schemas.openxmlformats.org/presentationml/2006/main" xmlns:a="http://schemas.openxmlformats.org/drawingml/2006/main">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1329961" y="793052"/>
            <a:ext cx="7621232" cy="8789926"/>
            <a:chOff x="0" y="0"/>
            <a:chExt cx="2007238" cy="2315042"/>
          </a:xfrm>
        </p:grpSpPr>
        <p:sp>
          <p:nvSpPr>
            <p:cNvPr name="Freeform 3" id="3"/>
            <p:cNvSpPr/>
            <p:nvPr/>
          </p:nvSpPr>
          <p:spPr>
            <a:xfrm flipH="false" flipV="false" rot="0">
              <a:off x="0" y="0"/>
              <a:ext cx="2007238" cy="2315042"/>
            </a:xfrm>
            <a:custGeom>
              <a:avLst/>
              <a:gdLst/>
              <a:ahLst/>
              <a:cxnLst/>
              <a:rect r="r" b="b" t="t" l="l"/>
              <a:pathLst>
                <a:path h="2315042" w="2007238">
                  <a:moveTo>
                    <a:pt x="0" y="0"/>
                  </a:moveTo>
                  <a:lnTo>
                    <a:pt x="2007238" y="0"/>
                  </a:lnTo>
                  <a:lnTo>
                    <a:pt x="2007238" y="2315042"/>
                  </a:lnTo>
                  <a:lnTo>
                    <a:pt x="0" y="2315042"/>
                  </a:lnTo>
                  <a:close/>
                </a:path>
              </a:pathLst>
            </a:custGeom>
            <a:solidFill>
              <a:srgbClr val="FFFFFF"/>
            </a:solidFill>
          </p:spPr>
        </p:sp>
        <p:sp>
          <p:nvSpPr>
            <p:cNvPr name="TextBox 4" id="4"/>
            <p:cNvSpPr txBox="true"/>
            <p:nvPr/>
          </p:nvSpPr>
          <p:spPr>
            <a:xfrm>
              <a:off x="0" y="-47625"/>
              <a:ext cx="2007238" cy="2362667"/>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763813" y="932388"/>
            <a:ext cx="6753529" cy="1021184"/>
          </a:xfrm>
          <a:prstGeom prst="rect">
            <a:avLst/>
          </a:prstGeom>
        </p:spPr>
        <p:txBody>
          <a:bodyPr anchor="t" rtlCol="false" tIns="0" lIns="0" bIns="0" rIns="0">
            <a:spAutoFit/>
          </a:bodyPr>
          <a:lstStyle/>
          <a:p>
            <a:pPr algn="ctr">
              <a:lnSpc>
                <a:spcPts val="8633"/>
              </a:lnSpc>
              <a:spcBef>
                <a:spcPct val="0"/>
              </a:spcBef>
            </a:pPr>
            <a:r>
              <a:rPr lang="en-US" b="true" sz="4519" spc="451">
                <a:solidFill>
                  <a:srgbClr val="194A8D"/>
                </a:solidFill>
                <a:latin typeface="Arimo Bold"/>
                <a:ea typeface="Arimo Bold"/>
                <a:cs typeface="Arimo Bold"/>
                <a:sym typeface="Arimo Bold"/>
              </a:rPr>
              <a:t>Các tính năng chính</a:t>
            </a:r>
          </a:p>
        </p:txBody>
      </p:sp>
      <p:grpSp>
        <p:nvGrpSpPr>
          <p:cNvPr name="Group 6" id="6"/>
          <p:cNvGrpSpPr/>
          <p:nvPr/>
        </p:nvGrpSpPr>
        <p:grpSpPr>
          <a:xfrm rot="0">
            <a:off x="9336807" y="793052"/>
            <a:ext cx="7598722" cy="8789926"/>
            <a:chOff x="0" y="0"/>
            <a:chExt cx="2001310" cy="2315042"/>
          </a:xfrm>
        </p:grpSpPr>
        <p:sp>
          <p:nvSpPr>
            <p:cNvPr name="Freeform 7" id="7"/>
            <p:cNvSpPr/>
            <p:nvPr/>
          </p:nvSpPr>
          <p:spPr>
            <a:xfrm flipH="false" flipV="false" rot="0">
              <a:off x="0" y="0"/>
              <a:ext cx="2001310" cy="2315042"/>
            </a:xfrm>
            <a:custGeom>
              <a:avLst/>
              <a:gdLst/>
              <a:ahLst/>
              <a:cxnLst/>
              <a:rect r="r" b="b" t="t" l="l"/>
              <a:pathLst>
                <a:path h="2315042" w="2001310">
                  <a:moveTo>
                    <a:pt x="0" y="0"/>
                  </a:moveTo>
                  <a:lnTo>
                    <a:pt x="2001310" y="0"/>
                  </a:lnTo>
                  <a:lnTo>
                    <a:pt x="2001310" y="2315042"/>
                  </a:lnTo>
                  <a:lnTo>
                    <a:pt x="0" y="2315042"/>
                  </a:lnTo>
                  <a:close/>
                </a:path>
              </a:pathLst>
            </a:custGeom>
            <a:solidFill>
              <a:srgbClr val="FFFFFF"/>
            </a:solidFill>
          </p:spPr>
        </p:sp>
        <p:sp>
          <p:nvSpPr>
            <p:cNvPr name="TextBox 8" id="8"/>
            <p:cNvSpPr txBox="true"/>
            <p:nvPr/>
          </p:nvSpPr>
          <p:spPr>
            <a:xfrm>
              <a:off x="0" y="-47625"/>
              <a:ext cx="2001310" cy="2362667"/>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9804424" y="932388"/>
            <a:ext cx="6663489" cy="1020316"/>
          </a:xfrm>
          <a:prstGeom prst="rect">
            <a:avLst/>
          </a:prstGeom>
        </p:spPr>
        <p:txBody>
          <a:bodyPr anchor="t" rtlCol="false" tIns="0" lIns="0" bIns="0" rIns="0">
            <a:spAutoFit/>
          </a:bodyPr>
          <a:lstStyle/>
          <a:p>
            <a:pPr algn="ctr" marL="0" indent="0" lvl="0">
              <a:lnSpc>
                <a:spcPts val="8633"/>
              </a:lnSpc>
              <a:spcBef>
                <a:spcPct val="0"/>
              </a:spcBef>
            </a:pPr>
            <a:r>
              <a:rPr lang="en-US" b="true" sz="4519" spc="451" strike="noStrike" u="none">
                <a:solidFill>
                  <a:srgbClr val="194A8D"/>
                </a:solidFill>
                <a:latin typeface="Arimo Bold"/>
                <a:ea typeface="Arimo Bold"/>
                <a:cs typeface="Arimo Bold"/>
                <a:sym typeface="Arimo Bold"/>
              </a:rPr>
              <a:t>Lợi ích kinh doanh </a:t>
            </a:r>
          </a:p>
        </p:txBody>
      </p:sp>
      <p:sp>
        <p:nvSpPr>
          <p:cNvPr name="TextBox 10" id="10"/>
          <p:cNvSpPr txBox="true"/>
          <p:nvPr/>
        </p:nvSpPr>
        <p:spPr>
          <a:xfrm rot="0">
            <a:off x="1886178" y="2129288"/>
            <a:ext cx="6508797" cy="6616618"/>
          </a:xfrm>
          <a:prstGeom prst="rect">
            <a:avLst/>
          </a:prstGeom>
        </p:spPr>
        <p:txBody>
          <a:bodyPr anchor="t" rtlCol="false" tIns="0" lIns="0" bIns="0" rIns="0">
            <a:spAutoFit/>
          </a:bodyPr>
          <a:lstStyle/>
          <a:p>
            <a:pPr algn="l" marL="642996" indent="-321498" lvl="1">
              <a:lnSpc>
                <a:spcPts val="4169"/>
              </a:lnSpc>
              <a:buFont typeface="Arial"/>
              <a:buChar char="•"/>
            </a:pPr>
            <a:r>
              <a:rPr lang="en-US" sz="2978">
                <a:solidFill>
                  <a:srgbClr val="000000"/>
                </a:solidFill>
                <a:latin typeface="Arimo"/>
                <a:ea typeface="Arimo"/>
                <a:cs typeface="Arimo"/>
                <a:sym typeface="Arimo"/>
              </a:rPr>
              <a:t> </a:t>
            </a:r>
            <a:r>
              <a:rPr lang="en-US" sz="2978">
                <a:solidFill>
                  <a:srgbClr val="194A8D"/>
                </a:solidFill>
                <a:latin typeface="Arimo"/>
                <a:ea typeface="Arimo"/>
                <a:cs typeface="Arimo"/>
                <a:sym typeface="Arimo"/>
              </a:rPr>
              <a:t>C</a:t>
            </a:r>
            <a:r>
              <a:rPr lang="en-US" sz="2978">
                <a:solidFill>
                  <a:srgbClr val="194A8D"/>
                </a:solidFill>
                <a:latin typeface="Arimo"/>
                <a:ea typeface="Arimo"/>
                <a:cs typeface="Arimo"/>
                <a:sym typeface="Arimo"/>
              </a:rPr>
              <a:t>onnection Pooling tái sử dụng </a:t>
            </a:r>
          </a:p>
          <a:p>
            <a:pPr algn="l" marL="642996" indent="-321498" lvl="1">
              <a:lnSpc>
                <a:spcPts val="4169"/>
              </a:lnSpc>
              <a:buFont typeface="Arial"/>
              <a:buChar char="•"/>
            </a:pPr>
            <a:r>
              <a:rPr lang="en-US" sz="2978">
                <a:solidFill>
                  <a:srgbClr val="194A8D"/>
                </a:solidFill>
                <a:latin typeface="Arimo"/>
                <a:ea typeface="Arimo"/>
                <a:cs typeface="Arimo"/>
                <a:sym typeface="Arimo"/>
              </a:rPr>
              <a:t> Failover Handling: Tự động chuyển endpoint đến DB dự phòng </a:t>
            </a:r>
          </a:p>
          <a:p>
            <a:pPr algn="l" marL="642996" indent="-321498" lvl="1">
              <a:lnSpc>
                <a:spcPts val="4169"/>
              </a:lnSpc>
              <a:buFont typeface="Arial"/>
              <a:buChar char="•"/>
            </a:pPr>
            <a:r>
              <a:rPr lang="en-US" sz="2978">
                <a:solidFill>
                  <a:srgbClr val="194A8D"/>
                </a:solidFill>
                <a:latin typeface="Arimo"/>
                <a:ea typeface="Arimo"/>
                <a:cs typeface="Arimo"/>
                <a:sym typeface="Arimo"/>
              </a:rPr>
              <a:t> Monitoring &amp; Logging giám sát thời gian phản hồi và số lượng kết nối đang sử dụng</a:t>
            </a:r>
          </a:p>
          <a:p>
            <a:pPr algn="l" marL="642996" indent="-321498" lvl="1">
              <a:lnSpc>
                <a:spcPts val="4169"/>
              </a:lnSpc>
              <a:buFont typeface="Arial"/>
              <a:buChar char="•"/>
            </a:pPr>
            <a:r>
              <a:rPr lang="en-US" sz="2978">
                <a:solidFill>
                  <a:srgbClr val="194A8D"/>
                </a:solidFill>
                <a:latin typeface="Arimo"/>
                <a:ea typeface="Arimo"/>
                <a:cs typeface="Arimo"/>
                <a:sym typeface="Arimo"/>
              </a:rPr>
              <a:t> Scaling Strategy tự động điều chỉnh max connection pool theo tải và tối ưu cấu hình p</a:t>
            </a:r>
          </a:p>
          <a:p>
            <a:pPr algn="l" marL="642996" indent="-321498" lvl="1">
              <a:lnSpc>
                <a:spcPts val="4169"/>
              </a:lnSpc>
              <a:buFont typeface="Arial"/>
              <a:buChar char="•"/>
            </a:pPr>
            <a:r>
              <a:rPr lang="en-US" sz="2978">
                <a:solidFill>
                  <a:srgbClr val="194A8D"/>
                </a:solidFill>
                <a:latin typeface="Arimo"/>
                <a:ea typeface="Arimo"/>
                <a:cs typeface="Arimo"/>
                <a:sym typeface="Arimo"/>
              </a:rPr>
              <a:t> Security Integration hỗ trợ IAM authentication và TLS encryption</a:t>
            </a:r>
            <a:r>
              <a:rPr lang="en-US" sz="2978">
                <a:solidFill>
                  <a:srgbClr val="000000"/>
                </a:solidFill>
                <a:latin typeface="Arimo"/>
                <a:ea typeface="Arimo"/>
                <a:cs typeface="Arimo"/>
                <a:sym typeface="Arimo"/>
              </a:rPr>
              <a:t> </a:t>
            </a:r>
          </a:p>
          <a:p>
            <a:pPr algn="ctr">
              <a:lnSpc>
                <a:spcPts val="2489"/>
              </a:lnSpc>
              <a:spcBef>
                <a:spcPct val="0"/>
              </a:spcBef>
            </a:pPr>
          </a:p>
        </p:txBody>
      </p:sp>
      <p:sp>
        <p:nvSpPr>
          <p:cNvPr name="TextBox 11" id="11"/>
          <p:cNvSpPr txBox="true"/>
          <p:nvPr/>
        </p:nvSpPr>
        <p:spPr>
          <a:xfrm rot="0">
            <a:off x="9804424" y="2129288"/>
            <a:ext cx="6663489" cy="4715428"/>
          </a:xfrm>
          <a:prstGeom prst="rect">
            <a:avLst/>
          </a:prstGeom>
        </p:spPr>
        <p:txBody>
          <a:bodyPr anchor="t" rtlCol="false" tIns="0" lIns="0" bIns="0" rIns="0">
            <a:spAutoFit/>
          </a:bodyPr>
          <a:lstStyle/>
          <a:p>
            <a:pPr algn="l" marL="642996" indent="-321498" lvl="1">
              <a:lnSpc>
                <a:spcPts val="4169"/>
              </a:lnSpc>
              <a:spcBef>
                <a:spcPct val="0"/>
              </a:spcBef>
              <a:buFont typeface="Arial"/>
              <a:buChar char="•"/>
            </a:pPr>
            <a:r>
              <a:rPr lang="en-US" sz="2978" strike="noStrike" u="none">
                <a:solidFill>
                  <a:srgbClr val="194A8D"/>
                </a:solidFill>
                <a:latin typeface="Arimo"/>
                <a:ea typeface="Arimo"/>
                <a:cs typeface="Arimo"/>
                <a:sym typeface="Arimo"/>
              </a:rPr>
              <a:t>· Tăng 40-60% hiệu suất truy vấn cơ sở dữ liệu</a:t>
            </a:r>
          </a:p>
          <a:p>
            <a:pPr algn="l" marL="642996" indent="-321498" lvl="1">
              <a:lnSpc>
                <a:spcPts val="4169"/>
              </a:lnSpc>
              <a:spcBef>
                <a:spcPct val="0"/>
              </a:spcBef>
              <a:buFont typeface="Arial"/>
              <a:buChar char="•"/>
            </a:pPr>
            <a:r>
              <a:rPr lang="en-US" sz="2978" strike="noStrike" u="none">
                <a:solidFill>
                  <a:srgbClr val="194A8D"/>
                </a:solidFill>
                <a:latin typeface="Arimo"/>
                <a:ea typeface="Arimo"/>
                <a:cs typeface="Arimo"/>
                <a:sym typeface="Arimo"/>
              </a:rPr>
              <a:t>· Giảm đáng kể lỗi kết nối và downtime</a:t>
            </a:r>
          </a:p>
          <a:p>
            <a:pPr algn="l" marL="642996" indent="-321498" lvl="1">
              <a:lnSpc>
                <a:spcPts val="4169"/>
              </a:lnSpc>
              <a:spcBef>
                <a:spcPct val="0"/>
              </a:spcBef>
              <a:buFont typeface="Arial"/>
              <a:buChar char="•"/>
            </a:pPr>
            <a:r>
              <a:rPr lang="en-US" sz="2978" strike="noStrike" u="none">
                <a:solidFill>
                  <a:srgbClr val="194A8D"/>
                </a:solidFill>
                <a:latin typeface="Arimo"/>
                <a:ea typeface="Arimo"/>
                <a:cs typeface="Arimo"/>
                <a:sym typeface="Arimo"/>
              </a:rPr>
              <a:t>· Tối ưu chi phí vận hành nhờ vào việc sử dụng kết nối hiệu quả hơn, giảm yêu cầu kết nối đến RDS.</a:t>
            </a:r>
          </a:p>
          <a:p>
            <a:pPr algn="l" marL="642996" indent="-321498" lvl="1">
              <a:lnSpc>
                <a:spcPts val="4169"/>
              </a:lnSpc>
              <a:spcBef>
                <a:spcPct val="0"/>
              </a:spcBef>
              <a:buFont typeface="Arial"/>
              <a:buChar char="•"/>
            </a:pPr>
            <a:r>
              <a:rPr lang="en-US" sz="2978" strike="noStrike" u="none">
                <a:solidFill>
                  <a:srgbClr val="194A8D"/>
                </a:solidFill>
                <a:latin typeface="Arimo"/>
                <a:ea typeface="Arimo"/>
                <a:cs typeface="Arimo"/>
                <a:sym typeface="Arimo"/>
              </a:rPr>
              <a:t>· Tăng độ bảo mật và tính sẵn sàng của hệ thống</a:t>
            </a:r>
          </a:p>
        </p:txBody>
      </p:sp>
    </p:spTree>
  </p:cSld>
  <p:clrMapOvr>
    <a:masterClrMapping/>
  </p:clrMapOvr>
</p:sld>
</file>

<file path=ppt/slides/slide5.xml><?xml version="1.0" encoding="utf-8"?>
<p:sld xmlns:p="http://schemas.openxmlformats.org/presentationml/2006/main" xmlns:a="http://schemas.openxmlformats.org/drawingml/2006/main">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1329961" y="230301"/>
            <a:ext cx="7621232" cy="4421203"/>
            <a:chOff x="0" y="0"/>
            <a:chExt cx="2007238" cy="1164432"/>
          </a:xfrm>
        </p:grpSpPr>
        <p:sp>
          <p:nvSpPr>
            <p:cNvPr name="Freeform 3" id="3"/>
            <p:cNvSpPr/>
            <p:nvPr/>
          </p:nvSpPr>
          <p:spPr>
            <a:xfrm flipH="false" flipV="false" rot="0">
              <a:off x="0" y="0"/>
              <a:ext cx="2007238" cy="1164432"/>
            </a:xfrm>
            <a:custGeom>
              <a:avLst/>
              <a:gdLst/>
              <a:ahLst/>
              <a:cxnLst/>
              <a:rect r="r" b="b" t="t" l="l"/>
              <a:pathLst>
                <a:path h="1164432" w="2007238">
                  <a:moveTo>
                    <a:pt x="0" y="0"/>
                  </a:moveTo>
                  <a:lnTo>
                    <a:pt x="2007238" y="0"/>
                  </a:lnTo>
                  <a:lnTo>
                    <a:pt x="2007238" y="1164432"/>
                  </a:lnTo>
                  <a:lnTo>
                    <a:pt x="0" y="1164432"/>
                  </a:lnTo>
                  <a:close/>
                </a:path>
              </a:pathLst>
            </a:custGeom>
            <a:solidFill>
              <a:srgbClr val="FFFFFF"/>
            </a:solidFill>
          </p:spPr>
        </p:sp>
        <p:sp>
          <p:nvSpPr>
            <p:cNvPr name="TextBox 4" id="4"/>
            <p:cNvSpPr txBox="true"/>
            <p:nvPr/>
          </p:nvSpPr>
          <p:spPr>
            <a:xfrm>
              <a:off x="0" y="-47625"/>
              <a:ext cx="2007238" cy="1212057"/>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763813" y="351420"/>
            <a:ext cx="6753529" cy="1021184"/>
          </a:xfrm>
          <a:prstGeom prst="rect">
            <a:avLst/>
          </a:prstGeom>
        </p:spPr>
        <p:txBody>
          <a:bodyPr anchor="t" rtlCol="false" tIns="0" lIns="0" bIns="0" rIns="0">
            <a:spAutoFit/>
          </a:bodyPr>
          <a:lstStyle/>
          <a:p>
            <a:pPr algn="ctr">
              <a:lnSpc>
                <a:spcPts val="8633"/>
              </a:lnSpc>
              <a:spcBef>
                <a:spcPct val="0"/>
              </a:spcBef>
            </a:pPr>
            <a:r>
              <a:rPr lang="en-US" b="true" sz="4519" spc="451">
                <a:solidFill>
                  <a:srgbClr val="194A8D"/>
                </a:solidFill>
                <a:latin typeface="Arimo Bold"/>
                <a:ea typeface="Arimo Bold"/>
                <a:cs typeface="Arimo Bold"/>
                <a:sym typeface="Arimo Bold"/>
              </a:rPr>
              <a:t>Chi phí</a:t>
            </a:r>
          </a:p>
        </p:txBody>
      </p:sp>
      <p:grpSp>
        <p:nvGrpSpPr>
          <p:cNvPr name="Group 6" id="6"/>
          <p:cNvGrpSpPr/>
          <p:nvPr/>
        </p:nvGrpSpPr>
        <p:grpSpPr>
          <a:xfrm rot="0">
            <a:off x="9336807" y="230301"/>
            <a:ext cx="7598722" cy="4421203"/>
            <a:chOff x="0" y="0"/>
            <a:chExt cx="2001310" cy="1164432"/>
          </a:xfrm>
        </p:grpSpPr>
        <p:sp>
          <p:nvSpPr>
            <p:cNvPr name="Freeform 7" id="7"/>
            <p:cNvSpPr/>
            <p:nvPr/>
          </p:nvSpPr>
          <p:spPr>
            <a:xfrm flipH="false" flipV="false" rot="0">
              <a:off x="0" y="0"/>
              <a:ext cx="2001310" cy="1164432"/>
            </a:xfrm>
            <a:custGeom>
              <a:avLst/>
              <a:gdLst/>
              <a:ahLst/>
              <a:cxnLst/>
              <a:rect r="r" b="b" t="t" l="l"/>
              <a:pathLst>
                <a:path h="1164432" w="2001310">
                  <a:moveTo>
                    <a:pt x="0" y="0"/>
                  </a:moveTo>
                  <a:lnTo>
                    <a:pt x="2001310" y="0"/>
                  </a:lnTo>
                  <a:lnTo>
                    <a:pt x="2001310" y="1164432"/>
                  </a:lnTo>
                  <a:lnTo>
                    <a:pt x="0" y="1164432"/>
                  </a:lnTo>
                  <a:close/>
                </a:path>
              </a:pathLst>
            </a:custGeom>
            <a:solidFill>
              <a:srgbClr val="FFFFFF"/>
            </a:solidFill>
          </p:spPr>
        </p:sp>
        <p:sp>
          <p:nvSpPr>
            <p:cNvPr name="TextBox 8" id="8"/>
            <p:cNvSpPr txBox="true"/>
            <p:nvPr/>
          </p:nvSpPr>
          <p:spPr>
            <a:xfrm>
              <a:off x="0" y="-47625"/>
              <a:ext cx="2001310" cy="1212057"/>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9804424" y="352289"/>
            <a:ext cx="6663489" cy="1020316"/>
          </a:xfrm>
          <a:prstGeom prst="rect">
            <a:avLst/>
          </a:prstGeom>
        </p:spPr>
        <p:txBody>
          <a:bodyPr anchor="t" rtlCol="false" tIns="0" lIns="0" bIns="0" rIns="0">
            <a:spAutoFit/>
          </a:bodyPr>
          <a:lstStyle/>
          <a:p>
            <a:pPr algn="ctr" marL="0" indent="0" lvl="0">
              <a:lnSpc>
                <a:spcPts val="8633"/>
              </a:lnSpc>
              <a:spcBef>
                <a:spcPct val="0"/>
              </a:spcBef>
            </a:pPr>
            <a:r>
              <a:rPr lang="en-US" b="true" sz="4519" spc="451">
                <a:solidFill>
                  <a:srgbClr val="194A8D"/>
                </a:solidFill>
                <a:latin typeface="Arimo Bold"/>
                <a:ea typeface="Arimo Bold"/>
                <a:cs typeface="Arimo Bold"/>
                <a:sym typeface="Arimo Bold"/>
              </a:rPr>
              <a:t>Kết</a:t>
            </a:r>
            <a:r>
              <a:rPr lang="en-US" b="true" sz="4519" spc="451" strike="noStrike" u="none">
                <a:solidFill>
                  <a:srgbClr val="194A8D"/>
                </a:solidFill>
                <a:latin typeface="Arimo Bold"/>
                <a:ea typeface="Arimo Bold"/>
                <a:cs typeface="Arimo Bold"/>
                <a:sym typeface="Arimo Bold"/>
              </a:rPr>
              <a:t> </a:t>
            </a:r>
            <a:r>
              <a:rPr lang="en-US" b="true" sz="4519" spc="451" strike="noStrike" u="none">
                <a:solidFill>
                  <a:srgbClr val="194A8D"/>
                </a:solidFill>
                <a:latin typeface="Arimo Bold"/>
                <a:ea typeface="Arimo Bold"/>
                <a:cs typeface="Arimo Bold"/>
                <a:sym typeface="Arimo Bold"/>
              </a:rPr>
              <a:t>quả</a:t>
            </a:r>
            <a:r>
              <a:rPr lang="en-US" b="true" sz="4519" spc="451" strike="noStrike" u="none">
                <a:solidFill>
                  <a:srgbClr val="194A8D"/>
                </a:solidFill>
                <a:latin typeface="Arimo Bold"/>
                <a:ea typeface="Arimo Bold"/>
                <a:cs typeface="Arimo Bold"/>
                <a:sym typeface="Arimo Bold"/>
              </a:rPr>
              <a:t> </a:t>
            </a:r>
            <a:r>
              <a:rPr lang="en-US" b="true" sz="4519" spc="451" strike="noStrike" u="none">
                <a:solidFill>
                  <a:srgbClr val="194A8D"/>
                </a:solidFill>
                <a:latin typeface="Arimo Bold"/>
                <a:ea typeface="Arimo Bold"/>
                <a:cs typeface="Arimo Bold"/>
                <a:sym typeface="Arimo Bold"/>
              </a:rPr>
              <a:t>m</a:t>
            </a:r>
            <a:r>
              <a:rPr lang="en-US" b="true" sz="4519" spc="451" strike="noStrike" u="none">
                <a:solidFill>
                  <a:srgbClr val="194A8D"/>
                </a:solidFill>
                <a:latin typeface="Arimo Bold"/>
                <a:ea typeface="Arimo Bold"/>
                <a:cs typeface="Arimo Bold"/>
                <a:sym typeface="Arimo Bold"/>
              </a:rPr>
              <a:t>on</a:t>
            </a:r>
            <a:r>
              <a:rPr lang="en-US" b="true" sz="4519" spc="451" strike="noStrike" u="none">
                <a:solidFill>
                  <a:srgbClr val="194A8D"/>
                </a:solidFill>
                <a:latin typeface="Arimo Bold"/>
                <a:ea typeface="Arimo Bold"/>
                <a:cs typeface="Arimo Bold"/>
                <a:sym typeface="Arimo Bold"/>
              </a:rPr>
              <a:t>g đợi</a:t>
            </a:r>
          </a:p>
        </p:txBody>
      </p:sp>
      <p:sp>
        <p:nvSpPr>
          <p:cNvPr name="TextBox 10" id="10"/>
          <p:cNvSpPr txBox="true"/>
          <p:nvPr/>
        </p:nvSpPr>
        <p:spPr>
          <a:xfrm rot="0">
            <a:off x="1730656" y="1551612"/>
            <a:ext cx="6508797" cy="2096053"/>
          </a:xfrm>
          <a:prstGeom prst="rect">
            <a:avLst/>
          </a:prstGeom>
        </p:spPr>
        <p:txBody>
          <a:bodyPr anchor="t" rtlCol="false" tIns="0" lIns="0" bIns="0" rIns="0">
            <a:spAutoFit/>
          </a:bodyPr>
          <a:lstStyle/>
          <a:p>
            <a:pPr algn="l" marL="642996" indent="-321498" lvl="1">
              <a:lnSpc>
                <a:spcPts val="4169"/>
              </a:lnSpc>
              <a:spcBef>
                <a:spcPct val="0"/>
              </a:spcBef>
              <a:buFont typeface="Arial"/>
              <a:buChar char="•"/>
            </a:pPr>
            <a:r>
              <a:rPr lang="en-US" sz="2978" strike="noStrike" u="none">
                <a:solidFill>
                  <a:srgbClr val="194A8D"/>
                </a:solidFill>
                <a:latin typeface="Arimo"/>
                <a:ea typeface="Arimo"/>
                <a:cs typeface="Arimo"/>
                <a:sym typeface="Arimo"/>
              </a:rPr>
              <a:t>AWS RDS Proxy ~ 300 USD</a:t>
            </a:r>
          </a:p>
          <a:p>
            <a:pPr algn="l" marL="642996" indent="-321498" lvl="1">
              <a:lnSpc>
                <a:spcPts val="4169"/>
              </a:lnSpc>
              <a:spcBef>
                <a:spcPct val="0"/>
              </a:spcBef>
              <a:buFont typeface="Arial"/>
              <a:buChar char="•"/>
            </a:pPr>
            <a:r>
              <a:rPr lang="en-US" sz="2978" strike="noStrike" u="none">
                <a:solidFill>
                  <a:srgbClr val="194A8D"/>
                </a:solidFill>
                <a:latin typeface="Arimo"/>
                <a:ea typeface="Arimo"/>
                <a:cs typeface="Arimo"/>
                <a:sym typeface="Arimo"/>
              </a:rPr>
              <a:t>Monitoring:~ 200 USD</a:t>
            </a:r>
          </a:p>
          <a:p>
            <a:pPr algn="l" marL="642996" indent="-321498" lvl="1">
              <a:lnSpc>
                <a:spcPts val="4169"/>
              </a:lnSpc>
              <a:spcBef>
                <a:spcPct val="0"/>
              </a:spcBef>
              <a:buFont typeface="Arial"/>
              <a:buChar char="•"/>
            </a:pPr>
            <a:r>
              <a:rPr lang="en-US" sz="2978" strike="noStrike" u="none">
                <a:solidFill>
                  <a:srgbClr val="194A8D"/>
                </a:solidFill>
                <a:latin typeface="Arimo"/>
                <a:ea typeface="Arimo"/>
                <a:cs typeface="Arimo"/>
                <a:sym typeface="Arimo"/>
              </a:rPr>
              <a:t>AWS RDS (Multi-AZ, db.t3.micro): ~ 35 USD</a:t>
            </a:r>
          </a:p>
        </p:txBody>
      </p:sp>
      <p:sp>
        <p:nvSpPr>
          <p:cNvPr name="TextBox 11" id="11"/>
          <p:cNvSpPr txBox="true"/>
          <p:nvPr/>
        </p:nvSpPr>
        <p:spPr>
          <a:xfrm rot="0">
            <a:off x="9804424" y="1507700"/>
            <a:ext cx="6663489" cy="3143803"/>
          </a:xfrm>
          <a:prstGeom prst="rect">
            <a:avLst/>
          </a:prstGeom>
        </p:spPr>
        <p:txBody>
          <a:bodyPr anchor="t" rtlCol="false" tIns="0" lIns="0" bIns="0" rIns="0">
            <a:spAutoFit/>
          </a:bodyPr>
          <a:lstStyle/>
          <a:p>
            <a:pPr algn="l" marL="642996" indent="-321498" lvl="1">
              <a:lnSpc>
                <a:spcPts val="4169"/>
              </a:lnSpc>
              <a:spcBef>
                <a:spcPct val="0"/>
              </a:spcBef>
              <a:buFont typeface="Arial"/>
              <a:buChar char="•"/>
            </a:pPr>
            <a:r>
              <a:rPr lang="en-US" sz="2978">
                <a:solidFill>
                  <a:srgbClr val="194A8D"/>
                </a:solidFill>
                <a:latin typeface="Arimo"/>
                <a:ea typeface="Arimo"/>
                <a:cs typeface="Arimo"/>
                <a:sym typeface="Arimo"/>
              </a:rPr>
              <a:t>Ổn</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đị</a:t>
            </a:r>
            <a:r>
              <a:rPr lang="en-US" sz="2978" strike="noStrike" u="none">
                <a:solidFill>
                  <a:srgbClr val="194A8D"/>
                </a:solidFill>
                <a:latin typeface="Arimo"/>
                <a:ea typeface="Arimo"/>
                <a:cs typeface="Arimo"/>
                <a:sym typeface="Arimo"/>
              </a:rPr>
              <a:t>n</a:t>
            </a:r>
            <a:r>
              <a:rPr lang="en-US" sz="2978" strike="noStrike" u="none">
                <a:solidFill>
                  <a:srgbClr val="194A8D"/>
                </a:solidFill>
                <a:latin typeface="Arimo"/>
                <a:ea typeface="Arimo"/>
                <a:cs typeface="Arimo"/>
                <a:sym typeface="Arimo"/>
              </a:rPr>
              <a:t>h</a:t>
            </a:r>
            <a:r>
              <a:rPr lang="en-US" sz="2978" strike="noStrike" u="none">
                <a:solidFill>
                  <a:srgbClr val="194A8D"/>
                </a:solidFill>
                <a:latin typeface="Arimo"/>
                <a:ea typeface="Arimo"/>
                <a:cs typeface="Arimo"/>
                <a:sym typeface="Arimo"/>
              </a:rPr>
              <a:t> hiệu suất </a:t>
            </a:r>
            <a:r>
              <a:rPr lang="en-US" sz="2978" strike="noStrike" u="none">
                <a:solidFill>
                  <a:srgbClr val="194A8D"/>
                </a:solidFill>
                <a:latin typeface="Arimo"/>
                <a:ea typeface="Arimo"/>
                <a:cs typeface="Arimo"/>
                <a:sym typeface="Arimo"/>
              </a:rPr>
              <a:t>hệ </a:t>
            </a:r>
            <a:r>
              <a:rPr lang="en-US" sz="2978" strike="noStrike" u="none">
                <a:solidFill>
                  <a:srgbClr val="194A8D"/>
                </a:solidFill>
                <a:latin typeface="Arimo"/>
                <a:ea typeface="Arimo"/>
                <a:cs typeface="Arimo"/>
                <a:sym typeface="Arimo"/>
              </a:rPr>
              <a:t>t</a:t>
            </a:r>
            <a:r>
              <a:rPr lang="en-US" sz="2978" strike="noStrike" u="none">
                <a:solidFill>
                  <a:srgbClr val="194A8D"/>
                </a:solidFill>
                <a:latin typeface="Arimo"/>
                <a:ea typeface="Arimo"/>
                <a:cs typeface="Arimo"/>
                <a:sym typeface="Arimo"/>
              </a:rPr>
              <a:t>hống</a:t>
            </a:r>
          </a:p>
          <a:p>
            <a:pPr algn="l" marL="642996" indent="-321498" lvl="1">
              <a:lnSpc>
                <a:spcPts val="4169"/>
              </a:lnSpc>
              <a:spcBef>
                <a:spcPct val="0"/>
              </a:spcBef>
              <a:buFont typeface="Arial"/>
              <a:buChar char="•"/>
            </a:pPr>
            <a:r>
              <a:rPr lang="en-US" sz="2978" strike="noStrike" u="none">
                <a:solidFill>
                  <a:srgbClr val="194A8D"/>
                </a:solidFill>
                <a:latin typeface="Arimo"/>
                <a:ea typeface="Arimo"/>
                <a:cs typeface="Arimo"/>
                <a:sym typeface="Arimo"/>
              </a:rPr>
              <a:t>Rút</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ngắ</a:t>
            </a:r>
            <a:r>
              <a:rPr lang="en-US" sz="2978" strike="noStrike" u="none">
                <a:solidFill>
                  <a:srgbClr val="194A8D"/>
                </a:solidFill>
                <a:latin typeface="Arimo"/>
                <a:ea typeface="Arimo"/>
                <a:cs typeface="Arimo"/>
                <a:sym typeface="Arimo"/>
              </a:rPr>
              <a:t>n </a:t>
            </a:r>
            <a:r>
              <a:rPr lang="en-US" sz="2978" strike="noStrike" u="none">
                <a:solidFill>
                  <a:srgbClr val="194A8D"/>
                </a:solidFill>
                <a:latin typeface="Arimo"/>
                <a:ea typeface="Arimo"/>
                <a:cs typeface="Arimo"/>
                <a:sym typeface="Arimo"/>
              </a:rPr>
              <a:t>thời</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gian</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phản</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hồ</a:t>
            </a:r>
            <a:r>
              <a:rPr lang="en-US" sz="2978" strike="noStrike" u="none">
                <a:solidFill>
                  <a:srgbClr val="194A8D"/>
                </a:solidFill>
                <a:latin typeface="Arimo"/>
                <a:ea typeface="Arimo"/>
                <a:cs typeface="Arimo"/>
                <a:sym typeface="Arimo"/>
              </a:rPr>
              <a:t>i</a:t>
            </a:r>
          </a:p>
          <a:p>
            <a:pPr algn="l" marL="642996" indent="-321498" lvl="1">
              <a:lnSpc>
                <a:spcPts val="4169"/>
              </a:lnSpc>
              <a:spcBef>
                <a:spcPct val="0"/>
              </a:spcBef>
              <a:buFont typeface="Arial"/>
              <a:buChar char="•"/>
            </a:pPr>
            <a:r>
              <a:rPr lang="en-US" sz="2978" strike="noStrike" u="none">
                <a:solidFill>
                  <a:srgbClr val="194A8D"/>
                </a:solidFill>
                <a:latin typeface="Arimo"/>
                <a:ea typeface="Arimo"/>
                <a:cs typeface="Arimo"/>
                <a:sym typeface="Arimo"/>
              </a:rPr>
              <a:t>Tăng</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kh</a:t>
            </a:r>
            <a:r>
              <a:rPr lang="en-US" sz="2978" strike="noStrike" u="none">
                <a:solidFill>
                  <a:srgbClr val="194A8D"/>
                </a:solidFill>
                <a:latin typeface="Arimo"/>
                <a:ea typeface="Arimo"/>
                <a:cs typeface="Arimo"/>
                <a:sym typeface="Arimo"/>
              </a:rPr>
              <a:t>ả</a:t>
            </a:r>
            <a:r>
              <a:rPr lang="en-US" sz="2978" strike="noStrike" u="none">
                <a:solidFill>
                  <a:srgbClr val="194A8D"/>
                </a:solidFill>
                <a:latin typeface="Arimo"/>
                <a:ea typeface="Arimo"/>
                <a:cs typeface="Arimo"/>
                <a:sym typeface="Arimo"/>
              </a:rPr>
              <a:t> năng </a:t>
            </a:r>
            <a:r>
              <a:rPr lang="en-US" sz="2978" strike="noStrike" u="none">
                <a:solidFill>
                  <a:srgbClr val="194A8D"/>
                </a:solidFill>
                <a:latin typeface="Arimo"/>
                <a:ea typeface="Arimo"/>
                <a:cs typeface="Arimo"/>
                <a:sym typeface="Arimo"/>
              </a:rPr>
              <a:t>m</a:t>
            </a:r>
            <a:r>
              <a:rPr lang="en-US" sz="2978" strike="noStrike" u="none">
                <a:solidFill>
                  <a:srgbClr val="194A8D"/>
                </a:solidFill>
                <a:latin typeface="Arimo"/>
                <a:ea typeface="Arimo"/>
                <a:cs typeface="Arimo"/>
                <a:sym typeface="Arimo"/>
              </a:rPr>
              <a:t>ở</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rộ</a:t>
            </a:r>
            <a:r>
              <a:rPr lang="en-US" sz="2978" strike="noStrike" u="none">
                <a:solidFill>
                  <a:srgbClr val="194A8D"/>
                </a:solidFill>
                <a:latin typeface="Arimo"/>
                <a:ea typeface="Arimo"/>
                <a:cs typeface="Arimo"/>
                <a:sym typeface="Arimo"/>
              </a:rPr>
              <a:t>ng</a:t>
            </a:r>
          </a:p>
          <a:p>
            <a:pPr algn="l" marL="642996" indent="-321498" lvl="1">
              <a:lnSpc>
                <a:spcPts val="4169"/>
              </a:lnSpc>
              <a:spcBef>
                <a:spcPct val="0"/>
              </a:spcBef>
              <a:buFont typeface="Arial"/>
              <a:buChar char="•"/>
            </a:pPr>
            <a:r>
              <a:rPr lang="en-US" sz="2978" strike="noStrike" u="none">
                <a:solidFill>
                  <a:srgbClr val="194A8D"/>
                </a:solidFill>
                <a:latin typeface="Arimo"/>
                <a:ea typeface="Arimo"/>
                <a:cs typeface="Arimo"/>
                <a:sym typeface="Arimo"/>
              </a:rPr>
              <a:t>Tối</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ưu</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thời gian fai</a:t>
            </a:r>
            <a:r>
              <a:rPr lang="en-US" sz="2978" strike="noStrike" u="none">
                <a:solidFill>
                  <a:srgbClr val="194A8D"/>
                </a:solidFill>
                <a:latin typeface="Arimo"/>
                <a:ea typeface="Arimo"/>
                <a:cs typeface="Arimo"/>
                <a:sym typeface="Arimo"/>
              </a:rPr>
              <a:t>l</a:t>
            </a:r>
            <a:r>
              <a:rPr lang="en-US" sz="2978" strike="noStrike" u="none">
                <a:solidFill>
                  <a:srgbClr val="194A8D"/>
                </a:solidFill>
                <a:latin typeface="Arimo"/>
                <a:ea typeface="Arimo"/>
                <a:cs typeface="Arimo"/>
                <a:sym typeface="Arimo"/>
              </a:rPr>
              <a:t>over</a:t>
            </a:r>
          </a:p>
          <a:p>
            <a:pPr algn="l" marL="642996" indent="-321498" lvl="1">
              <a:lnSpc>
                <a:spcPts val="4169"/>
              </a:lnSpc>
              <a:spcBef>
                <a:spcPct val="0"/>
              </a:spcBef>
              <a:buFont typeface="Arial"/>
              <a:buChar char="•"/>
            </a:pPr>
            <a:r>
              <a:rPr lang="en-US" sz="2978" strike="noStrike" u="none">
                <a:solidFill>
                  <a:srgbClr val="194A8D"/>
                </a:solidFill>
                <a:latin typeface="Arimo"/>
                <a:ea typeface="Arimo"/>
                <a:cs typeface="Arimo"/>
                <a:sym typeface="Arimo"/>
              </a:rPr>
              <a:t>G</a:t>
            </a:r>
            <a:r>
              <a:rPr lang="en-US" sz="2978" strike="noStrike" u="none">
                <a:solidFill>
                  <a:srgbClr val="194A8D"/>
                </a:solidFill>
                <a:latin typeface="Arimo"/>
                <a:ea typeface="Arimo"/>
                <a:cs typeface="Arimo"/>
                <a:sym typeface="Arimo"/>
              </a:rPr>
              <a:t>i</a:t>
            </a:r>
            <a:r>
              <a:rPr lang="en-US" sz="2978" strike="noStrike" u="none">
                <a:solidFill>
                  <a:srgbClr val="194A8D"/>
                </a:solidFill>
                <a:latin typeface="Arimo"/>
                <a:ea typeface="Arimo"/>
                <a:cs typeface="Arimo"/>
                <a:sym typeface="Arimo"/>
              </a:rPr>
              <a:t>ảm</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gánh</a:t>
            </a:r>
            <a:r>
              <a:rPr lang="en-US" sz="2978" strike="noStrike" u="none">
                <a:solidFill>
                  <a:srgbClr val="194A8D"/>
                </a:solidFill>
                <a:latin typeface="Arimo"/>
                <a:ea typeface="Arimo"/>
                <a:cs typeface="Arimo"/>
                <a:sym typeface="Arimo"/>
              </a:rPr>
              <a:t> n</a:t>
            </a:r>
            <a:r>
              <a:rPr lang="en-US" sz="2978" strike="noStrike" u="none">
                <a:solidFill>
                  <a:srgbClr val="194A8D"/>
                </a:solidFill>
                <a:latin typeface="Arimo"/>
                <a:ea typeface="Arimo"/>
                <a:cs typeface="Arimo"/>
                <a:sym typeface="Arimo"/>
              </a:rPr>
              <a:t>ặng</a:t>
            </a:r>
            <a:r>
              <a:rPr lang="en-US" sz="2978" strike="noStrike" u="none">
                <a:solidFill>
                  <a:srgbClr val="194A8D"/>
                </a:solidFill>
                <a:latin typeface="Arimo"/>
                <a:ea typeface="Arimo"/>
                <a:cs typeface="Arimo"/>
                <a:sym typeface="Arimo"/>
              </a:rPr>
              <a:t> v</a:t>
            </a:r>
            <a:r>
              <a:rPr lang="en-US" sz="2978" strike="noStrike" u="none">
                <a:solidFill>
                  <a:srgbClr val="194A8D"/>
                </a:solidFill>
                <a:latin typeface="Arimo"/>
                <a:ea typeface="Arimo"/>
                <a:cs typeface="Arimo"/>
                <a:sym typeface="Arimo"/>
              </a:rPr>
              <a:t>ận</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hà</a:t>
            </a:r>
            <a:r>
              <a:rPr lang="en-US" sz="2978" strike="noStrike" u="none">
                <a:solidFill>
                  <a:srgbClr val="194A8D"/>
                </a:solidFill>
                <a:latin typeface="Arimo"/>
                <a:ea typeface="Arimo"/>
                <a:cs typeface="Arimo"/>
                <a:sym typeface="Arimo"/>
              </a:rPr>
              <a:t>n</a:t>
            </a:r>
            <a:r>
              <a:rPr lang="en-US" sz="2978" strike="noStrike" u="none">
                <a:solidFill>
                  <a:srgbClr val="194A8D"/>
                </a:solidFill>
                <a:latin typeface="Arimo"/>
                <a:ea typeface="Arimo"/>
                <a:cs typeface="Arimo"/>
                <a:sym typeface="Arimo"/>
              </a:rPr>
              <a:t>h.</a:t>
            </a:r>
          </a:p>
          <a:p>
            <a:pPr algn="l">
              <a:lnSpc>
                <a:spcPts val="4169"/>
              </a:lnSpc>
              <a:spcBef>
                <a:spcPct val="0"/>
              </a:spcBef>
            </a:pPr>
          </a:p>
        </p:txBody>
      </p:sp>
      <p:grpSp>
        <p:nvGrpSpPr>
          <p:cNvPr name="Group 12" id="12"/>
          <p:cNvGrpSpPr/>
          <p:nvPr/>
        </p:nvGrpSpPr>
        <p:grpSpPr>
          <a:xfrm rot="0">
            <a:off x="2969830" y="5143500"/>
            <a:ext cx="12933602" cy="4421203"/>
            <a:chOff x="0" y="0"/>
            <a:chExt cx="3406381" cy="1164432"/>
          </a:xfrm>
        </p:grpSpPr>
        <p:sp>
          <p:nvSpPr>
            <p:cNvPr name="Freeform 13" id="13"/>
            <p:cNvSpPr/>
            <p:nvPr/>
          </p:nvSpPr>
          <p:spPr>
            <a:xfrm flipH="false" flipV="false" rot="0">
              <a:off x="0" y="0"/>
              <a:ext cx="3406381" cy="1164432"/>
            </a:xfrm>
            <a:custGeom>
              <a:avLst/>
              <a:gdLst/>
              <a:ahLst/>
              <a:cxnLst/>
              <a:rect r="r" b="b" t="t" l="l"/>
              <a:pathLst>
                <a:path h="1164432" w="3406381">
                  <a:moveTo>
                    <a:pt x="0" y="0"/>
                  </a:moveTo>
                  <a:lnTo>
                    <a:pt x="3406381" y="0"/>
                  </a:lnTo>
                  <a:lnTo>
                    <a:pt x="3406381" y="1164432"/>
                  </a:lnTo>
                  <a:lnTo>
                    <a:pt x="0" y="1164432"/>
                  </a:lnTo>
                  <a:close/>
                </a:path>
              </a:pathLst>
            </a:custGeom>
            <a:solidFill>
              <a:srgbClr val="FFFFFF"/>
            </a:solidFill>
          </p:spPr>
        </p:sp>
        <p:sp>
          <p:nvSpPr>
            <p:cNvPr name="TextBox 14" id="14"/>
            <p:cNvSpPr txBox="true"/>
            <p:nvPr/>
          </p:nvSpPr>
          <p:spPr>
            <a:xfrm>
              <a:off x="0" y="-47625"/>
              <a:ext cx="3406381" cy="1212057"/>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4005305" y="5264620"/>
            <a:ext cx="10862651" cy="1021184"/>
          </a:xfrm>
          <a:prstGeom prst="rect">
            <a:avLst/>
          </a:prstGeom>
        </p:spPr>
        <p:txBody>
          <a:bodyPr anchor="t" rtlCol="false" tIns="0" lIns="0" bIns="0" rIns="0">
            <a:spAutoFit/>
          </a:bodyPr>
          <a:lstStyle/>
          <a:p>
            <a:pPr algn="ctr">
              <a:lnSpc>
                <a:spcPts val="8633"/>
              </a:lnSpc>
              <a:spcBef>
                <a:spcPct val="0"/>
              </a:spcBef>
            </a:pPr>
            <a:r>
              <a:rPr lang="en-US" b="true" sz="4519" spc="451">
                <a:solidFill>
                  <a:srgbClr val="194A8D"/>
                </a:solidFill>
                <a:latin typeface="Arimo Bold"/>
                <a:ea typeface="Arimo Bold"/>
                <a:cs typeface="Arimo Bold"/>
                <a:sym typeface="Arimo Bold"/>
              </a:rPr>
              <a:t>Thời gian triển khai</a:t>
            </a:r>
          </a:p>
        </p:txBody>
      </p:sp>
      <p:sp>
        <p:nvSpPr>
          <p:cNvPr name="TextBox 16" id="16"/>
          <p:cNvSpPr txBox="true"/>
          <p:nvPr/>
        </p:nvSpPr>
        <p:spPr>
          <a:xfrm rot="0">
            <a:off x="3448037" y="6419154"/>
            <a:ext cx="11977187" cy="2619928"/>
          </a:xfrm>
          <a:prstGeom prst="rect">
            <a:avLst/>
          </a:prstGeom>
        </p:spPr>
        <p:txBody>
          <a:bodyPr anchor="t" rtlCol="false" tIns="0" lIns="0" bIns="0" rIns="0">
            <a:spAutoFit/>
          </a:bodyPr>
          <a:lstStyle/>
          <a:p>
            <a:pPr algn="l" marL="642996" indent="-321498" lvl="1">
              <a:lnSpc>
                <a:spcPts val="4169"/>
              </a:lnSpc>
              <a:spcBef>
                <a:spcPct val="0"/>
              </a:spcBef>
              <a:buFont typeface="Arial"/>
              <a:buChar char="•"/>
            </a:pPr>
            <a:r>
              <a:rPr lang="en-US" sz="2978">
                <a:solidFill>
                  <a:srgbClr val="194A8D"/>
                </a:solidFill>
                <a:latin typeface="Arimo"/>
                <a:ea typeface="Arimo"/>
                <a:cs typeface="Arimo"/>
                <a:sym typeface="Arimo"/>
              </a:rPr>
              <a:t> </a:t>
            </a:r>
            <a:r>
              <a:rPr lang="en-US" sz="2978">
                <a:solidFill>
                  <a:srgbClr val="194A8D"/>
                </a:solidFill>
                <a:latin typeface="Arimo"/>
                <a:ea typeface="Arimo"/>
                <a:cs typeface="Arimo"/>
                <a:sym typeface="Arimo"/>
              </a:rPr>
              <a:t>Tuần 1–2: Phân tích hiện trạng, cấu hình</a:t>
            </a:r>
            <a:r>
              <a:rPr lang="en-US" sz="2978" strike="noStrike" u="none">
                <a:solidFill>
                  <a:srgbClr val="194A8D"/>
                </a:solidFill>
                <a:latin typeface="Arimo"/>
                <a:ea typeface="Arimo"/>
                <a:cs typeface="Arimo"/>
                <a:sym typeface="Arimo"/>
              </a:rPr>
              <a:t> RDS Proxy </a:t>
            </a:r>
            <a:r>
              <a:rPr lang="en-US" sz="2978" strike="noStrike" u="none">
                <a:solidFill>
                  <a:srgbClr val="194A8D"/>
                </a:solidFill>
                <a:latin typeface="Arimo"/>
                <a:ea typeface="Arimo"/>
                <a:cs typeface="Arimo"/>
                <a:sym typeface="Arimo"/>
              </a:rPr>
              <a:t>và định nghĩa thông số</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kết</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nối</a:t>
            </a:r>
          </a:p>
          <a:p>
            <a:pPr algn="l" marL="642996" indent="-321498" lvl="1">
              <a:lnSpc>
                <a:spcPts val="4169"/>
              </a:lnSpc>
              <a:spcBef>
                <a:spcPct val="0"/>
              </a:spcBef>
              <a:buFont typeface="Arial"/>
              <a:buChar char="•"/>
            </a:pPr>
            <a:r>
              <a:rPr lang="en-US" sz="2978" strike="noStrike" u="none">
                <a:solidFill>
                  <a:srgbClr val="194A8D"/>
                </a:solidFill>
                <a:latin typeface="Arimo"/>
                <a:ea typeface="Arimo"/>
                <a:cs typeface="Arimo"/>
                <a:sym typeface="Arimo"/>
              </a:rPr>
              <a:t> Tuầ</a:t>
            </a:r>
            <a:r>
              <a:rPr lang="en-US" sz="2978" strike="noStrike" u="none">
                <a:solidFill>
                  <a:srgbClr val="194A8D"/>
                </a:solidFill>
                <a:latin typeface="Arimo"/>
                <a:ea typeface="Arimo"/>
                <a:cs typeface="Arimo"/>
                <a:sym typeface="Arimo"/>
              </a:rPr>
              <a:t>n</a:t>
            </a:r>
            <a:r>
              <a:rPr lang="en-US" sz="2978" strike="noStrike" u="none">
                <a:solidFill>
                  <a:srgbClr val="194A8D"/>
                </a:solidFill>
                <a:latin typeface="Arimo"/>
                <a:ea typeface="Arimo"/>
                <a:cs typeface="Arimo"/>
                <a:sym typeface="Arimo"/>
              </a:rPr>
              <a:t> 3–4: Th</a:t>
            </a:r>
            <a:r>
              <a:rPr lang="en-US" sz="2978" strike="noStrike" u="none">
                <a:solidFill>
                  <a:srgbClr val="194A8D"/>
                </a:solidFill>
                <a:latin typeface="Arimo"/>
                <a:ea typeface="Arimo"/>
                <a:cs typeface="Arimo"/>
                <a:sym typeface="Arimo"/>
              </a:rPr>
              <a:t>i</a:t>
            </a:r>
            <a:r>
              <a:rPr lang="en-US" sz="2978" strike="noStrike" u="none">
                <a:solidFill>
                  <a:srgbClr val="194A8D"/>
                </a:solidFill>
                <a:latin typeface="Arimo"/>
                <a:ea typeface="Arimo"/>
                <a:cs typeface="Arimo"/>
                <a:sym typeface="Arimo"/>
              </a:rPr>
              <a:t>ết lập tes</a:t>
            </a:r>
            <a:r>
              <a:rPr lang="en-US" sz="2978" strike="noStrike" u="none">
                <a:solidFill>
                  <a:srgbClr val="194A8D"/>
                </a:solidFill>
                <a:latin typeface="Arimo"/>
                <a:ea typeface="Arimo"/>
                <a:cs typeface="Arimo"/>
                <a:sym typeface="Arimo"/>
              </a:rPr>
              <a:t>t</a:t>
            </a:r>
            <a:r>
              <a:rPr lang="en-US" sz="2978" strike="noStrike" u="none">
                <a:solidFill>
                  <a:srgbClr val="194A8D"/>
                </a:solidFill>
                <a:latin typeface="Arimo"/>
                <a:ea typeface="Arimo"/>
                <a:cs typeface="Arimo"/>
                <a:sym typeface="Arimo"/>
              </a:rPr>
              <a:t> envir</a:t>
            </a:r>
            <a:r>
              <a:rPr lang="en-US" sz="2978" strike="noStrike" u="none">
                <a:solidFill>
                  <a:srgbClr val="194A8D"/>
                </a:solidFill>
                <a:latin typeface="Arimo"/>
                <a:ea typeface="Arimo"/>
                <a:cs typeface="Arimo"/>
                <a:sym typeface="Arimo"/>
              </a:rPr>
              <a:t>o</a:t>
            </a:r>
            <a:r>
              <a:rPr lang="en-US" sz="2978" strike="noStrike" u="none">
                <a:solidFill>
                  <a:srgbClr val="194A8D"/>
                </a:solidFill>
                <a:latin typeface="Arimo"/>
                <a:ea typeface="Arimo"/>
                <a:cs typeface="Arimo"/>
                <a:sym typeface="Arimo"/>
              </a:rPr>
              <a:t>nment, benchma</a:t>
            </a:r>
            <a:r>
              <a:rPr lang="en-US" sz="2978" strike="noStrike" u="none">
                <a:solidFill>
                  <a:srgbClr val="194A8D"/>
                </a:solidFill>
                <a:latin typeface="Arimo"/>
                <a:ea typeface="Arimo"/>
                <a:cs typeface="Arimo"/>
                <a:sym typeface="Arimo"/>
              </a:rPr>
              <a:t>r</a:t>
            </a:r>
            <a:r>
              <a:rPr lang="en-US" sz="2978" strike="noStrike" u="none">
                <a:solidFill>
                  <a:srgbClr val="194A8D"/>
                </a:solidFill>
                <a:latin typeface="Arimo"/>
                <a:ea typeface="Arimo"/>
                <a:cs typeface="Arimo"/>
                <a:sym typeface="Arimo"/>
              </a:rPr>
              <a:t>k và failover test</a:t>
            </a:r>
            <a:r>
              <a:rPr lang="en-US" sz="2978" strike="noStrike" u="none">
                <a:solidFill>
                  <a:srgbClr val="194A8D"/>
                </a:solidFill>
                <a:latin typeface="Arimo"/>
                <a:ea typeface="Arimo"/>
                <a:cs typeface="Arimo"/>
                <a:sym typeface="Arimo"/>
              </a:rPr>
              <a:t>ing</a:t>
            </a:r>
          </a:p>
          <a:p>
            <a:pPr algn="l" marL="642996" indent="-321498" lvl="1">
              <a:lnSpc>
                <a:spcPts val="4169"/>
              </a:lnSpc>
              <a:spcBef>
                <a:spcPct val="0"/>
              </a:spcBef>
              <a:buFont typeface="Arial"/>
              <a:buChar char="•"/>
            </a:pPr>
            <a:r>
              <a:rPr lang="en-US" sz="2978" strike="noStrike" u="none">
                <a:solidFill>
                  <a:srgbClr val="194A8D"/>
                </a:solidFill>
                <a:latin typeface="Arimo"/>
                <a:ea typeface="Arimo"/>
                <a:cs typeface="Arimo"/>
                <a:sym typeface="Arimo"/>
              </a:rPr>
              <a:t> Tuần 5–6</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Triển</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khai</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prod</a:t>
            </a:r>
            <a:r>
              <a:rPr lang="en-US" sz="2978" strike="noStrike" u="none">
                <a:solidFill>
                  <a:srgbClr val="194A8D"/>
                </a:solidFill>
                <a:latin typeface="Arimo"/>
                <a:ea typeface="Arimo"/>
                <a:cs typeface="Arimo"/>
                <a:sym typeface="Arimo"/>
              </a:rPr>
              <a:t>u</a:t>
            </a:r>
            <a:r>
              <a:rPr lang="en-US" sz="2978" strike="noStrike" u="none">
                <a:solidFill>
                  <a:srgbClr val="194A8D"/>
                </a:solidFill>
                <a:latin typeface="Arimo"/>
                <a:ea typeface="Arimo"/>
                <a:cs typeface="Arimo"/>
                <a:sym typeface="Arimo"/>
              </a:rPr>
              <a:t>c</a:t>
            </a:r>
            <a:r>
              <a:rPr lang="en-US" sz="2978" strike="noStrike" u="none">
                <a:solidFill>
                  <a:srgbClr val="194A8D"/>
                </a:solidFill>
                <a:latin typeface="Arimo"/>
                <a:ea typeface="Arimo"/>
                <a:cs typeface="Arimo"/>
                <a:sym typeface="Arimo"/>
              </a:rPr>
              <a:t>ti</a:t>
            </a:r>
            <a:r>
              <a:rPr lang="en-US" sz="2978" strike="noStrike" u="none">
                <a:solidFill>
                  <a:srgbClr val="194A8D"/>
                </a:solidFill>
                <a:latin typeface="Arimo"/>
                <a:ea typeface="Arimo"/>
                <a:cs typeface="Arimo"/>
                <a:sym typeface="Arimo"/>
              </a:rPr>
              <a:t>on</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giá</a:t>
            </a:r>
            <a:r>
              <a:rPr lang="en-US" sz="2978" strike="noStrike" u="none">
                <a:solidFill>
                  <a:srgbClr val="194A8D"/>
                </a:solidFill>
                <a:latin typeface="Arimo"/>
                <a:ea typeface="Arimo"/>
                <a:cs typeface="Arimo"/>
                <a:sym typeface="Arimo"/>
              </a:rPr>
              <a:t>m</a:t>
            </a:r>
            <a:r>
              <a:rPr lang="en-US" sz="2978" strike="noStrike" u="none">
                <a:solidFill>
                  <a:srgbClr val="194A8D"/>
                </a:solidFill>
                <a:latin typeface="Arimo"/>
                <a:ea typeface="Arimo"/>
                <a:cs typeface="Arimo"/>
                <a:sym typeface="Arimo"/>
              </a:rPr>
              <a:t> sát và tố</a:t>
            </a:r>
            <a:r>
              <a:rPr lang="en-US" sz="2978" strike="noStrike" u="none">
                <a:solidFill>
                  <a:srgbClr val="194A8D"/>
                </a:solidFill>
                <a:latin typeface="Arimo"/>
                <a:ea typeface="Arimo"/>
                <a:cs typeface="Arimo"/>
                <a:sym typeface="Arimo"/>
              </a:rPr>
              <a:t>i</a:t>
            </a:r>
            <a:r>
              <a:rPr lang="en-US" sz="2978" strike="noStrike" u="none">
                <a:solidFill>
                  <a:srgbClr val="194A8D"/>
                </a:solidFill>
                <a:latin typeface="Arimo"/>
                <a:ea typeface="Arimo"/>
                <a:cs typeface="Arimo"/>
                <a:sym typeface="Arimo"/>
              </a:rPr>
              <a:t> ưu</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sau</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triển</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khai</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1385236" y="0"/>
            <a:ext cx="7758764" cy="6337935"/>
            <a:chOff x="0" y="0"/>
            <a:chExt cx="1202036" cy="981912"/>
          </a:xfrm>
        </p:grpSpPr>
        <p:sp>
          <p:nvSpPr>
            <p:cNvPr name="Freeform 3" id="3"/>
            <p:cNvSpPr/>
            <p:nvPr/>
          </p:nvSpPr>
          <p:spPr>
            <a:xfrm flipH="false" flipV="false" rot="0">
              <a:off x="0" y="0"/>
              <a:ext cx="1202036" cy="981912"/>
            </a:xfrm>
            <a:custGeom>
              <a:avLst/>
              <a:gdLst/>
              <a:ahLst/>
              <a:cxnLst/>
              <a:rect r="r" b="b" t="t" l="l"/>
              <a:pathLst>
                <a:path h="981912" w="1202036">
                  <a:moveTo>
                    <a:pt x="0" y="0"/>
                  </a:moveTo>
                  <a:lnTo>
                    <a:pt x="1202036" y="0"/>
                  </a:lnTo>
                  <a:lnTo>
                    <a:pt x="1202036" y="981912"/>
                  </a:lnTo>
                  <a:lnTo>
                    <a:pt x="0" y="981912"/>
                  </a:lnTo>
                  <a:close/>
                </a:path>
              </a:pathLst>
            </a:custGeom>
            <a:blipFill>
              <a:blip r:embed="rId2"/>
              <a:stretch>
                <a:fillRect l="-11303" t="0" r="-11303" b="0"/>
              </a:stretch>
            </a:blipFill>
          </p:spPr>
        </p:sp>
      </p:grpSp>
      <p:grpSp>
        <p:nvGrpSpPr>
          <p:cNvPr name="Group 4" id="4"/>
          <p:cNvGrpSpPr/>
          <p:nvPr/>
        </p:nvGrpSpPr>
        <p:grpSpPr>
          <a:xfrm rot="0">
            <a:off x="9297026" y="622039"/>
            <a:ext cx="8990974" cy="2573465"/>
            <a:chOff x="0" y="0"/>
            <a:chExt cx="2186727" cy="625902"/>
          </a:xfrm>
        </p:grpSpPr>
        <p:sp>
          <p:nvSpPr>
            <p:cNvPr name="Freeform 5" id="5"/>
            <p:cNvSpPr/>
            <p:nvPr/>
          </p:nvSpPr>
          <p:spPr>
            <a:xfrm flipH="false" flipV="false" rot="0">
              <a:off x="0" y="0"/>
              <a:ext cx="2186727" cy="625902"/>
            </a:xfrm>
            <a:custGeom>
              <a:avLst/>
              <a:gdLst/>
              <a:ahLst/>
              <a:cxnLst/>
              <a:rect r="r" b="b" t="t" l="l"/>
              <a:pathLst>
                <a:path h="625902" w="2186727">
                  <a:moveTo>
                    <a:pt x="0" y="0"/>
                  </a:moveTo>
                  <a:lnTo>
                    <a:pt x="2186727" y="0"/>
                  </a:lnTo>
                  <a:lnTo>
                    <a:pt x="2186727" y="625902"/>
                  </a:lnTo>
                  <a:lnTo>
                    <a:pt x="0" y="625902"/>
                  </a:lnTo>
                  <a:close/>
                </a:path>
              </a:pathLst>
            </a:custGeom>
            <a:solidFill>
              <a:srgbClr val="FFFFFF"/>
            </a:solidFill>
          </p:spPr>
        </p:sp>
        <p:sp>
          <p:nvSpPr>
            <p:cNvPr name="TextBox 6" id="6"/>
            <p:cNvSpPr txBox="true"/>
            <p:nvPr/>
          </p:nvSpPr>
          <p:spPr>
            <a:xfrm>
              <a:off x="0" y="-47625"/>
              <a:ext cx="2186727" cy="673527"/>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9297026" y="3633654"/>
            <a:ext cx="8990974" cy="2543284"/>
            <a:chOff x="0" y="0"/>
            <a:chExt cx="2186727" cy="618561"/>
          </a:xfrm>
        </p:grpSpPr>
        <p:sp>
          <p:nvSpPr>
            <p:cNvPr name="Freeform 8" id="8"/>
            <p:cNvSpPr/>
            <p:nvPr/>
          </p:nvSpPr>
          <p:spPr>
            <a:xfrm flipH="false" flipV="false" rot="0">
              <a:off x="0" y="0"/>
              <a:ext cx="2186727" cy="618561"/>
            </a:xfrm>
            <a:custGeom>
              <a:avLst/>
              <a:gdLst/>
              <a:ahLst/>
              <a:cxnLst/>
              <a:rect r="r" b="b" t="t" l="l"/>
              <a:pathLst>
                <a:path h="618561" w="2186727">
                  <a:moveTo>
                    <a:pt x="0" y="0"/>
                  </a:moveTo>
                  <a:lnTo>
                    <a:pt x="2186727" y="0"/>
                  </a:lnTo>
                  <a:lnTo>
                    <a:pt x="2186727" y="618561"/>
                  </a:lnTo>
                  <a:lnTo>
                    <a:pt x="0" y="618561"/>
                  </a:lnTo>
                  <a:close/>
                </a:path>
              </a:pathLst>
            </a:custGeom>
            <a:solidFill>
              <a:srgbClr val="FFFFFF"/>
            </a:solidFill>
          </p:spPr>
        </p:sp>
        <p:sp>
          <p:nvSpPr>
            <p:cNvPr name="TextBox 9" id="9"/>
            <p:cNvSpPr txBox="true"/>
            <p:nvPr/>
          </p:nvSpPr>
          <p:spPr>
            <a:xfrm>
              <a:off x="0" y="-47625"/>
              <a:ext cx="2186727" cy="66618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9297026" y="6476027"/>
            <a:ext cx="8990974" cy="2653686"/>
            <a:chOff x="0" y="0"/>
            <a:chExt cx="2186727" cy="645412"/>
          </a:xfrm>
        </p:grpSpPr>
        <p:sp>
          <p:nvSpPr>
            <p:cNvPr name="Freeform 11" id="11"/>
            <p:cNvSpPr/>
            <p:nvPr/>
          </p:nvSpPr>
          <p:spPr>
            <a:xfrm flipH="false" flipV="false" rot="0">
              <a:off x="0" y="0"/>
              <a:ext cx="2186727" cy="645412"/>
            </a:xfrm>
            <a:custGeom>
              <a:avLst/>
              <a:gdLst/>
              <a:ahLst/>
              <a:cxnLst/>
              <a:rect r="r" b="b" t="t" l="l"/>
              <a:pathLst>
                <a:path h="645412" w="2186727">
                  <a:moveTo>
                    <a:pt x="0" y="0"/>
                  </a:moveTo>
                  <a:lnTo>
                    <a:pt x="2186727" y="0"/>
                  </a:lnTo>
                  <a:lnTo>
                    <a:pt x="2186727" y="645412"/>
                  </a:lnTo>
                  <a:lnTo>
                    <a:pt x="0" y="645412"/>
                  </a:lnTo>
                  <a:close/>
                </a:path>
              </a:pathLst>
            </a:custGeom>
            <a:solidFill>
              <a:srgbClr val="FFFFFF"/>
            </a:solidFill>
          </p:spPr>
        </p:sp>
        <p:sp>
          <p:nvSpPr>
            <p:cNvPr name="TextBox 12" id="12"/>
            <p:cNvSpPr txBox="true"/>
            <p:nvPr/>
          </p:nvSpPr>
          <p:spPr>
            <a:xfrm>
              <a:off x="0" y="-47625"/>
              <a:ext cx="2186727" cy="693037"/>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9571018" y="729598"/>
            <a:ext cx="2342742" cy="1769711"/>
            <a:chOff x="0" y="0"/>
            <a:chExt cx="569787" cy="430418"/>
          </a:xfrm>
        </p:grpSpPr>
        <p:sp>
          <p:nvSpPr>
            <p:cNvPr name="Freeform 14" id="14"/>
            <p:cNvSpPr/>
            <p:nvPr/>
          </p:nvSpPr>
          <p:spPr>
            <a:xfrm flipH="false" flipV="false" rot="0">
              <a:off x="0" y="0"/>
              <a:ext cx="569787" cy="430418"/>
            </a:xfrm>
            <a:custGeom>
              <a:avLst/>
              <a:gdLst/>
              <a:ahLst/>
              <a:cxnLst/>
              <a:rect r="r" b="b" t="t" l="l"/>
              <a:pathLst>
                <a:path h="430418" w="569787">
                  <a:moveTo>
                    <a:pt x="0" y="0"/>
                  </a:moveTo>
                  <a:lnTo>
                    <a:pt x="569787" y="0"/>
                  </a:lnTo>
                  <a:lnTo>
                    <a:pt x="569787" y="430418"/>
                  </a:lnTo>
                  <a:lnTo>
                    <a:pt x="0" y="430418"/>
                  </a:lnTo>
                  <a:close/>
                </a:path>
              </a:pathLst>
            </a:custGeom>
            <a:gradFill rotWithShape="true">
              <a:gsLst>
                <a:gs pos="0">
                  <a:srgbClr val="4874B0">
                    <a:alpha val="100000"/>
                  </a:srgbClr>
                </a:gs>
                <a:gs pos="100000">
                  <a:srgbClr val="053371">
                    <a:alpha val="100000"/>
                  </a:srgbClr>
                </a:gs>
              </a:gsLst>
              <a:path path="circle">
                <a:fillToRect l="0" r="100000" t="0" b="100000"/>
              </a:path>
              <a:tileRect r="0" l="-100000" b="0" t="-100000"/>
            </a:gradFill>
          </p:spPr>
        </p:sp>
        <p:sp>
          <p:nvSpPr>
            <p:cNvPr name="TextBox 15" id="15"/>
            <p:cNvSpPr txBox="true"/>
            <p:nvPr/>
          </p:nvSpPr>
          <p:spPr>
            <a:xfrm>
              <a:off x="0" y="-47625"/>
              <a:ext cx="569787" cy="478043"/>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9587075" y="3840713"/>
            <a:ext cx="2342742" cy="1769711"/>
            <a:chOff x="0" y="0"/>
            <a:chExt cx="569787" cy="430418"/>
          </a:xfrm>
        </p:grpSpPr>
        <p:sp>
          <p:nvSpPr>
            <p:cNvPr name="Freeform 17" id="17"/>
            <p:cNvSpPr/>
            <p:nvPr/>
          </p:nvSpPr>
          <p:spPr>
            <a:xfrm flipH="false" flipV="false" rot="0">
              <a:off x="0" y="0"/>
              <a:ext cx="569787" cy="430418"/>
            </a:xfrm>
            <a:custGeom>
              <a:avLst/>
              <a:gdLst/>
              <a:ahLst/>
              <a:cxnLst/>
              <a:rect r="r" b="b" t="t" l="l"/>
              <a:pathLst>
                <a:path h="430418" w="569787">
                  <a:moveTo>
                    <a:pt x="0" y="0"/>
                  </a:moveTo>
                  <a:lnTo>
                    <a:pt x="569787" y="0"/>
                  </a:lnTo>
                  <a:lnTo>
                    <a:pt x="569787" y="430418"/>
                  </a:lnTo>
                  <a:lnTo>
                    <a:pt x="0" y="430418"/>
                  </a:lnTo>
                  <a:close/>
                </a:path>
              </a:pathLst>
            </a:custGeom>
            <a:gradFill rotWithShape="true">
              <a:gsLst>
                <a:gs pos="0">
                  <a:srgbClr val="4874B0">
                    <a:alpha val="100000"/>
                  </a:srgbClr>
                </a:gs>
                <a:gs pos="100000">
                  <a:srgbClr val="053371">
                    <a:alpha val="100000"/>
                  </a:srgbClr>
                </a:gs>
              </a:gsLst>
              <a:path path="circle">
                <a:fillToRect l="0" r="100000" t="0" b="100000"/>
              </a:path>
              <a:tileRect r="0" l="-100000" b="0" t="-100000"/>
            </a:gradFill>
          </p:spPr>
        </p:sp>
        <p:sp>
          <p:nvSpPr>
            <p:cNvPr name="TextBox 18" id="18"/>
            <p:cNvSpPr txBox="true"/>
            <p:nvPr/>
          </p:nvSpPr>
          <p:spPr>
            <a:xfrm>
              <a:off x="0" y="-47625"/>
              <a:ext cx="569787" cy="47804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9587075" y="6685577"/>
            <a:ext cx="2342742" cy="1769711"/>
            <a:chOff x="0" y="0"/>
            <a:chExt cx="569787" cy="430418"/>
          </a:xfrm>
        </p:grpSpPr>
        <p:sp>
          <p:nvSpPr>
            <p:cNvPr name="Freeform 20" id="20"/>
            <p:cNvSpPr/>
            <p:nvPr/>
          </p:nvSpPr>
          <p:spPr>
            <a:xfrm flipH="false" flipV="false" rot="0">
              <a:off x="0" y="0"/>
              <a:ext cx="569787" cy="430418"/>
            </a:xfrm>
            <a:custGeom>
              <a:avLst/>
              <a:gdLst/>
              <a:ahLst/>
              <a:cxnLst/>
              <a:rect r="r" b="b" t="t" l="l"/>
              <a:pathLst>
                <a:path h="430418" w="569787">
                  <a:moveTo>
                    <a:pt x="0" y="0"/>
                  </a:moveTo>
                  <a:lnTo>
                    <a:pt x="569787" y="0"/>
                  </a:lnTo>
                  <a:lnTo>
                    <a:pt x="569787" y="430418"/>
                  </a:lnTo>
                  <a:lnTo>
                    <a:pt x="0" y="430418"/>
                  </a:lnTo>
                  <a:close/>
                </a:path>
              </a:pathLst>
            </a:custGeom>
            <a:gradFill rotWithShape="true">
              <a:gsLst>
                <a:gs pos="0">
                  <a:srgbClr val="4874B0">
                    <a:alpha val="100000"/>
                  </a:srgbClr>
                </a:gs>
                <a:gs pos="100000">
                  <a:srgbClr val="053371">
                    <a:alpha val="100000"/>
                  </a:srgbClr>
                </a:gs>
              </a:gsLst>
              <a:path path="circle">
                <a:fillToRect l="0" r="100000" t="0" b="100000"/>
              </a:path>
              <a:tileRect r="0" l="-100000" b="0" t="-100000"/>
            </a:gradFill>
          </p:spPr>
        </p:sp>
        <p:sp>
          <p:nvSpPr>
            <p:cNvPr name="TextBox 21" id="21"/>
            <p:cNvSpPr txBox="true"/>
            <p:nvPr/>
          </p:nvSpPr>
          <p:spPr>
            <a:xfrm>
              <a:off x="0" y="-47625"/>
              <a:ext cx="569787" cy="478043"/>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9921539" y="876246"/>
            <a:ext cx="1641701" cy="1349180"/>
          </a:xfrm>
          <a:custGeom>
            <a:avLst/>
            <a:gdLst/>
            <a:ahLst/>
            <a:cxnLst/>
            <a:rect r="r" b="b" t="t" l="l"/>
            <a:pathLst>
              <a:path h="1349180" w="1641701">
                <a:moveTo>
                  <a:pt x="0" y="0"/>
                </a:moveTo>
                <a:lnTo>
                  <a:pt x="1641701" y="0"/>
                </a:lnTo>
                <a:lnTo>
                  <a:pt x="1641701" y="1349180"/>
                </a:lnTo>
                <a:lnTo>
                  <a:pt x="0" y="13491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3" id="23"/>
          <p:cNvSpPr/>
          <p:nvPr/>
        </p:nvSpPr>
        <p:spPr>
          <a:xfrm flipH="false" flipV="false" rot="0">
            <a:off x="9981994" y="3969320"/>
            <a:ext cx="1520792" cy="1512496"/>
          </a:xfrm>
          <a:custGeom>
            <a:avLst/>
            <a:gdLst/>
            <a:ahLst/>
            <a:cxnLst/>
            <a:rect r="r" b="b" t="t" l="l"/>
            <a:pathLst>
              <a:path h="1512496" w="1520792">
                <a:moveTo>
                  <a:pt x="0" y="0"/>
                </a:moveTo>
                <a:lnTo>
                  <a:pt x="1520791" y="0"/>
                </a:lnTo>
                <a:lnTo>
                  <a:pt x="1520791" y="1512496"/>
                </a:lnTo>
                <a:lnTo>
                  <a:pt x="0" y="15124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4" id="24"/>
          <p:cNvSpPr/>
          <p:nvPr/>
        </p:nvSpPr>
        <p:spPr>
          <a:xfrm flipH="false" flipV="false" rot="0">
            <a:off x="10014108" y="6809402"/>
            <a:ext cx="1488678" cy="1475144"/>
          </a:xfrm>
          <a:custGeom>
            <a:avLst/>
            <a:gdLst/>
            <a:ahLst/>
            <a:cxnLst/>
            <a:rect r="r" b="b" t="t" l="l"/>
            <a:pathLst>
              <a:path h="1475144" w="1488678">
                <a:moveTo>
                  <a:pt x="0" y="0"/>
                </a:moveTo>
                <a:lnTo>
                  <a:pt x="1488677" y="0"/>
                </a:lnTo>
                <a:lnTo>
                  <a:pt x="1488677" y="1475144"/>
                </a:lnTo>
                <a:lnTo>
                  <a:pt x="0" y="147514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5" id="25"/>
          <p:cNvSpPr txBox="true"/>
          <p:nvPr/>
        </p:nvSpPr>
        <p:spPr>
          <a:xfrm rot="0">
            <a:off x="1385236" y="7574829"/>
            <a:ext cx="8933519" cy="1135783"/>
          </a:xfrm>
          <a:prstGeom prst="rect">
            <a:avLst/>
          </a:prstGeom>
        </p:spPr>
        <p:txBody>
          <a:bodyPr anchor="t" rtlCol="false" tIns="0" lIns="0" bIns="0" rIns="0">
            <a:spAutoFit/>
          </a:bodyPr>
          <a:lstStyle/>
          <a:p>
            <a:pPr algn="l">
              <a:lnSpc>
                <a:spcPts val="8655"/>
              </a:lnSpc>
            </a:pPr>
            <a:r>
              <a:rPr lang="en-US" sz="8165" spc="816">
                <a:solidFill>
                  <a:srgbClr val="FFFFFF"/>
                </a:solidFill>
                <a:latin typeface="League Spartan"/>
                <a:ea typeface="League Spartan"/>
                <a:cs typeface="League Spartan"/>
                <a:sym typeface="League Spartan"/>
              </a:rPr>
              <a:t>VẤN ĐỀ</a:t>
            </a:r>
          </a:p>
        </p:txBody>
      </p:sp>
      <p:sp>
        <p:nvSpPr>
          <p:cNvPr name="TextBox 26" id="26"/>
          <p:cNvSpPr txBox="true"/>
          <p:nvPr/>
        </p:nvSpPr>
        <p:spPr>
          <a:xfrm rot="0">
            <a:off x="12340781" y="730043"/>
            <a:ext cx="5583583" cy="2202789"/>
          </a:xfrm>
          <a:prstGeom prst="rect">
            <a:avLst/>
          </a:prstGeom>
        </p:spPr>
        <p:txBody>
          <a:bodyPr anchor="t" rtlCol="false" tIns="0" lIns="0" bIns="0" rIns="0">
            <a:spAutoFit/>
          </a:bodyPr>
          <a:lstStyle/>
          <a:p>
            <a:pPr algn="l" marL="383446" indent="-191723" lvl="1">
              <a:lnSpc>
                <a:spcPts val="2486"/>
              </a:lnSpc>
              <a:buFont typeface="Arial"/>
              <a:buChar char="•"/>
            </a:pPr>
            <a:r>
              <a:rPr lang="en-US" sz="1776">
                <a:solidFill>
                  <a:srgbClr val="194A8D"/>
                </a:solidFill>
                <a:latin typeface="Arimo"/>
                <a:ea typeface="Arimo"/>
                <a:cs typeface="Arimo"/>
                <a:sym typeface="Arimo"/>
              </a:rPr>
              <a:t>Hiện</a:t>
            </a:r>
            <a:r>
              <a:rPr lang="en-US" sz="1776">
                <a:solidFill>
                  <a:srgbClr val="194A8D"/>
                </a:solidFill>
                <a:latin typeface="Arimo"/>
                <a:ea typeface="Arimo"/>
                <a:cs typeface="Arimo"/>
                <a:sym typeface="Arimo"/>
              </a:rPr>
              <a:t> tại hệ thống cơ sở dữ liệu đang sử dụng mô hình kết nối trực tiếp với các vấn đề nghiêm trọng</a:t>
            </a:r>
          </a:p>
          <a:p>
            <a:pPr algn="l" marL="383446" indent="-191723" lvl="1">
              <a:lnSpc>
                <a:spcPts val="2486"/>
              </a:lnSpc>
              <a:buFont typeface="Arial"/>
              <a:buChar char="•"/>
            </a:pPr>
            <a:r>
              <a:rPr lang="en-US" sz="1776">
                <a:solidFill>
                  <a:srgbClr val="194A8D"/>
                </a:solidFill>
                <a:latin typeface="Arimo"/>
                <a:ea typeface="Arimo"/>
                <a:cs typeface="Arimo"/>
                <a:sym typeface="Arimo"/>
              </a:rPr>
              <a:t>Quá nhiều kết nối mở cùng lúc gây lỗi Too many connections.</a:t>
            </a:r>
          </a:p>
          <a:p>
            <a:pPr algn="l" marL="383446" indent="-191723" lvl="1">
              <a:lnSpc>
                <a:spcPts val="2486"/>
              </a:lnSpc>
              <a:buFont typeface="Arial"/>
              <a:buChar char="•"/>
            </a:pPr>
            <a:r>
              <a:rPr lang="en-US" sz="1776">
                <a:solidFill>
                  <a:srgbClr val="194A8D"/>
                </a:solidFill>
                <a:latin typeface="Arimo"/>
                <a:ea typeface="Arimo"/>
                <a:cs typeface="Arimo"/>
                <a:sym typeface="Arimo"/>
              </a:rPr>
              <a:t>Dữ liệu ghi chậm hoặc phản hồi timeout.</a:t>
            </a:r>
          </a:p>
          <a:p>
            <a:pPr algn="l" marL="383446" indent="-191723" lvl="1">
              <a:lnSpc>
                <a:spcPts val="2486"/>
              </a:lnSpc>
              <a:buFont typeface="Arial"/>
              <a:buChar char="•"/>
            </a:pPr>
            <a:r>
              <a:rPr lang="en-US" sz="1776">
                <a:solidFill>
                  <a:srgbClr val="194A8D"/>
                </a:solidFill>
                <a:latin typeface="Arimo"/>
                <a:ea typeface="Arimo"/>
                <a:cs typeface="Arimo"/>
                <a:sym typeface="Arimo"/>
              </a:rPr>
              <a:t>Khi DB primary fail, client mất nhiều thời gian reconnect</a:t>
            </a:r>
          </a:p>
        </p:txBody>
      </p:sp>
      <p:sp>
        <p:nvSpPr>
          <p:cNvPr name="TextBox 27" id="27"/>
          <p:cNvSpPr txBox="true"/>
          <p:nvPr/>
        </p:nvSpPr>
        <p:spPr>
          <a:xfrm rot="0">
            <a:off x="12377492" y="4161537"/>
            <a:ext cx="5583583" cy="1259814"/>
          </a:xfrm>
          <a:prstGeom prst="rect">
            <a:avLst/>
          </a:prstGeom>
        </p:spPr>
        <p:txBody>
          <a:bodyPr anchor="t" rtlCol="false" tIns="0" lIns="0" bIns="0" rIns="0">
            <a:spAutoFit/>
          </a:bodyPr>
          <a:lstStyle/>
          <a:p>
            <a:pPr algn="l" marL="383446" indent="-191723" lvl="1">
              <a:lnSpc>
                <a:spcPts val="2486"/>
              </a:lnSpc>
              <a:buFont typeface="Arial"/>
              <a:buChar char="•"/>
            </a:pPr>
            <a:r>
              <a:rPr lang="en-US" sz="1776">
                <a:solidFill>
                  <a:srgbClr val="194A8D"/>
                </a:solidFill>
                <a:latin typeface="Arimo"/>
                <a:ea typeface="Arimo"/>
                <a:cs typeface="Arimo"/>
                <a:sym typeface="Arimo"/>
              </a:rPr>
              <a:t> Độ t</a:t>
            </a:r>
            <a:r>
              <a:rPr lang="en-US" sz="1776">
                <a:solidFill>
                  <a:srgbClr val="194A8D"/>
                </a:solidFill>
                <a:latin typeface="Arimo"/>
                <a:ea typeface="Arimo"/>
                <a:cs typeface="Arimo"/>
                <a:sym typeface="Arimo"/>
              </a:rPr>
              <a:t>rễ phản hồi tăng 2-3 lần trong giờ cao điểm.</a:t>
            </a:r>
          </a:p>
          <a:p>
            <a:pPr algn="l" marL="383446" indent="-191723" lvl="1">
              <a:lnSpc>
                <a:spcPts val="2486"/>
              </a:lnSpc>
              <a:buFont typeface="Arial"/>
              <a:buChar char="•"/>
            </a:pPr>
            <a:r>
              <a:rPr lang="en-US" sz="1776">
                <a:solidFill>
                  <a:srgbClr val="194A8D"/>
                </a:solidFill>
                <a:latin typeface="Arimo"/>
                <a:ea typeface="Arimo"/>
                <a:cs typeface="Arimo"/>
                <a:sym typeface="Arimo"/>
              </a:rPr>
              <a:t> Tỷ lệ lỗi tăng lên 12% khi xảy ra failover.</a:t>
            </a:r>
          </a:p>
          <a:p>
            <a:pPr algn="l" marL="383446" indent="-191723" lvl="1">
              <a:lnSpc>
                <a:spcPts val="2486"/>
              </a:lnSpc>
              <a:buFont typeface="Arial"/>
              <a:buChar char="•"/>
            </a:pPr>
            <a:r>
              <a:rPr lang="en-US" sz="1776">
                <a:solidFill>
                  <a:srgbClr val="194A8D"/>
                </a:solidFill>
                <a:latin typeface="Arimo"/>
                <a:ea typeface="Arimo"/>
                <a:cs typeface="Arimo"/>
                <a:sym typeface="Arimo"/>
              </a:rPr>
              <a:t> Tốn chi phí dư thừa cho việc nâng cấp RDS do không tái sử dụng được kết nối hiệu quả.</a:t>
            </a:r>
          </a:p>
        </p:txBody>
      </p:sp>
      <p:sp>
        <p:nvSpPr>
          <p:cNvPr name="TextBox 28" id="28"/>
          <p:cNvSpPr txBox="true"/>
          <p:nvPr/>
        </p:nvSpPr>
        <p:spPr>
          <a:xfrm rot="0">
            <a:off x="12340781" y="6761777"/>
            <a:ext cx="4953302" cy="1888464"/>
          </a:xfrm>
          <a:prstGeom prst="rect">
            <a:avLst/>
          </a:prstGeom>
        </p:spPr>
        <p:txBody>
          <a:bodyPr anchor="t" rtlCol="false" tIns="0" lIns="0" bIns="0" rIns="0">
            <a:spAutoFit/>
          </a:bodyPr>
          <a:lstStyle/>
          <a:p>
            <a:pPr algn="l" marL="383446" indent="-191723" lvl="1">
              <a:lnSpc>
                <a:spcPts val="2486"/>
              </a:lnSpc>
              <a:buFont typeface="Arial"/>
              <a:buChar char="•"/>
            </a:pPr>
            <a:r>
              <a:rPr lang="en-US" sz="1776">
                <a:solidFill>
                  <a:srgbClr val="194A8D"/>
                </a:solidFill>
                <a:latin typeface="Arimo"/>
                <a:ea typeface="Arimo"/>
                <a:cs typeface="Arimo"/>
                <a:sym typeface="Arimo"/>
              </a:rPr>
              <a:t>Nghẽn kết</a:t>
            </a:r>
            <a:r>
              <a:rPr lang="en-US" sz="1776">
                <a:solidFill>
                  <a:srgbClr val="194A8D"/>
                </a:solidFill>
                <a:latin typeface="Arimo"/>
                <a:ea typeface="Arimo"/>
                <a:cs typeface="Arimo"/>
                <a:sym typeface="Arimo"/>
              </a:rPr>
              <a:t> nối DB ở giờ cao điểm</a:t>
            </a:r>
          </a:p>
          <a:p>
            <a:pPr algn="l" marL="383446" indent="-191723" lvl="1">
              <a:lnSpc>
                <a:spcPts val="2486"/>
              </a:lnSpc>
              <a:buFont typeface="Arial"/>
              <a:buChar char="•"/>
            </a:pPr>
            <a:r>
              <a:rPr lang="en-US" sz="1776">
                <a:solidFill>
                  <a:srgbClr val="194A8D"/>
                </a:solidFill>
                <a:latin typeface="Arimo"/>
                <a:ea typeface="Arimo"/>
                <a:cs typeface="Arimo"/>
                <a:sym typeface="Arimo"/>
              </a:rPr>
              <a:t>Tăng chi phí vận hành không cần thiết</a:t>
            </a:r>
          </a:p>
          <a:p>
            <a:pPr algn="l" marL="383446" indent="-191723" lvl="1">
              <a:lnSpc>
                <a:spcPts val="2486"/>
              </a:lnSpc>
              <a:buFont typeface="Arial"/>
              <a:buChar char="•"/>
            </a:pPr>
            <a:r>
              <a:rPr lang="en-US" sz="1776">
                <a:solidFill>
                  <a:srgbClr val="194A8D"/>
                </a:solidFill>
                <a:latin typeface="Arimo"/>
                <a:ea typeface="Arimo"/>
                <a:cs typeface="Arimo"/>
                <a:sym typeface="Arimo"/>
              </a:rPr>
              <a:t>Thời gian chuyển đổi DB khi sự cố xảy ra kéo dài</a:t>
            </a:r>
          </a:p>
          <a:p>
            <a:pPr algn="l" marL="383446" indent="-191723" lvl="1">
              <a:lnSpc>
                <a:spcPts val="2486"/>
              </a:lnSpc>
              <a:buFont typeface="Arial"/>
              <a:buChar char="•"/>
            </a:pPr>
            <a:r>
              <a:rPr lang="en-US" sz="1776">
                <a:solidFill>
                  <a:srgbClr val="194A8D"/>
                </a:solidFill>
                <a:latin typeface="Arimo"/>
                <a:ea typeface="Arimo"/>
                <a:cs typeface="Arimo"/>
                <a:sym typeface="Arimo"/>
              </a:rPr>
              <a:t>Khó giám sát &amp; xử lý sự cố kịp thời</a:t>
            </a:r>
          </a:p>
          <a:p>
            <a:pPr algn="l" marL="383446" indent="-191723" lvl="1">
              <a:lnSpc>
                <a:spcPts val="2486"/>
              </a:lnSpc>
              <a:buFont typeface="Arial"/>
              <a:buChar char="•"/>
            </a:pPr>
            <a:r>
              <a:rPr lang="en-US" sz="1776">
                <a:solidFill>
                  <a:srgbClr val="194A8D"/>
                </a:solidFill>
                <a:latin typeface="Arimo"/>
                <a:ea typeface="Arimo"/>
                <a:cs typeface="Arimo"/>
                <a:sym typeface="Arimo"/>
              </a:rPr>
              <a:t>Ảnh hưởng đến tăng trưởng và uy tín dịch vụ</a:t>
            </a:r>
          </a:p>
        </p:txBody>
      </p:sp>
      <p:sp>
        <p:nvSpPr>
          <p:cNvPr name="TextBox 29" id="29"/>
          <p:cNvSpPr txBox="true"/>
          <p:nvPr/>
        </p:nvSpPr>
        <p:spPr>
          <a:xfrm rot="0">
            <a:off x="9627596" y="2615993"/>
            <a:ext cx="2229587" cy="316839"/>
          </a:xfrm>
          <a:prstGeom prst="rect">
            <a:avLst/>
          </a:prstGeom>
        </p:spPr>
        <p:txBody>
          <a:bodyPr anchor="t" rtlCol="false" tIns="0" lIns="0" bIns="0" rIns="0">
            <a:spAutoFit/>
          </a:bodyPr>
          <a:lstStyle/>
          <a:p>
            <a:pPr algn="ctr">
              <a:lnSpc>
                <a:spcPts val="2486"/>
              </a:lnSpc>
              <a:spcBef>
                <a:spcPct val="0"/>
              </a:spcBef>
            </a:pPr>
            <a:r>
              <a:rPr lang="en-US" sz="1776">
                <a:solidFill>
                  <a:srgbClr val="194A8D"/>
                </a:solidFill>
                <a:latin typeface="Arimo"/>
                <a:ea typeface="Arimo"/>
                <a:cs typeface="Arimo"/>
                <a:sym typeface="Arimo"/>
              </a:rPr>
              <a:t>Tình hình hiện tại</a:t>
            </a:r>
          </a:p>
        </p:txBody>
      </p:sp>
      <p:sp>
        <p:nvSpPr>
          <p:cNvPr name="TextBox 30" id="30"/>
          <p:cNvSpPr txBox="true"/>
          <p:nvPr/>
        </p:nvSpPr>
        <p:spPr>
          <a:xfrm rot="0">
            <a:off x="9684173" y="5680020"/>
            <a:ext cx="2229587" cy="316839"/>
          </a:xfrm>
          <a:prstGeom prst="rect">
            <a:avLst/>
          </a:prstGeom>
        </p:spPr>
        <p:txBody>
          <a:bodyPr anchor="t" rtlCol="false" tIns="0" lIns="0" bIns="0" rIns="0">
            <a:spAutoFit/>
          </a:bodyPr>
          <a:lstStyle/>
          <a:p>
            <a:pPr algn="ctr">
              <a:lnSpc>
                <a:spcPts val="2486"/>
              </a:lnSpc>
              <a:spcBef>
                <a:spcPct val="0"/>
              </a:spcBef>
            </a:pPr>
            <a:r>
              <a:rPr lang="en-US" sz="1776">
                <a:solidFill>
                  <a:srgbClr val="194A8D"/>
                </a:solidFill>
                <a:latin typeface="Arimo"/>
                <a:ea typeface="Arimo"/>
                <a:cs typeface="Arimo"/>
                <a:sym typeface="Arimo"/>
              </a:rPr>
              <a:t>Những vấn đề cốt lõi</a:t>
            </a:r>
          </a:p>
        </p:txBody>
      </p:sp>
      <p:sp>
        <p:nvSpPr>
          <p:cNvPr name="TextBox 31" id="31"/>
          <p:cNvSpPr txBox="true"/>
          <p:nvPr/>
        </p:nvSpPr>
        <p:spPr>
          <a:xfrm rot="0">
            <a:off x="9700230" y="8528381"/>
            <a:ext cx="2229587" cy="316839"/>
          </a:xfrm>
          <a:prstGeom prst="rect">
            <a:avLst/>
          </a:prstGeom>
        </p:spPr>
        <p:txBody>
          <a:bodyPr anchor="t" rtlCol="false" tIns="0" lIns="0" bIns="0" rIns="0">
            <a:spAutoFit/>
          </a:bodyPr>
          <a:lstStyle/>
          <a:p>
            <a:pPr algn="ctr">
              <a:lnSpc>
                <a:spcPts val="2486"/>
              </a:lnSpc>
              <a:spcBef>
                <a:spcPct val="0"/>
              </a:spcBef>
            </a:pPr>
            <a:r>
              <a:rPr lang="en-US" sz="1776">
                <a:solidFill>
                  <a:srgbClr val="194A8D"/>
                </a:solidFill>
                <a:latin typeface="Arimo"/>
                <a:ea typeface="Arimo"/>
                <a:cs typeface="Arimo"/>
                <a:sym typeface="Arimo"/>
              </a:rPr>
              <a:t>Hậu Quả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aphicFrame>
        <p:nvGraphicFramePr>
          <p:cNvPr name="Object 2" id="2"/>
          <p:cNvGraphicFramePr/>
          <p:nvPr/>
        </p:nvGraphicFramePr>
        <p:xfrm>
          <a:off x="1350602" y="1658981"/>
          <a:ext cx="3771900" cy="2514600"/>
        </p:xfrm>
        <a:graphic>
          <a:graphicData uri="http://schemas.openxmlformats.org/presentationml/2006/ole">
            <p:oleObj imgW="4521200" imgH="3263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742831" y="351420"/>
            <a:ext cx="10355135" cy="1021184"/>
          </a:xfrm>
          <a:prstGeom prst="rect">
            <a:avLst/>
          </a:prstGeom>
        </p:spPr>
        <p:txBody>
          <a:bodyPr anchor="t" rtlCol="false" tIns="0" lIns="0" bIns="0" rIns="0">
            <a:spAutoFit/>
          </a:bodyPr>
          <a:lstStyle/>
          <a:p>
            <a:pPr algn="ctr">
              <a:lnSpc>
                <a:spcPts val="8633"/>
              </a:lnSpc>
            </a:pPr>
            <a:r>
              <a:rPr lang="en-US" b="true" sz="4519" spc="451">
                <a:solidFill>
                  <a:srgbClr val="FFFFFF"/>
                </a:solidFill>
                <a:latin typeface="Arimo Bold"/>
                <a:ea typeface="Arimo Bold"/>
                <a:cs typeface="Arimo Bold"/>
                <a:sym typeface="Arimo Bold"/>
              </a:rPr>
              <a:t>Phân tích các bên liên quan</a:t>
            </a:r>
          </a:p>
        </p:txBody>
      </p:sp>
    </p:spTree>
  </p:cSld>
  <p:clrMapOvr>
    <a:masterClrMapping/>
  </p:clrMapOvr>
</p:sld>
</file>

<file path=ppt/slides/slide8.xml><?xml version="1.0" encoding="utf-8"?>
<p:sld xmlns:p="http://schemas.openxmlformats.org/presentationml/2006/main" xmlns:a="http://schemas.openxmlformats.org/drawingml/2006/main">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1275246" y="487933"/>
            <a:ext cx="10940396" cy="1021184"/>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Cơ hội thị trường &amp; tiềm năng</a:t>
            </a:r>
          </a:p>
        </p:txBody>
      </p:sp>
      <p:sp>
        <p:nvSpPr>
          <p:cNvPr name="TextBox 3" id="3"/>
          <p:cNvSpPr txBox="true"/>
          <p:nvPr/>
        </p:nvSpPr>
        <p:spPr>
          <a:xfrm rot="0">
            <a:off x="1275246" y="1739470"/>
            <a:ext cx="15737507" cy="7106756"/>
          </a:xfrm>
          <a:prstGeom prst="rect">
            <a:avLst/>
          </a:prstGeom>
        </p:spPr>
        <p:txBody>
          <a:bodyPr anchor="t" rtlCol="false" tIns="0" lIns="0" bIns="0" rIns="0">
            <a:spAutoFit/>
          </a:bodyPr>
          <a:lstStyle/>
          <a:p>
            <a:pPr algn="l" marL="823058" indent="-411529" lvl="1">
              <a:lnSpc>
                <a:spcPts val="4040"/>
              </a:lnSpc>
              <a:buFont typeface="Arial"/>
              <a:buChar char="•"/>
            </a:pPr>
            <a:r>
              <a:rPr lang="en-US" sz="3812" spc="381" strike="noStrike" u="none">
                <a:solidFill>
                  <a:srgbClr val="FFFFFF"/>
                </a:solidFill>
                <a:latin typeface="Arimo"/>
                <a:ea typeface="Arimo"/>
                <a:cs typeface="Arimo"/>
                <a:sym typeface="Arimo"/>
              </a:rPr>
              <a:t>Sử dụng RDS Proxy giúp tái sử dụng kết nối, giảm tải DB, đồng thời đảm bảo tính sẵn sàng cao, phù hợp với định hướng cloud-native.</a:t>
            </a:r>
          </a:p>
          <a:p>
            <a:pPr algn="l" marL="823058" indent="-411529" lvl="1">
              <a:lnSpc>
                <a:spcPts val="4040"/>
              </a:lnSpc>
              <a:buFont typeface="Arial"/>
              <a:buChar char="•"/>
            </a:pPr>
            <a:r>
              <a:rPr lang="en-US" sz="3812" spc="381" strike="noStrike" u="none">
                <a:solidFill>
                  <a:srgbClr val="FFFFFF"/>
                </a:solidFill>
                <a:latin typeface="Arimo"/>
                <a:ea typeface="Arimo"/>
                <a:cs typeface="Arimo"/>
                <a:sym typeface="Arimo"/>
              </a:rPr>
              <a:t>Giải pháp đặc biệt phù hợp với các hệ thống thương mại điện tử, fintech, y tế số và edtech — nơi downtime hoặc chậm trễ truy vấn ảnh hưởng trực tiếp đến doanh thu và uy tín dịch vụ.</a:t>
            </a:r>
          </a:p>
          <a:p>
            <a:pPr algn="l" marL="823058" indent="-411529" lvl="1">
              <a:lnSpc>
                <a:spcPts val="4040"/>
              </a:lnSpc>
              <a:buFont typeface="Arial"/>
              <a:buChar char="•"/>
            </a:pPr>
            <a:r>
              <a:rPr lang="en-US" sz="3812" spc="381" strike="noStrike" u="none">
                <a:solidFill>
                  <a:srgbClr val="FFFFFF"/>
                </a:solidFill>
                <a:latin typeface="Arimo"/>
                <a:ea typeface="Arimo"/>
                <a:cs typeface="Arimo"/>
                <a:sym typeface="Arimo"/>
              </a:rPr>
              <a:t>Hạ tầng linh hoạt, dễ tích hợp với CI/CD và có thể scale tự động qua nhiều khu vực AWS giúp doanh nghiệp dễ dàng thâm nhập thị trường quốc tế mà không cần tái cấu trúc hệ thống.</a:t>
            </a:r>
          </a:p>
          <a:p>
            <a:pPr algn="l" marL="823058" indent="-411529" lvl="1">
              <a:lnSpc>
                <a:spcPts val="4040"/>
              </a:lnSpc>
              <a:buFont typeface="Arial"/>
              <a:buChar char="•"/>
            </a:pPr>
            <a:r>
              <a:rPr lang="en-US" sz="3812" spc="381" strike="noStrike" u="none">
                <a:solidFill>
                  <a:srgbClr val="FFFFFF"/>
                </a:solidFill>
                <a:latin typeface="Arimo"/>
                <a:ea typeface="Arimo"/>
                <a:cs typeface="Arimo"/>
                <a:sym typeface="Arimo"/>
              </a:rPr>
              <a:t>Mô hình này có thể được nhân rộng cho các hệ thống khác trong doanh nghiệp giúp tiết kiệm công sức phát triển và chi phí vận hành.</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633877" y="-554823"/>
            <a:ext cx="19639468" cy="5698323"/>
            <a:chOff x="0" y="0"/>
            <a:chExt cx="5172535" cy="1500793"/>
          </a:xfrm>
        </p:grpSpPr>
        <p:sp>
          <p:nvSpPr>
            <p:cNvPr name="Freeform 3" id="3"/>
            <p:cNvSpPr/>
            <p:nvPr/>
          </p:nvSpPr>
          <p:spPr>
            <a:xfrm flipH="false" flipV="false" rot="0">
              <a:off x="0" y="0"/>
              <a:ext cx="5172535" cy="1500793"/>
            </a:xfrm>
            <a:custGeom>
              <a:avLst/>
              <a:gdLst/>
              <a:ahLst/>
              <a:cxnLst/>
              <a:rect r="r" b="b" t="t" l="l"/>
              <a:pathLst>
                <a:path h="1500793" w="5172535">
                  <a:moveTo>
                    <a:pt x="0" y="0"/>
                  </a:moveTo>
                  <a:lnTo>
                    <a:pt x="5172535" y="0"/>
                  </a:lnTo>
                  <a:lnTo>
                    <a:pt x="5172535" y="1500793"/>
                  </a:lnTo>
                  <a:lnTo>
                    <a:pt x="0" y="1500793"/>
                  </a:lnTo>
                  <a:close/>
                </a:path>
              </a:pathLst>
            </a:custGeom>
            <a:solidFill>
              <a:srgbClr val="FFFFFF"/>
            </a:solidFill>
          </p:spPr>
        </p:sp>
        <p:sp>
          <p:nvSpPr>
            <p:cNvPr name="TextBox 4" id="4"/>
            <p:cNvSpPr txBox="true"/>
            <p:nvPr/>
          </p:nvSpPr>
          <p:spPr>
            <a:xfrm>
              <a:off x="0" y="-47625"/>
              <a:ext cx="5172535" cy="1548418"/>
            </a:xfrm>
            <a:prstGeom prst="rect">
              <a:avLst/>
            </a:prstGeom>
          </p:spPr>
          <p:txBody>
            <a:bodyPr anchor="ctr" rtlCol="false" tIns="50800" lIns="50800" bIns="50800" rIns="50800"/>
            <a:lstStyle/>
            <a:p>
              <a:pPr algn="ctr">
                <a:lnSpc>
                  <a:spcPts val="2659"/>
                </a:lnSpc>
              </a:pPr>
              <a:r>
                <a:rPr lang="en-US" sz="1899">
                  <a:solidFill>
                    <a:srgbClr val="FFFFFF"/>
                  </a:solidFill>
                  <a:latin typeface="Arimo"/>
                  <a:ea typeface="Arimo"/>
                  <a:cs typeface="Arimo"/>
                  <a:sym typeface="Arimo"/>
                </a:rPr>
                <a:t> </a:t>
              </a:r>
            </a:p>
          </p:txBody>
        </p:sp>
      </p:grpSp>
      <p:grpSp>
        <p:nvGrpSpPr>
          <p:cNvPr name="Group 5" id="5"/>
          <p:cNvGrpSpPr/>
          <p:nvPr/>
        </p:nvGrpSpPr>
        <p:grpSpPr>
          <a:xfrm rot="0">
            <a:off x="1187324" y="1028700"/>
            <a:ext cx="16071976" cy="8724821"/>
            <a:chOff x="0" y="0"/>
            <a:chExt cx="4232948" cy="2297895"/>
          </a:xfrm>
        </p:grpSpPr>
        <p:sp>
          <p:nvSpPr>
            <p:cNvPr name="Freeform 6" id="6"/>
            <p:cNvSpPr/>
            <p:nvPr/>
          </p:nvSpPr>
          <p:spPr>
            <a:xfrm flipH="false" flipV="false" rot="0">
              <a:off x="0" y="0"/>
              <a:ext cx="4232949" cy="2297895"/>
            </a:xfrm>
            <a:custGeom>
              <a:avLst/>
              <a:gdLst/>
              <a:ahLst/>
              <a:cxnLst/>
              <a:rect r="r" b="b" t="t" l="l"/>
              <a:pathLst>
                <a:path h="2297895" w="4232949">
                  <a:moveTo>
                    <a:pt x="0" y="0"/>
                  </a:moveTo>
                  <a:lnTo>
                    <a:pt x="4232949" y="0"/>
                  </a:lnTo>
                  <a:lnTo>
                    <a:pt x="4232949" y="2297895"/>
                  </a:lnTo>
                  <a:lnTo>
                    <a:pt x="0" y="2297895"/>
                  </a:lnTo>
                  <a:close/>
                </a:path>
              </a:pathLst>
            </a:custGeom>
            <a:solidFill>
              <a:srgbClr val="6299E4"/>
            </a:solidFill>
          </p:spPr>
        </p:sp>
        <p:sp>
          <p:nvSpPr>
            <p:cNvPr name="TextBox 7" id="7"/>
            <p:cNvSpPr txBox="true"/>
            <p:nvPr/>
          </p:nvSpPr>
          <p:spPr>
            <a:xfrm>
              <a:off x="0" y="-47625"/>
              <a:ext cx="4232948" cy="2345520"/>
            </a:xfrm>
            <a:prstGeom prst="rect">
              <a:avLst/>
            </a:prstGeom>
          </p:spPr>
          <p:txBody>
            <a:bodyPr anchor="ctr" rtlCol="false" tIns="50800" lIns="50800" bIns="50800" rIns="50800"/>
            <a:lstStyle/>
            <a:p>
              <a:pPr algn="ctr">
                <a:lnSpc>
                  <a:spcPts val="2659"/>
                </a:lnSpc>
              </a:pPr>
              <a:r>
                <a:rPr lang="en-US" sz="1899">
                  <a:solidFill>
                    <a:srgbClr val="FFFFFF"/>
                  </a:solidFill>
                  <a:latin typeface="Arimo"/>
                  <a:ea typeface="Arimo"/>
                  <a:cs typeface="Arimo"/>
                  <a:sym typeface="Arimo"/>
                </a:rPr>
                <a:t> </a:t>
              </a:r>
            </a:p>
          </p:txBody>
        </p:sp>
      </p:grpSp>
      <p:sp>
        <p:nvSpPr>
          <p:cNvPr name="Freeform 8" id="8"/>
          <p:cNvSpPr/>
          <p:nvPr/>
        </p:nvSpPr>
        <p:spPr>
          <a:xfrm flipH="false" flipV="false" rot="0">
            <a:off x="3218936" y="3668203"/>
            <a:ext cx="12655956" cy="5590097"/>
          </a:xfrm>
          <a:custGeom>
            <a:avLst/>
            <a:gdLst/>
            <a:ahLst/>
            <a:cxnLst/>
            <a:rect r="r" b="b" t="t" l="l"/>
            <a:pathLst>
              <a:path h="5590097" w="12655956">
                <a:moveTo>
                  <a:pt x="0" y="0"/>
                </a:moveTo>
                <a:lnTo>
                  <a:pt x="12655956" y="0"/>
                </a:lnTo>
                <a:lnTo>
                  <a:pt x="12655956" y="5590097"/>
                </a:lnTo>
                <a:lnTo>
                  <a:pt x="0" y="5590097"/>
                </a:lnTo>
                <a:lnTo>
                  <a:pt x="0" y="0"/>
                </a:lnTo>
                <a:close/>
              </a:path>
            </a:pathLst>
          </a:custGeom>
          <a:blipFill>
            <a:blip r:embed="rId2"/>
            <a:stretch>
              <a:fillRect l="0" t="-6309" r="0" b="-6309"/>
            </a:stretch>
          </a:blipFill>
        </p:spPr>
      </p:sp>
      <p:sp>
        <p:nvSpPr>
          <p:cNvPr name="TextBox 9" id="9"/>
          <p:cNvSpPr txBox="true"/>
          <p:nvPr/>
        </p:nvSpPr>
        <p:spPr>
          <a:xfrm rot="0">
            <a:off x="1665818" y="1778834"/>
            <a:ext cx="15114989" cy="1135783"/>
          </a:xfrm>
          <a:prstGeom prst="rect">
            <a:avLst/>
          </a:prstGeom>
        </p:spPr>
        <p:txBody>
          <a:bodyPr anchor="t" rtlCol="false" tIns="0" lIns="0" bIns="0" rIns="0">
            <a:spAutoFit/>
          </a:bodyPr>
          <a:lstStyle/>
          <a:p>
            <a:pPr algn="ctr">
              <a:lnSpc>
                <a:spcPts val="8655"/>
              </a:lnSpc>
            </a:pPr>
            <a:r>
              <a:rPr lang="en-US" sz="8165" spc="816">
                <a:solidFill>
                  <a:srgbClr val="FFFFFF"/>
                </a:solidFill>
                <a:latin typeface="League Spartan"/>
                <a:ea typeface="League Spartan"/>
                <a:cs typeface="League Spartan"/>
                <a:sym typeface="League Spartan"/>
              </a:rPr>
              <a:t>KIẾN TRÚC GIẢI PHÁP</a:t>
            </a:r>
          </a:p>
        </p:txBody>
      </p:sp>
      <p:sp>
        <p:nvSpPr>
          <p:cNvPr name="TextBox 10" id="10"/>
          <p:cNvSpPr txBox="true"/>
          <p:nvPr/>
        </p:nvSpPr>
        <p:spPr>
          <a:xfrm rot="0">
            <a:off x="2588655" y="2581243"/>
            <a:ext cx="5177826" cy="1021184"/>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Sơ đồ kiến trúc</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aphicFrame>
        <p:nvGraphicFramePr>
          <p:cNvPr name="Object 2" id="2"/>
          <p:cNvGraphicFramePr/>
          <p:nvPr/>
        </p:nvGraphicFramePr>
        <p:xfrm>
          <a:off x="707629" y="1028700"/>
          <a:ext cx="3771900" cy="3771900"/>
        </p:xfrm>
        <a:graphic>
          <a:graphicData uri="http://schemas.openxmlformats.org/presentationml/2006/ole">
            <p:oleObj imgW="4521200" imgH="4521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707629" y="-143800"/>
            <a:ext cx="10355135" cy="1021184"/>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Lựa chọn dịch vụ AWS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707629" y="-143800"/>
            <a:ext cx="10355135" cy="1021184"/>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Thiết kế từng phần</a:t>
            </a:r>
          </a:p>
        </p:txBody>
      </p:sp>
      <p:graphicFrame>
        <p:nvGraphicFramePr>
          <p:cNvPr name="Object 3" id="3"/>
          <p:cNvGraphicFramePr/>
          <p:nvPr/>
        </p:nvGraphicFramePr>
        <p:xfrm>
          <a:off x="707629" y="1183720"/>
          <a:ext cx="2514600" cy="2514600"/>
        </p:xfrm>
        <a:graphic>
          <a:graphicData uri="http://schemas.openxmlformats.org/presentationml/2006/ole">
            <p:oleObj imgW="3009900" imgH="3009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true" rot="-5400000">
            <a:off x="15177010" y="-1253949"/>
            <a:ext cx="2720897" cy="5228794"/>
          </a:xfrm>
          <a:custGeom>
            <a:avLst/>
            <a:gdLst/>
            <a:ahLst/>
            <a:cxnLst/>
            <a:rect r="r" b="b" t="t" l="l"/>
            <a:pathLst>
              <a:path h="5228794" w="2720897">
                <a:moveTo>
                  <a:pt x="0" y="5228795"/>
                </a:moveTo>
                <a:lnTo>
                  <a:pt x="2720897" y="5228795"/>
                </a:lnTo>
                <a:lnTo>
                  <a:pt x="2720897" y="0"/>
                </a:lnTo>
                <a:lnTo>
                  <a:pt x="0" y="0"/>
                </a:lnTo>
                <a:lnTo>
                  <a:pt x="0" y="5228795"/>
                </a:lnTo>
                <a:close/>
              </a:path>
            </a:pathLst>
          </a:custGeom>
          <a:blipFill>
            <a:blip r:embed="rId2"/>
            <a:stretch>
              <a:fillRect l="0" t="0" r="0" b="0"/>
            </a:stretch>
          </a:blipFill>
        </p:spPr>
      </p:sp>
      <p:sp>
        <p:nvSpPr>
          <p:cNvPr name="Freeform 3" id="3"/>
          <p:cNvSpPr/>
          <p:nvPr/>
        </p:nvSpPr>
        <p:spPr>
          <a:xfrm flipH="false" flipV="false" rot="-5400000">
            <a:off x="390093" y="-1471468"/>
            <a:ext cx="2720897" cy="5228794"/>
          </a:xfrm>
          <a:custGeom>
            <a:avLst/>
            <a:gdLst/>
            <a:ahLst/>
            <a:cxnLst/>
            <a:rect r="r" b="b" t="t" l="l"/>
            <a:pathLst>
              <a:path h="5228794" w="2720897">
                <a:moveTo>
                  <a:pt x="0" y="0"/>
                </a:moveTo>
                <a:lnTo>
                  <a:pt x="2720897" y="0"/>
                </a:lnTo>
                <a:lnTo>
                  <a:pt x="2720897" y="5228794"/>
                </a:lnTo>
                <a:lnTo>
                  <a:pt x="0" y="5228794"/>
                </a:lnTo>
                <a:lnTo>
                  <a:pt x="0" y="0"/>
                </a:lnTo>
                <a:close/>
              </a:path>
            </a:pathLst>
          </a:custGeom>
          <a:blipFill>
            <a:blip r:embed="rId2"/>
            <a:stretch>
              <a:fillRect l="0" t="0" r="0" b="0"/>
            </a:stretch>
          </a:blipFill>
        </p:spPr>
      </p:sp>
      <p:grpSp>
        <p:nvGrpSpPr>
          <p:cNvPr name="Group 4" id="4"/>
          <p:cNvGrpSpPr/>
          <p:nvPr/>
        </p:nvGrpSpPr>
        <p:grpSpPr>
          <a:xfrm rot="0">
            <a:off x="1312286" y="2233694"/>
            <a:ext cx="4920028" cy="7484343"/>
            <a:chOff x="0" y="0"/>
            <a:chExt cx="1295810" cy="1971185"/>
          </a:xfrm>
        </p:grpSpPr>
        <p:sp>
          <p:nvSpPr>
            <p:cNvPr name="Freeform 5" id="5"/>
            <p:cNvSpPr/>
            <p:nvPr/>
          </p:nvSpPr>
          <p:spPr>
            <a:xfrm flipH="false" flipV="false" rot="0">
              <a:off x="0" y="0"/>
              <a:ext cx="1295810" cy="1971185"/>
            </a:xfrm>
            <a:custGeom>
              <a:avLst/>
              <a:gdLst/>
              <a:ahLst/>
              <a:cxnLst/>
              <a:rect r="r" b="b" t="t" l="l"/>
              <a:pathLst>
                <a:path h="1971185" w="1295810">
                  <a:moveTo>
                    <a:pt x="0" y="0"/>
                  </a:moveTo>
                  <a:lnTo>
                    <a:pt x="1295810" y="0"/>
                  </a:lnTo>
                  <a:lnTo>
                    <a:pt x="1295810" y="1971185"/>
                  </a:lnTo>
                  <a:lnTo>
                    <a:pt x="0" y="1971185"/>
                  </a:lnTo>
                  <a:close/>
                </a:path>
              </a:pathLst>
            </a:custGeom>
            <a:solidFill>
              <a:srgbClr val="FFFFFF"/>
            </a:solidFill>
          </p:spPr>
        </p:sp>
        <p:sp>
          <p:nvSpPr>
            <p:cNvPr name="TextBox 6" id="6"/>
            <p:cNvSpPr txBox="true"/>
            <p:nvPr/>
          </p:nvSpPr>
          <p:spPr>
            <a:xfrm>
              <a:off x="0" y="-47625"/>
              <a:ext cx="1295810" cy="2018810"/>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312286" y="2789471"/>
            <a:ext cx="4920028" cy="875260"/>
          </a:xfrm>
          <a:prstGeom prst="rect">
            <a:avLst/>
          </a:prstGeom>
        </p:spPr>
        <p:txBody>
          <a:bodyPr anchor="t" rtlCol="false" tIns="0" lIns="0" bIns="0" rIns="0">
            <a:spAutoFit/>
          </a:bodyPr>
          <a:lstStyle/>
          <a:p>
            <a:pPr algn="ctr" marL="0" indent="0" lvl="0">
              <a:lnSpc>
                <a:spcPts val="7487"/>
              </a:lnSpc>
              <a:spcBef>
                <a:spcPct val="0"/>
              </a:spcBef>
            </a:pPr>
            <a:r>
              <a:rPr lang="en-US" b="true" sz="3919" spc="391" strike="noStrike" u="none">
                <a:solidFill>
                  <a:srgbClr val="194A8D"/>
                </a:solidFill>
                <a:latin typeface="Arimo Bold"/>
                <a:ea typeface="Arimo Bold"/>
                <a:cs typeface="Arimo Bold"/>
                <a:sym typeface="Arimo Bold"/>
              </a:rPr>
              <a:t>VPC</a:t>
            </a:r>
          </a:p>
        </p:txBody>
      </p:sp>
      <p:grpSp>
        <p:nvGrpSpPr>
          <p:cNvPr name="Group 8" id="8"/>
          <p:cNvGrpSpPr/>
          <p:nvPr/>
        </p:nvGrpSpPr>
        <p:grpSpPr>
          <a:xfrm rot="0">
            <a:off x="6617927" y="2233694"/>
            <a:ext cx="4920028" cy="7480143"/>
            <a:chOff x="0" y="0"/>
            <a:chExt cx="1295810" cy="1970079"/>
          </a:xfrm>
        </p:grpSpPr>
        <p:sp>
          <p:nvSpPr>
            <p:cNvPr name="Freeform 9" id="9"/>
            <p:cNvSpPr/>
            <p:nvPr/>
          </p:nvSpPr>
          <p:spPr>
            <a:xfrm flipH="false" flipV="false" rot="0">
              <a:off x="0" y="0"/>
              <a:ext cx="1295810" cy="1970079"/>
            </a:xfrm>
            <a:custGeom>
              <a:avLst/>
              <a:gdLst/>
              <a:ahLst/>
              <a:cxnLst/>
              <a:rect r="r" b="b" t="t" l="l"/>
              <a:pathLst>
                <a:path h="1970079" w="1295810">
                  <a:moveTo>
                    <a:pt x="0" y="0"/>
                  </a:moveTo>
                  <a:lnTo>
                    <a:pt x="1295810" y="0"/>
                  </a:lnTo>
                  <a:lnTo>
                    <a:pt x="1295810" y="1970079"/>
                  </a:lnTo>
                  <a:lnTo>
                    <a:pt x="0" y="1970079"/>
                  </a:lnTo>
                  <a:close/>
                </a:path>
              </a:pathLst>
            </a:custGeom>
            <a:solidFill>
              <a:srgbClr val="FFFFFF"/>
            </a:solidFill>
          </p:spPr>
        </p:sp>
        <p:sp>
          <p:nvSpPr>
            <p:cNvPr name="TextBox 10" id="10"/>
            <p:cNvSpPr txBox="true"/>
            <p:nvPr/>
          </p:nvSpPr>
          <p:spPr>
            <a:xfrm>
              <a:off x="0" y="-47625"/>
              <a:ext cx="1295810" cy="2017704"/>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7085544" y="2789471"/>
            <a:ext cx="4254914" cy="875260"/>
          </a:xfrm>
          <a:prstGeom prst="rect">
            <a:avLst/>
          </a:prstGeom>
        </p:spPr>
        <p:txBody>
          <a:bodyPr anchor="t" rtlCol="false" tIns="0" lIns="0" bIns="0" rIns="0">
            <a:spAutoFit/>
          </a:bodyPr>
          <a:lstStyle/>
          <a:p>
            <a:pPr algn="ctr" marL="0" indent="0" lvl="0">
              <a:lnSpc>
                <a:spcPts val="7487"/>
              </a:lnSpc>
              <a:spcBef>
                <a:spcPct val="0"/>
              </a:spcBef>
            </a:pPr>
            <a:r>
              <a:rPr lang="en-US" b="true" sz="3919" spc="391" strike="noStrike" u="none">
                <a:solidFill>
                  <a:srgbClr val="194A8D"/>
                </a:solidFill>
                <a:latin typeface="Arimo Bold"/>
                <a:ea typeface="Arimo Bold"/>
                <a:cs typeface="Arimo Bold"/>
                <a:sym typeface="Arimo Bold"/>
              </a:rPr>
              <a:t>IAM</a:t>
            </a:r>
          </a:p>
        </p:txBody>
      </p:sp>
      <p:grpSp>
        <p:nvGrpSpPr>
          <p:cNvPr name="Group 12" id="12"/>
          <p:cNvGrpSpPr/>
          <p:nvPr/>
        </p:nvGrpSpPr>
        <p:grpSpPr>
          <a:xfrm rot="0">
            <a:off x="11923569" y="2233694"/>
            <a:ext cx="5335731" cy="7475943"/>
            <a:chOff x="0" y="0"/>
            <a:chExt cx="1405295" cy="1968973"/>
          </a:xfrm>
        </p:grpSpPr>
        <p:sp>
          <p:nvSpPr>
            <p:cNvPr name="Freeform 13" id="13"/>
            <p:cNvSpPr/>
            <p:nvPr/>
          </p:nvSpPr>
          <p:spPr>
            <a:xfrm flipH="false" flipV="false" rot="0">
              <a:off x="0" y="0"/>
              <a:ext cx="1405296" cy="1968973"/>
            </a:xfrm>
            <a:custGeom>
              <a:avLst/>
              <a:gdLst/>
              <a:ahLst/>
              <a:cxnLst/>
              <a:rect r="r" b="b" t="t" l="l"/>
              <a:pathLst>
                <a:path h="1968973" w="1405296">
                  <a:moveTo>
                    <a:pt x="0" y="0"/>
                  </a:moveTo>
                  <a:lnTo>
                    <a:pt x="1405296" y="0"/>
                  </a:lnTo>
                  <a:lnTo>
                    <a:pt x="1405296" y="1968973"/>
                  </a:lnTo>
                  <a:lnTo>
                    <a:pt x="0" y="1968973"/>
                  </a:lnTo>
                  <a:close/>
                </a:path>
              </a:pathLst>
            </a:custGeom>
            <a:solidFill>
              <a:srgbClr val="FFFFFF"/>
            </a:solidFill>
          </p:spPr>
        </p:sp>
        <p:sp>
          <p:nvSpPr>
            <p:cNvPr name="TextBox 14" id="14"/>
            <p:cNvSpPr txBox="true"/>
            <p:nvPr/>
          </p:nvSpPr>
          <p:spPr>
            <a:xfrm>
              <a:off x="0" y="-47625"/>
              <a:ext cx="1405295" cy="2016598"/>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2131420" y="2789471"/>
            <a:ext cx="4920028" cy="875260"/>
          </a:xfrm>
          <a:prstGeom prst="rect">
            <a:avLst/>
          </a:prstGeom>
        </p:spPr>
        <p:txBody>
          <a:bodyPr anchor="t" rtlCol="false" tIns="0" lIns="0" bIns="0" rIns="0">
            <a:spAutoFit/>
          </a:bodyPr>
          <a:lstStyle/>
          <a:p>
            <a:pPr algn="ctr" marL="0" indent="0" lvl="0">
              <a:lnSpc>
                <a:spcPts val="7487"/>
              </a:lnSpc>
              <a:spcBef>
                <a:spcPct val="0"/>
              </a:spcBef>
            </a:pPr>
            <a:r>
              <a:rPr lang="en-US" b="true" sz="3919" spc="391">
                <a:solidFill>
                  <a:srgbClr val="194A8D"/>
                </a:solidFill>
                <a:latin typeface="Arimo Bold"/>
                <a:ea typeface="Arimo Bold"/>
                <a:cs typeface="Arimo Bold"/>
                <a:sym typeface="Arimo Bold"/>
              </a:rPr>
              <a:t>S</a:t>
            </a:r>
            <a:r>
              <a:rPr lang="en-US" b="true" sz="3919" spc="391" strike="noStrike" u="none">
                <a:solidFill>
                  <a:srgbClr val="194A8D"/>
                </a:solidFill>
                <a:latin typeface="Arimo Bold"/>
                <a:ea typeface="Arimo Bold"/>
                <a:cs typeface="Arimo Bold"/>
                <a:sym typeface="Arimo Bold"/>
              </a:rPr>
              <a:t>e</a:t>
            </a:r>
            <a:r>
              <a:rPr lang="en-US" b="true" sz="3919" spc="391" strike="noStrike" u="none">
                <a:solidFill>
                  <a:srgbClr val="194A8D"/>
                </a:solidFill>
                <a:latin typeface="Arimo Bold"/>
                <a:ea typeface="Arimo Bold"/>
                <a:cs typeface="Arimo Bold"/>
                <a:sym typeface="Arimo Bold"/>
              </a:rPr>
              <a:t>c</a:t>
            </a:r>
            <a:r>
              <a:rPr lang="en-US" b="true" sz="3919" spc="391" strike="noStrike" u="none">
                <a:solidFill>
                  <a:srgbClr val="194A8D"/>
                </a:solidFill>
                <a:latin typeface="Arimo Bold"/>
                <a:ea typeface="Arimo Bold"/>
                <a:cs typeface="Arimo Bold"/>
                <a:sym typeface="Arimo Bold"/>
              </a:rPr>
              <a:t>rets</a:t>
            </a:r>
            <a:r>
              <a:rPr lang="en-US" b="true" sz="3919" spc="391" strike="noStrike" u="none">
                <a:solidFill>
                  <a:srgbClr val="194A8D"/>
                </a:solidFill>
                <a:latin typeface="Arimo Bold"/>
                <a:ea typeface="Arimo Bold"/>
                <a:cs typeface="Arimo Bold"/>
                <a:sym typeface="Arimo Bold"/>
              </a:rPr>
              <a:t> Manager </a:t>
            </a:r>
          </a:p>
        </p:txBody>
      </p:sp>
      <p:sp>
        <p:nvSpPr>
          <p:cNvPr name="TextBox 16" id="16"/>
          <p:cNvSpPr txBox="true"/>
          <p:nvPr/>
        </p:nvSpPr>
        <p:spPr>
          <a:xfrm rot="0">
            <a:off x="1553191" y="3899269"/>
            <a:ext cx="4083661" cy="4475480"/>
          </a:xfrm>
          <a:prstGeom prst="rect">
            <a:avLst/>
          </a:prstGeom>
        </p:spPr>
        <p:txBody>
          <a:bodyPr anchor="t" rtlCol="false" tIns="0" lIns="0" bIns="0" rIns="0">
            <a:spAutoFit/>
          </a:bodyPr>
          <a:lstStyle/>
          <a:p>
            <a:pPr algn="l" marL="561336" indent="-280668" lvl="1">
              <a:lnSpc>
                <a:spcPts val="3639"/>
              </a:lnSpc>
              <a:spcBef>
                <a:spcPct val="0"/>
              </a:spcBef>
              <a:buFont typeface="Arial"/>
              <a:buChar char="•"/>
            </a:pPr>
            <a:r>
              <a:rPr lang="en-US" sz="2599">
                <a:solidFill>
                  <a:srgbClr val="194A8D"/>
                </a:solidFill>
                <a:latin typeface="Arimo"/>
                <a:ea typeface="Arimo"/>
                <a:cs typeface="Arimo"/>
                <a:sym typeface="Arimo"/>
              </a:rPr>
              <a:t>T</a:t>
            </a:r>
            <a:r>
              <a:rPr lang="en-US" sz="2599">
                <a:solidFill>
                  <a:srgbClr val="194A8D"/>
                </a:solidFill>
                <a:latin typeface="Arimo"/>
                <a:ea typeface="Arimo"/>
                <a:cs typeface="Arimo"/>
                <a:sym typeface="Arimo"/>
              </a:rPr>
              <a:t>oàn bộ hệ thống triển khai trong Amazon VPC, với phân tách rõ Public Subnet (ALB) và Private Subnet (ECS, RDS).</a:t>
            </a:r>
          </a:p>
          <a:p>
            <a:pPr algn="l" marL="561336" indent="-280668" lvl="1">
              <a:lnSpc>
                <a:spcPts val="3639"/>
              </a:lnSpc>
              <a:spcBef>
                <a:spcPct val="0"/>
              </a:spcBef>
              <a:buFont typeface="Arial"/>
              <a:buChar char="•"/>
            </a:pPr>
            <a:r>
              <a:rPr lang="en-US" sz="2599">
                <a:solidFill>
                  <a:srgbClr val="194A8D"/>
                </a:solidFill>
                <a:latin typeface="Arimo"/>
                <a:ea typeface="Arimo"/>
                <a:cs typeface="Arimo"/>
                <a:sym typeface="Arimo"/>
              </a:rPr>
              <a:t>RDS, RDS Proxy, và ECS chỉ được truy cập nội bộ, không public IP.</a:t>
            </a:r>
          </a:p>
          <a:p>
            <a:pPr algn="l">
              <a:lnSpc>
                <a:spcPts val="2799"/>
              </a:lnSpc>
              <a:spcBef>
                <a:spcPct val="0"/>
              </a:spcBef>
            </a:pPr>
          </a:p>
        </p:txBody>
      </p:sp>
      <p:sp>
        <p:nvSpPr>
          <p:cNvPr name="TextBox 17" id="17"/>
          <p:cNvSpPr txBox="true"/>
          <p:nvPr/>
        </p:nvSpPr>
        <p:spPr>
          <a:xfrm rot="0">
            <a:off x="7036111" y="3899269"/>
            <a:ext cx="4083661" cy="4914900"/>
          </a:xfrm>
          <a:prstGeom prst="rect">
            <a:avLst/>
          </a:prstGeom>
        </p:spPr>
        <p:txBody>
          <a:bodyPr anchor="t" rtlCol="false" tIns="0" lIns="0" bIns="0" rIns="0">
            <a:spAutoFit/>
          </a:bodyPr>
          <a:lstStyle/>
          <a:p>
            <a:pPr algn="l" marL="561336" indent="-280668" lvl="1">
              <a:lnSpc>
                <a:spcPts val="3639"/>
              </a:lnSpc>
              <a:spcBef>
                <a:spcPct val="0"/>
              </a:spcBef>
              <a:buFont typeface="Arial"/>
              <a:buChar char="•"/>
            </a:pPr>
            <a:r>
              <a:rPr lang="en-US" sz="2599">
                <a:solidFill>
                  <a:srgbClr val="194A8D"/>
                </a:solidFill>
                <a:latin typeface="Arimo"/>
                <a:ea typeface="Arimo"/>
                <a:cs typeface="Arimo"/>
                <a:sym typeface="Arimo"/>
              </a:rPr>
              <a:t>Sử</a:t>
            </a:r>
            <a:r>
              <a:rPr lang="en-US" sz="2599">
                <a:solidFill>
                  <a:srgbClr val="194A8D"/>
                </a:solidFill>
                <a:latin typeface="Arimo"/>
                <a:ea typeface="Arimo"/>
                <a:cs typeface="Arimo"/>
                <a:sym typeface="Arimo"/>
              </a:rPr>
              <a:t> dụng IAM Role cho từng ECS Task để kiểm soát quyền truy cập chính xác đến RDS Proxy, S3, Secrets Manager.</a:t>
            </a:r>
          </a:p>
          <a:p>
            <a:pPr algn="l" marL="561336" indent="-280668" lvl="1">
              <a:lnSpc>
                <a:spcPts val="3639"/>
              </a:lnSpc>
              <a:spcBef>
                <a:spcPct val="0"/>
              </a:spcBef>
              <a:buFont typeface="Arial"/>
              <a:buChar char="•"/>
            </a:pPr>
            <a:r>
              <a:rPr lang="en-US" sz="2599">
                <a:solidFill>
                  <a:srgbClr val="194A8D"/>
                </a:solidFill>
                <a:latin typeface="Arimo"/>
                <a:ea typeface="Arimo"/>
                <a:cs typeface="Arimo"/>
                <a:sym typeface="Arimo"/>
              </a:rPr>
              <a:t>Nguyên tắc Least Privilege được áp dụng cho tất cả các role, policy.</a:t>
            </a:r>
          </a:p>
          <a:p>
            <a:pPr algn="ctr">
              <a:lnSpc>
                <a:spcPts val="2659"/>
              </a:lnSpc>
              <a:spcBef>
                <a:spcPct val="0"/>
              </a:spcBef>
            </a:pPr>
          </a:p>
        </p:txBody>
      </p:sp>
      <p:sp>
        <p:nvSpPr>
          <p:cNvPr name="TextBox 18" id="18"/>
          <p:cNvSpPr txBox="true"/>
          <p:nvPr/>
        </p:nvSpPr>
        <p:spPr>
          <a:xfrm rot="0">
            <a:off x="12338055" y="3950481"/>
            <a:ext cx="4083661" cy="4000500"/>
          </a:xfrm>
          <a:prstGeom prst="rect">
            <a:avLst/>
          </a:prstGeom>
        </p:spPr>
        <p:txBody>
          <a:bodyPr anchor="t" rtlCol="false" tIns="0" lIns="0" bIns="0" rIns="0">
            <a:spAutoFit/>
          </a:bodyPr>
          <a:lstStyle/>
          <a:p>
            <a:pPr algn="l" marL="561336" indent="-280668" lvl="1">
              <a:lnSpc>
                <a:spcPts val="3639"/>
              </a:lnSpc>
              <a:spcBef>
                <a:spcPct val="0"/>
              </a:spcBef>
              <a:buFont typeface="Arial"/>
              <a:buChar char="•"/>
            </a:pPr>
            <a:r>
              <a:rPr lang="en-US" sz="2599">
                <a:solidFill>
                  <a:srgbClr val="194A8D"/>
                </a:solidFill>
                <a:latin typeface="Arimo"/>
                <a:ea typeface="Arimo"/>
                <a:cs typeface="Arimo"/>
                <a:sym typeface="Arimo"/>
              </a:rPr>
              <a:t>Không</a:t>
            </a:r>
            <a:r>
              <a:rPr lang="en-US" sz="2599">
                <a:solidFill>
                  <a:srgbClr val="194A8D"/>
                </a:solidFill>
                <a:latin typeface="Arimo"/>
                <a:ea typeface="Arimo"/>
                <a:cs typeface="Arimo"/>
                <a:sym typeface="Arimo"/>
              </a:rPr>
              <a:t> lưu mật khẩu Database trong mã nguồn hoặc biến môi trường mà lưu thông tin xác thực mà lưu trong Secrets Manager</a:t>
            </a:r>
          </a:p>
          <a:p>
            <a:pPr algn="l" marL="561336" indent="-280668" lvl="1">
              <a:lnSpc>
                <a:spcPts val="3639"/>
              </a:lnSpc>
              <a:spcBef>
                <a:spcPct val="0"/>
              </a:spcBef>
              <a:buFont typeface="Arial"/>
              <a:buChar char="•"/>
            </a:pPr>
            <a:r>
              <a:rPr lang="en-US" sz="2599">
                <a:solidFill>
                  <a:srgbClr val="194A8D"/>
                </a:solidFill>
                <a:latin typeface="Arimo"/>
                <a:ea typeface="Arimo"/>
                <a:cs typeface="Arimo"/>
                <a:sym typeface="Arimo"/>
              </a:rPr>
              <a:t>ECS chỉ có quyền đọc secret qua IAM Role.</a:t>
            </a:r>
          </a:p>
          <a:p>
            <a:pPr algn="ctr">
              <a:lnSpc>
                <a:spcPts val="2659"/>
              </a:lnSpc>
              <a:spcBef>
                <a:spcPct val="0"/>
              </a:spcBef>
            </a:pPr>
          </a:p>
        </p:txBody>
      </p:sp>
      <p:sp>
        <p:nvSpPr>
          <p:cNvPr name="TextBox 19" id="19"/>
          <p:cNvSpPr txBox="true"/>
          <p:nvPr/>
        </p:nvSpPr>
        <p:spPr>
          <a:xfrm rot="0">
            <a:off x="6298372" y="809554"/>
            <a:ext cx="6438388" cy="1021184"/>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Kiến trúc bảo mật </a:t>
            </a:r>
          </a:p>
        </p:txBody>
      </p:sp>
    </p:spTree>
  </p:cSld>
  <p:clrMapOvr>
    <a:masterClrMapping/>
  </p:clrMapOvr>
</p:sld>
</file>

<file path=ppt/slides/slide13.xml><?xml version="1.0" encoding="utf-8"?>
<p:sld xmlns:p="http://schemas.openxmlformats.org/presentationml/2006/main" xmlns:a="http://schemas.openxmlformats.org/drawingml/2006/main">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633877" y="-554823"/>
            <a:ext cx="19639468" cy="5698323"/>
            <a:chOff x="0" y="0"/>
            <a:chExt cx="5172535" cy="1500793"/>
          </a:xfrm>
        </p:grpSpPr>
        <p:sp>
          <p:nvSpPr>
            <p:cNvPr name="Freeform 3" id="3"/>
            <p:cNvSpPr/>
            <p:nvPr/>
          </p:nvSpPr>
          <p:spPr>
            <a:xfrm flipH="false" flipV="false" rot="0">
              <a:off x="0" y="0"/>
              <a:ext cx="5172535" cy="1500793"/>
            </a:xfrm>
            <a:custGeom>
              <a:avLst/>
              <a:gdLst/>
              <a:ahLst/>
              <a:cxnLst/>
              <a:rect r="r" b="b" t="t" l="l"/>
              <a:pathLst>
                <a:path h="1500793" w="5172535">
                  <a:moveTo>
                    <a:pt x="0" y="0"/>
                  </a:moveTo>
                  <a:lnTo>
                    <a:pt x="5172535" y="0"/>
                  </a:lnTo>
                  <a:lnTo>
                    <a:pt x="5172535" y="1500793"/>
                  </a:lnTo>
                  <a:lnTo>
                    <a:pt x="0" y="1500793"/>
                  </a:lnTo>
                  <a:close/>
                </a:path>
              </a:pathLst>
            </a:custGeom>
            <a:solidFill>
              <a:srgbClr val="FFFFFF"/>
            </a:solidFill>
          </p:spPr>
        </p:sp>
        <p:sp>
          <p:nvSpPr>
            <p:cNvPr name="TextBox 4" id="4"/>
            <p:cNvSpPr txBox="true"/>
            <p:nvPr/>
          </p:nvSpPr>
          <p:spPr>
            <a:xfrm>
              <a:off x="0" y="-47625"/>
              <a:ext cx="5172535" cy="1548418"/>
            </a:xfrm>
            <a:prstGeom prst="rect">
              <a:avLst/>
            </a:prstGeom>
          </p:spPr>
          <p:txBody>
            <a:bodyPr anchor="ctr" rtlCol="false" tIns="50800" lIns="50800" bIns="50800" rIns="50800"/>
            <a:lstStyle/>
            <a:p>
              <a:pPr algn="ctr">
                <a:lnSpc>
                  <a:spcPts val="2659"/>
                </a:lnSpc>
              </a:pPr>
              <a:r>
                <a:rPr lang="en-US" sz="1899">
                  <a:solidFill>
                    <a:srgbClr val="FFFFFF"/>
                  </a:solidFill>
                  <a:latin typeface="Arimo"/>
                  <a:ea typeface="Arimo"/>
                  <a:cs typeface="Arimo"/>
                  <a:sym typeface="Arimo"/>
                </a:rPr>
                <a:t> </a:t>
              </a:r>
            </a:p>
          </p:txBody>
        </p:sp>
      </p:grpSp>
      <p:grpSp>
        <p:nvGrpSpPr>
          <p:cNvPr name="Group 5" id="5"/>
          <p:cNvGrpSpPr/>
          <p:nvPr/>
        </p:nvGrpSpPr>
        <p:grpSpPr>
          <a:xfrm rot="0">
            <a:off x="1187324" y="1028700"/>
            <a:ext cx="7956676" cy="8229600"/>
            <a:chOff x="0" y="0"/>
            <a:chExt cx="2095586" cy="2167467"/>
          </a:xfrm>
        </p:grpSpPr>
        <p:sp>
          <p:nvSpPr>
            <p:cNvPr name="Freeform 6" id="6"/>
            <p:cNvSpPr/>
            <p:nvPr/>
          </p:nvSpPr>
          <p:spPr>
            <a:xfrm flipH="false" flipV="false" rot="0">
              <a:off x="0" y="0"/>
              <a:ext cx="2095585" cy="2167467"/>
            </a:xfrm>
            <a:custGeom>
              <a:avLst/>
              <a:gdLst/>
              <a:ahLst/>
              <a:cxnLst/>
              <a:rect r="r" b="b" t="t" l="l"/>
              <a:pathLst>
                <a:path h="2167467" w="2095585">
                  <a:moveTo>
                    <a:pt x="0" y="0"/>
                  </a:moveTo>
                  <a:lnTo>
                    <a:pt x="2095585" y="0"/>
                  </a:lnTo>
                  <a:lnTo>
                    <a:pt x="2095585" y="2167467"/>
                  </a:lnTo>
                  <a:lnTo>
                    <a:pt x="0" y="2167467"/>
                  </a:lnTo>
                  <a:close/>
                </a:path>
              </a:pathLst>
            </a:custGeom>
            <a:solidFill>
              <a:srgbClr val="6299E4"/>
            </a:solidFill>
          </p:spPr>
        </p:sp>
        <p:sp>
          <p:nvSpPr>
            <p:cNvPr name="TextBox 7" id="7"/>
            <p:cNvSpPr txBox="true"/>
            <p:nvPr/>
          </p:nvSpPr>
          <p:spPr>
            <a:xfrm>
              <a:off x="0" y="-47625"/>
              <a:ext cx="2095586" cy="2215092"/>
            </a:xfrm>
            <a:prstGeom prst="rect">
              <a:avLst/>
            </a:prstGeom>
          </p:spPr>
          <p:txBody>
            <a:bodyPr anchor="ctr" rtlCol="false" tIns="50800" lIns="50800" bIns="50800" rIns="50800"/>
            <a:lstStyle/>
            <a:p>
              <a:pPr algn="ctr">
                <a:lnSpc>
                  <a:spcPts val="2659"/>
                </a:lnSpc>
              </a:pPr>
              <a:r>
                <a:rPr lang="en-US" sz="1899">
                  <a:solidFill>
                    <a:srgbClr val="FFFFFF"/>
                  </a:solidFill>
                  <a:latin typeface="Arimo"/>
                  <a:ea typeface="Arimo"/>
                  <a:cs typeface="Arimo"/>
                  <a:sym typeface="Arimo"/>
                </a:rPr>
                <a:t> </a:t>
              </a:r>
            </a:p>
          </p:txBody>
        </p:sp>
      </p:grpSp>
      <p:sp>
        <p:nvSpPr>
          <p:cNvPr name="TextBox 8" id="8"/>
          <p:cNvSpPr txBox="true"/>
          <p:nvPr/>
        </p:nvSpPr>
        <p:spPr>
          <a:xfrm rot="0">
            <a:off x="9928189" y="2399113"/>
            <a:ext cx="6988865" cy="1135783"/>
          </a:xfrm>
          <a:prstGeom prst="rect">
            <a:avLst/>
          </a:prstGeom>
        </p:spPr>
        <p:txBody>
          <a:bodyPr anchor="t" rtlCol="false" tIns="0" lIns="0" bIns="0" rIns="0">
            <a:spAutoFit/>
          </a:bodyPr>
          <a:lstStyle/>
          <a:p>
            <a:pPr algn="ctr">
              <a:lnSpc>
                <a:spcPts val="8655"/>
              </a:lnSpc>
            </a:pPr>
            <a:r>
              <a:rPr lang="en-US" sz="8165" spc="816">
                <a:solidFill>
                  <a:srgbClr val="FFFFFF"/>
                </a:solidFill>
                <a:latin typeface="League Spartan"/>
                <a:ea typeface="League Spartan"/>
                <a:cs typeface="League Spartan"/>
                <a:sym typeface="League Spartan"/>
              </a:rPr>
              <a:t>VISION</a:t>
            </a:r>
          </a:p>
        </p:txBody>
      </p:sp>
      <p:grpSp>
        <p:nvGrpSpPr>
          <p:cNvPr name="Group 9" id="9"/>
          <p:cNvGrpSpPr/>
          <p:nvPr/>
        </p:nvGrpSpPr>
        <p:grpSpPr>
          <a:xfrm rot="0">
            <a:off x="9444283" y="1028700"/>
            <a:ext cx="7956676" cy="8229600"/>
            <a:chOff x="0" y="0"/>
            <a:chExt cx="2095586" cy="2167467"/>
          </a:xfrm>
        </p:grpSpPr>
        <p:sp>
          <p:nvSpPr>
            <p:cNvPr name="Freeform 10" id="10"/>
            <p:cNvSpPr/>
            <p:nvPr/>
          </p:nvSpPr>
          <p:spPr>
            <a:xfrm flipH="false" flipV="false" rot="0">
              <a:off x="0" y="0"/>
              <a:ext cx="2095585" cy="2167467"/>
            </a:xfrm>
            <a:custGeom>
              <a:avLst/>
              <a:gdLst/>
              <a:ahLst/>
              <a:cxnLst/>
              <a:rect r="r" b="b" t="t" l="l"/>
              <a:pathLst>
                <a:path h="2167467" w="2095585">
                  <a:moveTo>
                    <a:pt x="0" y="0"/>
                  </a:moveTo>
                  <a:lnTo>
                    <a:pt x="2095585" y="0"/>
                  </a:lnTo>
                  <a:lnTo>
                    <a:pt x="2095585" y="2167467"/>
                  </a:lnTo>
                  <a:lnTo>
                    <a:pt x="0" y="2167467"/>
                  </a:lnTo>
                  <a:close/>
                </a:path>
              </a:pathLst>
            </a:custGeom>
            <a:solidFill>
              <a:srgbClr val="6299E4"/>
            </a:solidFill>
          </p:spPr>
        </p:sp>
        <p:sp>
          <p:nvSpPr>
            <p:cNvPr name="TextBox 11" id="11"/>
            <p:cNvSpPr txBox="true"/>
            <p:nvPr/>
          </p:nvSpPr>
          <p:spPr>
            <a:xfrm>
              <a:off x="0" y="-47625"/>
              <a:ext cx="2095586" cy="2215092"/>
            </a:xfrm>
            <a:prstGeom prst="rect">
              <a:avLst/>
            </a:prstGeom>
          </p:spPr>
          <p:txBody>
            <a:bodyPr anchor="ctr" rtlCol="false" tIns="50800" lIns="50800" bIns="50800" rIns="50800"/>
            <a:lstStyle/>
            <a:p>
              <a:pPr algn="ctr">
                <a:lnSpc>
                  <a:spcPts val="2659"/>
                </a:lnSpc>
              </a:pPr>
              <a:r>
                <a:rPr lang="en-US" sz="1899" spc="189">
                  <a:solidFill>
                    <a:srgbClr val="FFFFFF"/>
                  </a:solidFill>
                  <a:latin typeface="Arimo"/>
                  <a:ea typeface="Arimo"/>
                  <a:cs typeface="Arimo"/>
                  <a:sym typeface="Arimo"/>
                </a:rPr>
                <a:t> 03</a:t>
              </a:r>
            </a:p>
            <a:p>
              <a:pPr algn="ctr">
                <a:lnSpc>
                  <a:spcPts val="2659"/>
                </a:lnSpc>
              </a:pPr>
            </a:p>
          </p:txBody>
        </p:sp>
      </p:grpSp>
      <p:sp>
        <p:nvSpPr>
          <p:cNvPr name="TextBox 12" id="12"/>
          <p:cNvSpPr txBox="true"/>
          <p:nvPr/>
        </p:nvSpPr>
        <p:spPr>
          <a:xfrm rot="0">
            <a:off x="1879402" y="1651998"/>
            <a:ext cx="6988865" cy="642341"/>
          </a:xfrm>
          <a:prstGeom prst="rect">
            <a:avLst/>
          </a:prstGeom>
        </p:spPr>
        <p:txBody>
          <a:bodyPr anchor="t" rtlCol="false" tIns="0" lIns="0" bIns="0" rIns="0">
            <a:spAutoFit/>
          </a:bodyPr>
          <a:lstStyle/>
          <a:p>
            <a:pPr algn="ctr">
              <a:lnSpc>
                <a:spcPts val="4791"/>
              </a:lnSpc>
            </a:pPr>
            <a:r>
              <a:rPr lang="en-US" b="true" sz="4520" spc="452">
                <a:solidFill>
                  <a:srgbClr val="FFFFFF"/>
                </a:solidFill>
                <a:latin typeface="Arimo Bold"/>
                <a:ea typeface="Arimo Bold"/>
                <a:cs typeface="Arimo Bold"/>
                <a:sym typeface="Arimo Bold"/>
              </a:rPr>
              <a:t>Khả năng mở rộng</a:t>
            </a:r>
          </a:p>
        </p:txBody>
      </p:sp>
      <p:sp>
        <p:nvSpPr>
          <p:cNvPr name="TextBox 13" id="13"/>
          <p:cNvSpPr txBox="true"/>
          <p:nvPr/>
        </p:nvSpPr>
        <p:spPr>
          <a:xfrm rot="0">
            <a:off x="1671230" y="2750907"/>
            <a:ext cx="1630978" cy="1135783"/>
          </a:xfrm>
          <a:prstGeom prst="rect">
            <a:avLst/>
          </a:prstGeom>
        </p:spPr>
        <p:txBody>
          <a:bodyPr anchor="t" rtlCol="false" tIns="0" lIns="0" bIns="0" rIns="0">
            <a:spAutoFit/>
          </a:bodyPr>
          <a:lstStyle/>
          <a:p>
            <a:pPr algn="l">
              <a:lnSpc>
                <a:spcPts val="8655"/>
              </a:lnSpc>
            </a:pPr>
            <a:r>
              <a:rPr lang="en-US" sz="8165" spc="816">
                <a:solidFill>
                  <a:srgbClr val="FFFFFF">
                    <a:alpha val="43922"/>
                  </a:srgbClr>
                </a:solidFill>
                <a:latin typeface="League Spartan"/>
                <a:ea typeface="League Spartan"/>
                <a:cs typeface="League Spartan"/>
                <a:sym typeface="League Spartan"/>
              </a:rPr>
              <a:t>01</a:t>
            </a:r>
          </a:p>
        </p:txBody>
      </p:sp>
      <p:sp>
        <p:nvSpPr>
          <p:cNvPr name="TextBox 14" id="14"/>
          <p:cNvSpPr txBox="true"/>
          <p:nvPr/>
        </p:nvSpPr>
        <p:spPr>
          <a:xfrm rot="0">
            <a:off x="10032275" y="1651998"/>
            <a:ext cx="6988865" cy="642341"/>
          </a:xfrm>
          <a:prstGeom prst="rect">
            <a:avLst/>
          </a:prstGeom>
        </p:spPr>
        <p:txBody>
          <a:bodyPr anchor="t" rtlCol="false" tIns="0" lIns="0" bIns="0" rIns="0">
            <a:spAutoFit/>
          </a:bodyPr>
          <a:lstStyle/>
          <a:p>
            <a:pPr algn="ctr" marL="0" indent="0" lvl="0">
              <a:lnSpc>
                <a:spcPts val="4791"/>
              </a:lnSpc>
              <a:spcBef>
                <a:spcPct val="0"/>
              </a:spcBef>
            </a:pPr>
            <a:r>
              <a:rPr lang="en-US" b="true" sz="4520" spc="452" strike="noStrike" u="none">
                <a:solidFill>
                  <a:srgbClr val="FFFFFF"/>
                </a:solidFill>
                <a:latin typeface="Arimo Bold"/>
                <a:ea typeface="Arimo Bold"/>
                <a:cs typeface="Arimo Bold"/>
                <a:sym typeface="Arimo Bold"/>
              </a:rPr>
              <a:t>Hiệu suất</a:t>
            </a:r>
          </a:p>
        </p:txBody>
      </p:sp>
      <p:sp>
        <p:nvSpPr>
          <p:cNvPr name="TextBox 15" id="15"/>
          <p:cNvSpPr txBox="true"/>
          <p:nvPr/>
        </p:nvSpPr>
        <p:spPr>
          <a:xfrm rot="0">
            <a:off x="3498063" y="2568817"/>
            <a:ext cx="5370203" cy="1938153"/>
          </a:xfrm>
          <a:prstGeom prst="rect">
            <a:avLst/>
          </a:prstGeom>
        </p:spPr>
        <p:txBody>
          <a:bodyPr anchor="t" rtlCol="false" tIns="0" lIns="0" bIns="0" rIns="0">
            <a:spAutoFit/>
          </a:bodyPr>
          <a:lstStyle/>
          <a:p>
            <a:pPr algn="l">
              <a:lnSpc>
                <a:spcPts val="3091"/>
              </a:lnSpc>
              <a:spcBef>
                <a:spcPct val="0"/>
              </a:spcBef>
            </a:pPr>
            <a:r>
              <a:rPr lang="en-US" sz="2207">
                <a:solidFill>
                  <a:srgbClr val="FFFFFF"/>
                </a:solidFill>
                <a:latin typeface="Arimo"/>
                <a:ea typeface="Arimo"/>
                <a:cs typeface="Arimo"/>
                <a:sym typeface="Arimo"/>
              </a:rPr>
              <a:t>A</a:t>
            </a:r>
            <a:r>
              <a:rPr lang="en-US" sz="2207">
                <a:solidFill>
                  <a:srgbClr val="FFFFFF"/>
                </a:solidFill>
                <a:latin typeface="Arimo"/>
                <a:ea typeface="Arimo"/>
                <a:cs typeface="Arimo"/>
                <a:sym typeface="Arimo"/>
              </a:rPr>
              <a:t>mazon ECS hỗ trợ auto scaling theo CPU/memory hoặc số lượng request. Cho phép ứng dụng backend mở rộng mà không gián đoạn dịch vụ.</a:t>
            </a:r>
          </a:p>
          <a:p>
            <a:pPr algn="l">
              <a:lnSpc>
                <a:spcPts val="3091"/>
              </a:lnSpc>
              <a:spcBef>
                <a:spcPct val="0"/>
              </a:spcBef>
            </a:pPr>
          </a:p>
        </p:txBody>
      </p:sp>
      <p:sp>
        <p:nvSpPr>
          <p:cNvPr name="TextBox 16" id="16"/>
          <p:cNvSpPr txBox="true"/>
          <p:nvPr/>
        </p:nvSpPr>
        <p:spPr>
          <a:xfrm rot="0">
            <a:off x="1671230" y="4611745"/>
            <a:ext cx="1826834" cy="1135783"/>
          </a:xfrm>
          <a:prstGeom prst="rect">
            <a:avLst/>
          </a:prstGeom>
        </p:spPr>
        <p:txBody>
          <a:bodyPr anchor="t" rtlCol="false" tIns="0" lIns="0" bIns="0" rIns="0">
            <a:spAutoFit/>
          </a:bodyPr>
          <a:lstStyle/>
          <a:p>
            <a:pPr algn="l" marL="0" indent="0" lvl="0">
              <a:lnSpc>
                <a:spcPts val="8655"/>
              </a:lnSpc>
              <a:spcBef>
                <a:spcPct val="0"/>
              </a:spcBef>
            </a:pPr>
            <a:r>
              <a:rPr lang="en-US" b="true" sz="8165" spc="816" strike="noStrike" u="none">
                <a:solidFill>
                  <a:srgbClr val="FFFFFF">
                    <a:alpha val="43922"/>
                  </a:srgbClr>
                </a:solidFill>
                <a:latin typeface="League Spartan"/>
                <a:ea typeface="League Spartan"/>
                <a:cs typeface="League Spartan"/>
                <a:sym typeface="League Spartan"/>
              </a:rPr>
              <a:t>02</a:t>
            </a:r>
          </a:p>
        </p:txBody>
      </p:sp>
      <p:sp>
        <p:nvSpPr>
          <p:cNvPr name="TextBox 17" id="17"/>
          <p:cNvSpPr txBox="true"/>
          <p:nvPr/>
        </p:nvSpPr>
        <p:spPr>
          <a:xfrm rot="0">
            <a:off x="3498063" y="4449820"/>
            <a:ext cx="5370203" cy="1550735"/>
          </a:xfrm>
          <a:prstGeom prst="rect">
            <a:avLst/>
          </a:prstGeom>
        </p:spPr>
        <p:txBody>
          <a:bodyPr anchor="t" rtlCol="false" tIns="0" lIns="0" bIns="0" rIns="0">
            <a:spAutoFit/>
          </a:bodyPr>
          <a:lstStyle/>
          <a:p>
            <a:pPr algn="l">
              <a:lnSpc>
                <a:spcPts val="3091"/>
              </a:lnSpc>
              <a:spcBef>
                <a:spcPct val="0"/>
              </a:spcBef>
            </a:pPr>
            <a:r>
              <a:rPr lang="en-US" sz="2207">
                <a:solidFill>
                  <a:srgbClr val="FFFFFF"/>
                </a:solidFill>
                <a:latin typeface="Arimo"/>
                <a:ea typeface="Arimo"/>
                <a:cs typeface="Arimo"/>
                <a:sym typeface="Arimo"/>
              </a:rPr>
              <a:t>E</a:t>
            </a:r>
            <a:r>
              <a:rPr lang="en-US" sz="2207">
                <a:solidFill>
                  <a:srgbClr val="FFFFFF"/>
                </a:solidFill>
                <a:latin typeface="Arimo"/>
                <a:ea typeface="Arimo"/>
                <a:cs typeface="Arimo"/>
                <a:sym typeface="Arimo"/>
              </a:rPr>
              <a:t>lastic Load Balancer (ALB) có khả năng tự động mở rộng để xử lý hàng triệu yêu cầu đồng thời từ người dùng.</a:t>
            </a:r>
          </a:p>
          <a:p>
            <a:pPr algn="l">
              <a:lnSpc>
                <a:spcPts val="3091"/>
              </a:lnSpc>
              <a:spcBef>
                <a:spcPct val="0"/>
              </a:spcBef>
            </a:pPr>
          </a:p>
        </p:txBody>
      </p:sp>
      <p:sp>
        <p:nvSpPr>
          <p:cNvPr name="TextBox 18" id="18"/>
          <p:cNvSpPr txBox="true"/>
          <p:nvPr/>
        </p:nvSpPr>
        <p:spPr>
          <a:xfrm rot="0">
            <a:off x="9824103" y="2624394"/>
            <a:ext cx="1435123" cy="1135783"/>
          </a:xfrm>
          <a:prstGeom prst="rect">
            <a:avLst/>
          </a:prstGeom>
        </p:spPr>
        <p:txBody>
          <a:bodyPr anchor="t" rtlCol="false" tIns="0" lIns="0" bIns="0" rIns="0">
            <a:spAutoFit/>
          </a:bodyPr>
          <a:lstStyle/>
          <a:p>
            <a:pPr algn="l">
              <a:lnSpc>
                <a:spcPts val="8655"/>
              </a:lnSpc>
            </a:pPr>
            <a:r>
              <a:rPr lang="en-US" sz="8165" spc="816">
                <a:solidFill>
                  <a:srgbClr val="FFFFFF">
                    <a:alpha val="43922"/>
                  </a:srgbClr>
                </a:solidFill>
                <a:latin typeface="League Spartan"/>
                <a:ea typeface="League Spartan"/>
                <a:cs typeface="League Spartan"/>
                <a:sym typeface="League Spartan"/>
              </a:rPr>
              <a:t>01</a:t>
            </a:r>
          </a:p>
        </p:txBody>
      </p:sp>
      <p:sp>
        <p:nvSpPr>
          <p:cNvPr name="TextBox 19" id="19"/>
          <p:cNvSpPr txBox="true"/>
          <p:nvPr/>
        </p:nvSpPr>
        <p:spPr>
          <a:xfrm rot="0">
            <a:off x="11650936" y="2462469"/>
            <a:ext cx="5370203" cy="1550735"/>
          </a:xfrm>
          <a:prstGeom prst="rect">
            <a:avLst/>
          </a:prstGeom>
        </p:spPr>
        <p:txBody>
          <a:bodyPr anchor="t" rtlCol="false" tIns="0" lIns="0" bIns="0" rIns="0">
            <a:spAutoFit/>
          </a:bodyPr>
          <a:lstStyle/>
          <a:p>
            <a:pPr algn="l">
              <a:lnSpc>
                <a:spcPts val="3091"/>
              </a:lnSpc>
              <a:spcBef>
                <a:spcPct val="0"/>
              </a:spcBef>
            </a:pPr>
            <a:r>
              <a:rPr lang="en-US" sz="2207">
                <a:solidFill>
                  <a:srgbClr val="FFFFFF"/>
                </a:solidFill>
                <a:latin typeface="Arimo"/>
                <a:ea typeface="Arimo"/>
                <a:cs typeface="Arimo"/>
                <a:sym typeface="Arimo"/>
              </a:rPr>
              <a:t>Tá</a:t>
            </a:r>
            <a:r>
              <a:rPr lang="en-US" sz="2207">
                <a:solidFill>
                  <a:srgbClr val="FFFFFF"/>
                </a:solidFill>
                <a:latin typeface="Arimo"/>
                <a:ea typeface="Arimo"/>
                <a:cs typeface="Arimo"/>
                <a:sym typeface="Arimo"/>
              </a:rPr>
              <a:t>i sử dụng kết nối giúp giảm độ trễ khi thiết lập kết nối từ ứng dụng đến RDS (giảm ~50%).</a:t>
            </a:r>
          </a:p>
          <a:p>
            <a:pPr algn="l">
              <a:lnSpc>
                <a:spcPts val="3091"/>
              </a:lnSpc>
              <a:spcBef>
                <a:spcPct val="0"/>
              </a:spcBef>
            </a:pPr>
          </a:p>
        </p:txBody>
      </p:sp>
      <p:sp>
        <p:nvSpPr>
          <p:cNvPr name="TextBox 20" id="20"/>
          <p:cNvSpPr txBox="true"/>
          <p:nvPr/>
        </p:nvSpPr>
        <p:spPr>
          <a:xfrm rot="0">
            <a:off x="9824103" y="4244493"/>
            <a:ext cx="1826834" cy="1135783"/>
          </a:xfrm>
          <a:prstGeom prst="rect">
            <a:avLst/>
          </a:prstGeom>
        </p:spPr>
        <p:txBody>
          <a:bodyPr anchor="t" rtlCol="false" tIns="0" lIns="0" bIns="0" rIns="0">
            <a:spAutoFit/>
          </a:bodyPr>
          <a:lstStyle/>
          <a:p>
            <a:pPr algn="l">
              <a:lnSpc>
                <a:spcPts val="8655"/>
              </a:lnSpc>
            </a:pPr>
            <a:r>
              <a:rPr lang="en-US" sz="8165" spc="816">
                <a:solidFill>
                  <a:srgbClr val="FFFFFF">
                    <a:alpha val="43922"/>
                  </a:srgbClr>
                </a:solidFill>
                <a:latin typeface="League Spartan"/>
                <a:ea typeface="League Spartan"/>
                <a:cs typeface="League Spartan"/>
                <a:sym typeface="League Spartan"/>
              </a:rPr>
              <a:t>02</a:t>
            </a:r>
          </a:p>
        </p:txBody>
      </p:sp>
      <p:sp>
        <p:nvSpPr>
          <p:cNvPr name="TextBox 21" id="21"/>
          <p:cNvSpPr txBox="true"/>
          <p:nvPr/>
        </p:nvSpPr>
        <p:spPr>
          <a:xfrm rot="0">
            <a:off x="11650936" y="3956054"/>
            <a:ext cx="5370203" cy="1550735"/>
          </a:xfrm>
          <a:prstGeom prst="rect">
            <a:avLst/>
          </a:prstGeom>
        </p:spPr>
        <p:txBody>
          <a:bodyPr anchor="t" rtlCol="false" tIns="0" lIns="0" bIns="0" rIns="0">
            <a:spAutoFit/>
          </a:bodyPr>
          <a:lstStyle/>
          <a:p>
            <a:pPr algn="l">
              <a:lnSpc>
                <a:spcPts val="3091"/>
              </a:lnSpc>
              <a:spcBef>
                <a:spcPct val="0"/>
              </a:spcBef>
            </a:pPr>
            <a:r>
              <a:rPr lang="en-US" sz="2207">
                <a:solidFill>
                  <a:srgbClr val="FFFFFF"/>
                </a:solidFill>
                <a:latin typeface="Arimo"/>
                <a:ea typeface="Arimo"/>
                <a:cs typeface="Arimo"/>
                <a:sym typeface="Arimo"/>
              </a:rPr>
              <a:t>RDS</a:t>
            </a:r>
            <a:r>
              <a:rPr lang="en-US" sz="2207">
                <a:solidFill>
                  <a:srgbClr val="FFFFFF"/>
                </a:solidFill>
                <a:latin typeface="Arimo"/>
                <a:ea typeface="Arimo"/>
                <a:cs typeface="Arimo"/>
                <a:sym typeface="Arimo"/>
              </a:rPr>
              <a:t> Proxy giữ kết nối sẵn tới Database giúp ứng dụng không cần tạo mới kết nối mỗi lần truy cập.</a:t>
            </a:r>
          </a:p>
          <a:p>
            <a:pPr algn="l">
              <a:lnSpc>
                <a:spcPts val="3091"/>
              </a:lnSpc>
              <a:spcBef>
                <a:spcPct val="0"/>
              </a:spcBef>
            </a:pPr>
          </a:p>
        </p:txBody>
      </p:sp>
      <p:sp>
        <p:nvSpPr>
          <p:cNvPr name="TextBox 22" id="22"/>
          <p:cNvSpPr txBox="true"/>
          <p:nvPr/>
        </p:nvSpPr>
        <p:spPr>
          <a:xfrm rot="0">
            <a:off x="1671230" y="6506729"/>
            <a:ext cx="1826834" cy="1135783"/>
          </a:xfrm>
          <a:prstGeom prst="rect">
            <a:avLst/>
          </a:prstGeom>
        </p:spPr>
        <p:txBody>
          <a:bodyPr anchor="t" rtlCol="false" tIns="0" lIns="0" bIns="0" rIns="0">
            <a:spAutoFit/>
          </a:bodyPr>
          <a:lstStyle/>
          <a:p>
            <a:pPr algn="l">
              <a:lnSpc>
                <a:spcPts val="8655"/>
              </a:lnSpc>
            </a:pPr>
            <a:r>
              <a:rPr lang="en-US" sz="8165" spc="816">
                <a:solidFill>
                  <a:srgbClr val="FFFFFF">
                    <a:alpha val="43922"/>
                  </a:srgbClr>
                </a:solidFill>
                <a:latin typeface="League Spartan"/>
                <a:ea typeface="League Spartan"/>
                <a:cs typeface="League Spartan"/>
                <a:sym typeface="League Spartan"/>
              </a:rPr>
              <a:t>03</a:t>
            </a:r>
          </a:p>
        </p:txBody>
      </p:sp>
      <p:sp>
        <p:nvSpPr>
          <p:cNvPr name="TextBox 23" id="23"/>
          <p:cNvSpPr txBox="true"/>
          <p:nvPr/>
        </p:nvSpPr>
        <p:spPr>
          <a:xfrm rot="0">
            <a:off x="3498063" y="6058807"/>
            <a:ext cx="5370203" cy="1938153"/>
          </a:xfrm>
          <a:prstGeom prst="rect">
            <a:avLst/>
          </a:prstGeom>
        </p:spPr>
        <p:txBody>
          <a:bodyPr anchor="t" rtlCol="false" tIns="0" lIns="0" bIns="0" rIns="0">
            <a:spAutoFit/>
          </a:bodyPr>
          <a:lstStyle/>
          <a:p>
            <a:pPr algn="l">
              <a:lnSpc>
                <a:spcPts val="3091"/>
              </a:lnSpc>
              <a:spcBef>
                <a:spcPct val="0"/>
              </a:spcBef>
            </a:pPr>
            <a:r>
              <a:rPr lang="en-US" sz="2207">
                <a:solidFill>
                  <a:srgbClr val="FFFFFF"/>
                </a:solidFill>
                <a:latin typeface="Arimo"/>
                <a:ea typeface="Arimo"/>
                <a:cs typeface="Arimo"/>
                <a:sym typeface="Arimo"/>
              </a:rPr>
              <a:t>Am</a:t>
            </a:r>
            <a:r>
              <a:rPr lang="en-US" sz="2207">
                <a:solidFill>
                  <a:srgbClr val="FFFFFF"/>
                </a:solidFill>
                <a:latin typeface="Arimo"/>
                <a:ea typeface="Arimo"/>
                <a:cs typeface="Arimo"/>
                <a:sym typeface="Arimo"/>
              </a:rPr>
              <a:t>azon RDS Proxy giúp chia sẻ kết nối giữa các ứng dụng đến RDS, giảm số lượng kết nối vật lý tới Database hỗ trợ mở rộng quy mô ứng dụng dễ dàng mà không quá tải database backend.</a:t>
            </a:r>
          </a:p>
        </p:txBody>
      </p:sp>
      <p:sp>
        <p:nvSpPr>
          <p:cNvPr name="TextBox 24" id="24"/>
          <p:cNvSpPr txBox="true"/>
          <p:nvPr/>
        </p:nvSpPr>
        <p:spPr>
          <a:xfrm rot="0">
            <a:off x="9824103" y="5868740"/>
            <a:ext cx="1826834" cy="1135783"/>
          </a:xfrm>
          <a:prstGeom prst="rect">
            <a:avLst/>
          </a:prstGeom>
        </p:spPr>
        <p:txBody>
          <a:bodyPr anchor="t" rtlCol="false" tIns="0" lIns="0" bIns="0" rIns="0">
            <a:spAutoFit/>
          </a:bodyPr>
          <a:lstStyle/>
          <a:p>
            <a:pPr algn="l">
              <a:lnSpc>
                <a:spcPts val="8655"/>
              </a:lnSpc>
            </a:pPr>
            <a:r>
              <a:rPr lang="en-US" sz="8165" spc="816">
                <a:solidFill>
                  <a:srgbClr val="FFFFFF">
                    <a:alpha val="43922"/>
                  </a:srgbClr>
                </a:solidFill>
                <a:latin typeface="League Spartan"/>
                <a:ea typeface="League Spartan"/>
                <a:cs typeface="League Spartan"/>
                <a:sym typeface="League Spartan"/>
              </a:rPr>
              <a:t>03</a:t>
            </a:r>
          </a:p>
        </p:txBody>
      </p:sp>
      <p:sp>
        <p:nvSpPr>
          <p:cNvPr name="TextBox 25" id="25"/>
          <p:cNvSpPr txBox="true"/>
          <p:nvPr/>
        </p:nvSpPr>
        <p:spPr>
          <a:xfrm rot="0">
            <a:off x="11650936" y="5580301"/>
            <a:ext cx="5370203" cy="1550735"/>
          </a:xfrm>
          <a:prstGeom prst="rect">
            <a:avLst/>
          </a:prstGeom>
        </p:spPr>
        <p:txBody>
          <a:bodyPr anchor="t" rtlCol="false" tIns="0" lIns="0" bIns="0" rIns="0">
            <a:spAutoFit/>
          </a:bodyPr>
          <a:lstStyle/>
          <a:p>
            <a:pPr algn="l">
              <a:lnSpc>
                <a:spcPts val="3091"/>
              </a:lnSpc>
              <a:spcBef>
                <a:spcPct val="0"/>
              </a:spcBef>
            </a:pPr>
            <a:r>
              <a:rPr lang="en-US" sz="2207">
                <a:solidFill>
                  <a:srgbClr val="FFFFFF"/>
                </a:solidFill>
                <a:latin typeface="Arimo"/>
                <a:ea typeface="Arimo"/>
                <a:cs typeface="Arimo"/>
                <a:sym typeface="Arimo"/>
              </a:rPr>
              <a:t>Failover time giảm đáng kể nhờ RDS</a:t>
            </a:r>
            <a:r>
              <a:rPr lang="en-US" sz="2207">
                <a:solidFill>
                  <a:srgbClr val="FFFFFF"/>
                </a:solidFill>
                <a:latin typeface="Arimo"/>
                <a:ea typeface="Arimo"/>
                <a:cs typeface="Arimo"/>
                <a:sym typeface="Arimo"/>
              </a:rPr>
              <a:t> Proxy điều hướng traffic khi RDS primary instance gặp sự cố (từ ~60s còn ~5–10s).</a:t>
            </a:r>
          </a:p>
          <a:p>
            <a:pPr algn="l">
              <a:lnSpc>
                <a:spcPts val="3091"/>
              </a:lnSpc>
              <a:spcBef>
                <a:spcPct val="0"/>
              </a:spcBef>
            </a:pPr>
          </a:p>
        </p:txBody>
      </p:sp>
      <p:sp>
        <p:nvSpPr>
          <p:cNvPr name="TextBox 26" id="26"/>
          <p:cNvSpPr txBox="true"/>
          <p:nvPr/>
        </p:nvSpPr>
        <p:spPr>
          <a:xfrm rot="0">
            <a:off x="9824103" y="7359636"/>
            <a:ext cx="1826834" cy="1135783"/>
          </a:xfrm>
          <a:prstGeom prst="rect">
            <a:avLst/>
          </a:prstGeom>
        </p:spPr>
        <p:txBody>
          <a:bodyPr anchor="t" rtlCol="false" tIns="0" lIns="0" bIns="0" rIns="0">
            <a:spAutoFit/>
          </a:bodyPr>
          <a:lstStyle/>
          <a:p>
            <a:pPr algn="l">
              <a:lnSpc>
                <a:spcPts val="8655"/>
              </a:lnSpc>
            </a:pPr>
            <a:r>
              <a:rPr lang="en-US" sz="8165" spc="816">
                <a:solidFill>
                  <a:srgbClr val="FFFFFF">
                    <a:alpha val="43922"/>
                  </a:srgbClr>
                </a:solidFill>
                <a:latin typeface="League Spartan"/>
                <a:ea typeface="League Spartan"/>
                <a:cs typeface="League Spartan"/>
                <a:sym typeface="League Spartan"/>
              </a:rPr>
              <a:t>04</a:t>
            </a:r>
          </a:p>
        </p:txBody>
      </p:sp>
      <p:sp>
        <p:nvSpPr>
          <p:cNvPr name="TextBox 27" id="27"/>
          <p:cNvSpPr txBox="true"/>
          <p:nvPr/>
        </p:nvSpPr>
        <p:spPr>
          <a:xfrm rot="0">
            <a:off x="11650936" y="7073886"/>
            <a:ext cx="5370203" cy="1550735"/>
          </a:xfrm>
          <a:prstGeom prst="rect">
            <a:avLst/>
          </a:prstGeom>
        </p:spPr>
        <p:txBody>
          <a:bodyPr anchor="t" rtlCol="false" tIns="0" lIns="0" bIns="0" rIns="0">
            <a:spAutoFit/>
          </a:bodyPr>
          <a:lstStyle/>
          <a:p>
            <a:pPr algn="l">
              <a:lnSpc>
                <a:spcPts val="3091"/>
              </a:lnSpc>
              <a:spcBef>
                <a:spcPct val="0"/>
              </a:spcBef>
            </a:pPr>
            <a:r>
              <a:rPr lang="en-US" sz="2207">
                <a:solidFill>
                  <a:srgbClr val="FFFFFF"/>
                </a:solidFill>
                <a:latin typeface="Arimo"/>
                <a:ea typeface="Arimo"/>
                <a:cs typeface="Arimo"/>
                <a:sym typeface="Arimo"/>
              </a:rPr>
              <a:t>Tối ưu cấu hình RDS</a:t>
            </a:r>
            <a:r>
              <a:rPr lang="en-US" sz="2207">
                <a:solidFill>
                  <a:srgbClr val="FFFFFF"/>
                </a:solidFill>
                <a:latin typeface="Arimo"/>
                <a:ea typeface="Arimo"/>
                <a:cs typeface="Arimo"/>
                <a:sym typeface="Arimo"/>
              </a:rPr>
              <a:t> Proxy theo khung giờ có thể lập lịch thay đổi MaxConnectionPercent hoặc IdleTimeout tùy theo giờ</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633877" y="-554823"/>
            <a:ext cx="19639468" cy="5698323"/>
            <a:chOff x="0" y="0"/>
            <a:chExt cx="5172535" cy="1500793"/>
          </a:xfrm>
        </p:grpSpPr>
        <p:sp>
          <p:nvSpPr>
            <p:cNvPr name="Freeform 3" id="3"/>
            <p:cNvSpPr/>
            <p:nvPr/>
          </p:nvSpPr>
          <p:spPr>
            <a:xfrm flipH="false" flipV="false" rot="0">
              <a:off x="0" y="0"/>
              <a:ext cx="5172535" cy="1500793"/>
            </a:xfrm>
            <a:custGeom>
              <a:avLst/>
              <a:gdLst/>
              <a:ahLst/>
              <a:cxnLst/>
              <a:rect r="r" b="b" t="t" l="l"/>
              <a:pathLst>
                <a:path h="1500793" w="5172535">
                  <a:moveTo>
                    <a:pt x="0" y="0"/>
                  </a:moveTo>
                  <a:lnTo>
                    <a:pt x="5172535" y="0"/>
                  </a:lnTo>
                  <a:lnTo>
                    <a:pt x="5172535" y="1500793"/>
                  </a:lnTo>
                  <a:lnTo>
                    <a:pt x="0" y="1500793"/>
                  </a:lnTo>
                  <a:close/>
                </a:path>
              </a:pathLst>
            </a:custGeom>
            <a:solidFill>
              <a:srgbClr val="FFFFFF"/>
            </a:solidFill>
          </p:spPr>
        </p:sp>
        <p:sp>
          <p:nvSpPr>
            <p:cNvPr name="TextBox 4" id="4"/>
            <p:cNvSpPr txBox="true"/>
            <p:nvPr/>
          </p:nvSpPr>
          <p:spPr>
            <a:xfrm>
              <a:off x="0" y="-47625"/>
              <a:ext cx="5172535" cy="1548418"/>
            </a:xfrm>
            <a:prstGeom prst="rect">
              <a:avLst/>
            </a:prstGeom>
          </p:spPr>
          <p:txBody>
            <a:bodyPr anchor="ctr" rtlCol="false" tIns="50800" lIns="50800" bIns="50800" rIns="50800"/>
            <a:lstStyle/>
            <a:p>
              <a:pPr algn="ctr">
                <a:lnSpc>
                  <a:spcPts val="2659"/>
                </a:lnSpc>
              </a:pPr>
              <a:r>
                <a:rPr lang="en-US" sz="1899">
                  <a:solidFill>
                    <a:srgbClr val="FFFFFF"/>
                  </a:solidFill>
                  <a:latin typeface="Arimo"/>
                  <a:ea typeface="Arimo"/>
                  <a:cs typeface="Arimo"/>
                  <a:sym typeface="Arimo"/>
                </a:rPr>
                <a:t> </a:t>
              </a:r>
            </a:p>
          </p:txBody>
        </p:sp>
      </p:grpSp>
      <p:sp>
        <p:nvSpPr>
          <p:cNvPr name="Freeform 5" id="5"/>
          <p:cNvSpPr/>
          <p:nvPr/>
        </p:nvSpPr>
        <p:spPr>
          <a:xfrm flipH="false" flipV="false" rot="0">
            <a:off x="-297830" y="-1579357"/>
            <a:ext cx="19484227" cy="12835235"/>
          </a:xfrm>
          <a:custGeom>
            <a:avLst/>
            <a:gdLst/>
            <a:ahLst/>
            <a:cxnLst/>
            <a:rect r="r" b="b" t="t" l="l"/>
            <a:pathLst>
              <a:path h="12835235" w="19484227">
                <a:moveTo>
                  <a:pt x="0" y="0"/>
                </a:moveTo>
                <a:lnTo>
                  <a:pt x="19484227" y="0"/>
                </a:lnTo>
                <a:lnTo>
                  <a:pt x="19484227" y="12835234"/>
                </a:lnTo>
                <a:lnTo>
                  <a:pt x="0" y="12835234"/>
                </a:lnTo>
                <a:lnTo>
                  <a:pt x="0" y="0"/>
                </a:lnTo>
                <a:close/>
              </a:path>
            </a:pathLst>
          </a:custGeom>
          <a:blipFill>
            <a:blip r:embed="rId2">
              <a:alphaModFix amt="20999"/>
            </a:blip>
            <a:stretch>
              <a:fillRect l="0" t="0" r="0" b="0"/>
            </a:stretch>
          </a:blipFill>
        </p:spPr>
      </p:sp>
      <p:sp>
        <p:nvSpPr>
          <p:cNvPr name="TextBox 6" id="6"/>
          <p:cNvSpPr txBox="true"/>
          <p:nvPr/>
        </p:nvSpPr>
        <p:spPr>
          <a:xfrm rot="0">
            <a:off x="2517070" y="711403"/>
            <a:ext cx="13854426" cy="1135783"/>
          </a:xfrm>
          <a:prstGeom prst="rect">
            <a:avLst/>
          </a:prstGeom>
        </p:spPr>
        <p:txBody>
          <a:bodyPr anchor="t" rtlCol="false" tIns="0" lIns="0" bIns="0" rIns="0">
            <a:spAutoFit/>
          </a:bodyPr>
          <a:lstStyle/>
          <a:p>
            <a:pPr algn="ctr">
              <a:lnSpc>
                <a:spcPts val="8655"/>
              </a:lnSpc>
            </a:pPr>
            <a:r>
              <a:rPr lang="en-US" sz="8165" spc="816">
                <a:solidFill>
                  <a:srgbClr val="6299E4"/>
                </a:solidFill>
                <a:latin typeface="League Spartan"/>
                <a:ea typeface="League Spartan"/>
                <a:cs typeface="League Spartan"/>
                <a:sym typeface="League Spartan"/>
              </a:rPr>
              <a:t>TRIỂN KHAI KỸ THUẬT </a:t>
            </a:r>
          </a:p>
        </p:txBody>
      </p:sp>
      <p:sp>
        <p:nvSpPr>
          <p:cNvPr name="TextBox 7" id="7"/>
          <p:cNvSpPr txBox="true"/>
          <p:nvPr/>
        </p:nvSpPr>
        <p:spPr>
          <a:xfrm rot="0">
            <a:off x="1028700" y="1513811"/>
            <a:ext cx="15982645" cy="1021184"/>
          </a:xfrm>
          <a:prstGeom prst="rect">
            <a:avLst/>
          </a:prstGeom>
        </p:spPr>
        <p:txBody>
          <a:bodyPr anchor="t" rtlCol="false" tIns="0" lIns="0" bIns="0" rIns="0">
            <a:spAutoFit/>
          </a:bodyPr>
          <a:lstStyle/>
          <a:p>
            <a:pPr algn="l">
              <a:lnSpc>
                <a:spcPts val="8633"/>
              </a:lnSpc>
            </a:pPr>
            <a:r>
              <a:rPr lang="en-US" b="true" sz="4519" spc="451">
                <a:solidFill>
                  <a:srgbClr val="6299E4"/>
                </a:solidFill>
                <a:latin typeface="Arimo Bold"/>
                <a:ea typeface="Arimo Bold"/>
                <a:cs typeface="Arimo Bold"/>
                <a:sym typeface="Arimo Bold"/>
              </a:rPr>
              <a:t>Giai đoạn thực hiện và các sản phầm bàn giao</a:t>
            </a:r>
          </a:p>
        </p:txBody>
      </p:sp>
      <p:graphicFrame>
        <p:nvGraphicFramePr>
          <p:cNvPr name="Object 8" id="8"/>
          <p:cNvGraphicFramePr/>
          <p:nvPr/>
        </p:nvGraphicFramePr>
        <p:xfrm>
          <a:off x="1028700" y="2815619"/>
          <a:ext cx="3771900" cy="2514600"/>
        </p:xfrm>
        <a:graphic>
          <a:graphicData uri="http://schemas.openxmlformats.org/presentationml/2006/ole">
            <p:oleObj imgW="4521200" imgH="32639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1028700" y="7516"/>
            <a:ext cx="5560497" cy="1021184"/>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Yêu cầu kỹ thuật</a:t>
            </a:r>
          </a:p>
        </p:txBody>
      </p:sp>
      <p:graphicFrame>
        <p:nvGraphicFramePr>
          <p:cNvPr name="Object 3" id="3"/>
          <p:cNvGraphicFramePr/>
          <p:nvPr/>
        </p:nvGraphicFramePr>
        <p:xfrm>
          <a:off x="1028700" y="1569882"/>
          <a:ext cx="3771900" cy="1676400"/>
        </p:xfrm>
        <a:graphic>
          <a:graphicData uri="http://schemas.openxmlformats.org/presentationml/2006/ole">
            <p:oleObj imgW="4521200" imgH="24257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aphicFrame>
        <p:nvGraphicFramePr>
          <p:cNvPr name="Object 2" id="2"/>
          <p:cNvGraphicFramePr/>
          <p:nvPr/>
        </p:nvGraphicFramePr>
        <p:xfrm>
          <a:off x="713559" y="472711"/>
          <a:ext cx="2514600" cy="2514600"/>
        </p:xfrm>
        <a:graphic>
          <a:graphicData uri="http://schemas.openxmlformats.org/presentationml/2006/ole">
            <p:oleObj imgW="3009900" imgH="3009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aphicFrame>
        <p:nvGraphicFramePr>
          <p:cNvPr name="Object 3" id="3"/>
          <p:cNvGraphicFramePr/>
          <p:nvPr/>
        </p:nvGraphicFramePr>
        <p:xfrm>
          <a:off x="713559" y="6392851"/>
          <a:ext cx="2514600" cy="1676400"/>
        </p:xfrm>
        <a:graphic>
          <a:graphicData uri="http://schemas.openxmlformats.org/presentationml/2006/ole">
            <p:oleObj imgW="3009900" imgH="21717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Tree>
  </p:cSld>
  <p:clrMapOvr>
    <a:masterClrMapping/>
  </p:clrMapOvr>
</p:sld>
</file>

<file path=ppt/slides/slide17.xml><?xml version="1.0" encoding="utf-8"?>
<p:sld xmlns:p="http://schemas.openxmlformats.org/presentationml/2006/main" xmlns:a="http://schemas.openxmlformats.org/drawingml/2006/main">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1028700" y="7516"/>
            <a:ext cx="6843569" cy="1021184"/>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Chiến lược kiểm thử</a:t>
            </a:r>
          </a:p>
        </p:txBody>
      </p:sp>
      <p:sp>
        <p:nvSpPr>
          <p:cNvPr name="TextBox 3" id="3"/>
          <p:cNvSpPr txBox="true"/>
          <p:nvPr/>
        </p:nvSpPr>
        <p:spPr>
          <a:xfrm rot="0">
            <a:off x="622455" y="1482255"/>
            <a:ext cx="16840499" cy="8116406"/>
          </a:xfrm>
          <a:prstGeom prst="rect">
            <a:avLst/>
          </a:prstGeom>
        </p:spPr>
        <p:txBody>
          <a:bodyPr anchor="t" rtlCol="false" tIns="0" lIns="0" bIns="0" rIns="0">
            <a:spAutoFit/>
          </a:bodyPr>
          <a:lstStyle/>
          <a:p>
            <a:pPr algn="l" marL="823058" indent="-411529" lvl="1">
              <a:lnSpc>
                <a:spcPts val="4040"/>
              </a:lnSpc>
              <a:buFont typeface="Arial"/>
              <a:buChar char="•"/>
            </a:pPr>
            <a:r>
              <a:rPr lang="en-US" sz="3812" spc="381">
                <a:solidFill>
                  <a:srgbClr val="FFFFFF"/>
                </a:solidFill>
                <a:latin typeface="Arimo"/>
                <a:ea typeface="Arimo"/>
                <a:cs typeface="Arimo"/>
                <a:sym typeface="Arimo"/>
              </a:rPr>
              <a:t>Kiểm th</a:t>
            </a:r>
            <a:r>
              <a:rPr lang="en-US" sz="3812" spc="381" strike="noStrike" u="none">
                <a:solidFill>
                  <a:srgbClr val="FFFFFF"/>
                </a:solidFill>
                <a:latin typeface="Arimo"/>
                <a:ea typeface="Arimo"/>
                <a:cs typeface="Arimo"/>
                <a:sym typeface="Arimo"/>
              </a:rPr>
              <a:t>ử </a:t>
            </a:r>
            <a:r>
              <a:rPr lang="en-US" sz="3812" spc="381" strike="noStrike" u="none">
                <a:solidFill>
                  <a:srgbClr val="FFFFFF"/>
                </a:solidFill>
                <a:latin typeface="Arimo"/>
                <a:ea typeface="Arimo"/>
                <a:cs typeface="Arimo"/>
                <a:sym typeface="Arimo"/>
              </a:rPr>
              <a:t>tích</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hợp:</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K</a:t>
            </a:r>
            <a:r>
              <a:rPr lang="en-US" sz="3812" spc="381" strike="noStrike" u="none">
                <a:solidFill>
                  <a:srgbClr val="FFFFFF"/>
                </a:solidFill>
                <a:latin typeface="Arimo"/>
                <a:ea typeface="Arimo"/>
                <a:cs typeface="Arimo"/>
                <a:sym typeface="Arimo"/>
              </a:rPr>
              <a:t>i</a:t>
            </a:r>
            <a:r>
              <a:rPr lang="en-US" sz="3812" spc="381" strike="noStrike" u="none">
                <a:solidFill>
                  <a:srgbClr val="FFFFFF"/>
                </a:solidFill>
                <a:latin typeface="Arimo"/>
                <a:ea typeface="Arimo"/>
                <a:cs typeface="Arimo"/>
                <a:sym typeface="Arimo"/>
              </a:rPr>
              <a:t>ểm</a:t>
            </a:r>
            <a:r>
              <a:rPr lang="en-US" sz="3812" spc="381" strike="noStrike" u="none">
                <a:solidFill>
                  <a:srgbClr val="FFFFFF"/>
                </a:solidFill>
                <a:latin typeface="Arimo"/>
                <a:ea typeface="Arimo"/>
                <a:cs typeface="Arimo"/>
                <a:sym typeface="Arimo"/>
              </a:rPr>
              <a:t> t</a:t>
            </a:r>
            <a:r>
              <a:rPr lang="en-US" sz="3812" spc="381" strike="noStrike" u="none">
                <a:solidFill>
                  <a:srgbClr val="FFFFFF"/>
                </a:solidFill>
                <a:latin typeface="Arimo"/>
                <a:ea typeface="Arimo"/>
                <a:cs typeface="Arimo"/>
                <a:sym typeface="Arimo"/>
              </a:rPr>
              <a:t>ra</a:t>
            </a:r>
            <a:r>
              <a:rPr lang="en-US" sz="3812" spc="381" strike="noStrike" u="none">
                <a:solidFill>
                  <a:srgbClr val="FFFFFF"/>
                </a:solidFill>
                <a:latin typeface="Arimo"/>
                <a:ea typeface="Arimo"/>
                <a:cs typeface="Arimo"/>
                <a:sym typeface="Arimo"/>
              </a:rPr>
              <a:t> kết nối</a:t>
            </a:r>
            <a:r>
              <a:rPr lang="en-US" sz="3812" spc="381" strike="noStrike" u="none">
                <a:solidFill>
                  <a:srgbClr val="FFFFFF"/>
                </a:solidFill>
                <a:latin typeface="Arimo"/>
                <a:ea typeface="Arimo"/>
                <a:cs typeface="Arimo"/>
                <a:sym typeface="Arimo"/>
              </a:rPr>
              <a:t> thực</a:t>
            </a:r>
            <a:r>
              <a:rPr lang="en-US" sz="3812" spc="381" strike="noStrike" u="none">
                <a:solidFill>
                  <a:srgbClr val="FFFFFF"/>
                </a:solidFill>
                <a:latin typeface="Arimo"/>
                <a:ea typeface="Arimo"/>
                <a:cs typeface="Arimo"/>
                <a:sym typeface="Arimo"/>
              </a:rPr>
              <a:t> gi</a:t>
            </a:r>
            <a:r>
              <a:rPr lang="en-US" sz="3812" spc="381" strike="noStrike" u="none">
                <a:solidFill>
                  <a:srgbClr val="FFFFFF"/>
                </a:solidFill>
                <a:latin typeface="Arimo"/>
                <a:ea typeface="Arimo"/>
                <a:cs typeface="Arimo"/>
                <a:sym typeface="Arimo"/>
              </a:rPr>
              <a:t>ữa</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ECS,</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R</a:t>
            </a:r>
            <a:r>
              <a:rPr lang="en-US" sz="3812" spc="381" strike="noStrike" u="none">
                <a:solidFill>
                  <a:srgbClr val="FFFFFF"/>
                </a:solidFill>
                <a:latin typeface="Arimo"/>
                <a:ea typeface="Arimo"/>
                <a:cs typeface="Arimo"/>
                <a:sym typeface="Arimo"/>
              </a:rPr>
              <a:t>D</a:t>
            </a:r>
            <a:r>
              <a:rPr lang="en-US" sz="3812" spc="381" strike="noStrike" u="none">
                <a:solidFill>
                  <a:srgbClr val="FFFFFF"/>
                </a:solidFill>
                <a:latin typeface="Arimo"/>
                <a:ea typeface="Arimo"/>
                <a:cs typeface="Arimo"/>
                <a:sym typeface="Arimo"/>
              </a:rPr>
              <a:t>S Proxy</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Secrets Ma</a:t>
            </a:r>
            <a:r>
              <a:rPr lang="en-US" sz="3812" spc="381" strike="noStrike" u="none">
                <a:solidFill>
                  <a:srgbClr val="FFFFFF"/>
                </a:solidFill>
                <a:latin typeface="Arimo"/>
                <a:ea typeface="Arimo"/>
                <a:cs typeface="Arimo"/>
                <a:sym typeface="Arimo"/>
              </a:rPr>
              <a:t>n</a:t>
            </a:r>
            <a:r>
              <a:rPr lang="en-US" sz="3812" spc="381" strike="noStrike" u="none">
                <a:solidFill>
                  <a:srgbClr val="FFFFFF"/>
                </a:solidFill>
                <a:latin typeface="Arimo"/>
                <a:ea typeface="Arimo"/>
                <a:cs typeface="Arimo"/>
                <a:sym typeface="Arimo"/>
              </a:rPr>
              <a:t>a</a:t>
            </a:r>
            <a:r>
              <a:rPr lang="en-US" sz="3812" spc="381" strike="noStrike" u="none">
                <a:solidFill>
                  <a:srgbClr val="FFFFFF"/>
                </a:solidFill>
                <a:latin typeface="Arimo"/>
                <a:ea typeface="Arimo"/>
                <a:cs typeface="Arimo"/>
                <a:sym typeface="Arimo"/>
              </a:rPr>
              <a:t>g</a:t>
            </a:r>
            <a:r>
              <a:rPr lang="en-US" sz="3812" spc="381" strike="noStrike" u="none">
                <a:solidFill>
                  <a:srgbClr val="FFFFFF"/>
                </a:solidFill>
                <a:latin typeface="Arimo"/>
                <a:ea typeface="Arimo"/>
                <a:cs typeface="Arimo"/>
                <a:sym typeface="Arimo"/>
              </a:rPr>
              <a:t>er; xác</a:t>
            </a:r>
            <a:r>
              <a:rPr lang="en-US" sz="3812" spc="381" strike="noStrike" u="none">
                <a:solidFill>
                  <a:srgbClr val="FFFFFF"/>
                </a:solidFill>
                <a:latin typeface="Arimo"/>
                <a:ea typeface="Arimo"/>
                <a:cs typeface="Arimo"/>
                <a:sym typeface="Arimo"/>
              </a:rPr>
              <a:t> th</a:t>
            </a:r>
            <a:r>
              <a:rPr lang="en-US" sz="3812" spc="381" strike="noStrike" u="none">
                <a:solidFill>
                  <a:srgbClr val="FFFFFF"/>
                </a:solidFill>
                <a:latin typeface="Arimo"/>
                <a:ea typeface="Arimo"/>
                <a:cs typeface="Arimo"/>
                <a:sym typeface="Arimo"/>
              </a:rPr>
              <a:t>ực IAM và vòng đ</a:t>
            </a:r>
            <a:r>
              <a:rPr lang="en-US" sz="3812" spc="381" strike="noStrike" u="none">
                <a:solidFill>
                  <a:srgbClr val="FFFFFF"/>
                </a:solidFill>
                <a:latin typeface="Arimo"/>
                <a:ea typeface="Arimo"/>
                <a:cs typeface="Arimo"/>
                <a:sym typeface="Arimo"/>
              </a:rPr>
              <a:t>ời </a:t>
            </a:r>
            <a:r>
              <a:rPr lang="en-US" sz="3812" spc="381" strike="noStrike" u="none">
                <a:solidFill>
                  <a:srgbClr val="FFFFFF"/>
                </a:solidFill>
                <a:latin typeface="Arimo"/>
                <a:ea typeface="Arimo"/>
                <a:cs typeface="Arimo"/>
                <a:sym typeface="Arimo"/>
              </a:rPr>
              <a:t>secret. → Đ</a:t>
            </a:r>
            <a:r>
              <a:rPr lang="en-US" sz="3812" spc="381" strike="noStrike" u="none">
                <a:solidFill>
                  <a:srgbClr val="FFFFFF"/>
                </a:solidFill>
                <a:latin typeface="Arimo"/>
                <a:ea typeface="Arimo"/>
                <a:cs typeface="Arimo"/>
                <a:sym typeface="Arimo"/>
              </a:rPr>
              <a:t>ảm bảo </a:t>
            </a:r>
            <a:r>
              <a:rPr lang="en-US" sz="3812" spc="381" strike="noStrike" u="none">
                <a:solidFill>
                  <a:srgbClr val="FFFFFF"/>
                </a:solidFill>
                <a:latin typeface="Arimo"/>
                <a:ea typeface="Arimo"/>
                <a:cs typeface="Arimo"/>
                <a:sym typeface="Arimo"/>
              </a:rPr>
              <a:t>kế</a:t>
            </a:r>
            <a:r>
              <a:rPr lang="en-US" sz="3812" spc="381" strike="noStrike" u="none">
                <a:solidFill>
                  <a:srgbClr val="FFFFFF"/>
                </a:solidFill>
                <a:latin typeface="Arimo"/>
                <a:ea typeface="Arimo"/>
                <a:cs typeface="Arimo"/>
                <a:sym typeface="Arimo"/>
              </a:rPr>
              <a:t>t n</a:t>
            </a:r>
            <a:r>
              <a:rPr lang="en-US" sz="3812" spc="381" strike="noStrike" u="none">
                <a:solidFill>
                  <a:srgbClr val="FFFFFF"/>
                </a:solidFill>
                <a:latin typeface="Arimo"/>
                <a:ea typeface="Arimo"/>
                <a:cs typeface="Arimo"/>
                <a:sym typeface="Arimo"/>
              </a:rPr>
              <a:t>ối</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ổ</a:t>
            </a:r>
            <a:r>
              <a:rPr lang="en-US" sz="3812" spc="381" strike="noStrike" u="none">
                <a:solidFill>
                  <a:srgbClr val="FFFFFF"/>
                </a:solidFill>
                <a:latin typeface="Arimo"/>
                <a:ea typeface="Arimo"/>
                <a:cs typeface="Arimo"/>
                <a:sym typeface="Arimo"/>
              </a:rPr>
              <a:t>n định</a:t>
            </a:r>
            <a:r>
              <a:rPr lang="en-US" sz="3812" spc="381" strike="noStrike" u="none">
                <a:solidFill>
                  <a:srgbClr val="FFFFFF"/>
                </a:solidFill>
                <a:latin typeface="Arimo"/>
                <a:ea typeface="Arimo"/>
                <a:cs typeface="Arimo"/>
                <a:sym typeface="Arimo"/>
              </a:rPr>
              <a:t>,</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k</a:t>
            </a:r>
            <a:r>
              <a:rPr lang="en-US" sz="3812" spc="381" strike="noStrike" u="none">
                <a:solidFill>
                  <a:srgbClr val="FFFFFF"/>
                </a:solidFill>
                <a:latin typeface="Arimo"/>
                <a:ea typeface="Arimo"/>
                <a:cs typeface="Arimo"/>
                <a:sym typeface="Arimo"/>
              </a:rPr>
              <a:t>h</a:t>
            </a:r>
            <a:r>
              <a:rPr lang="en-US" sz="3812" spc="381" strike="noStrike" u="none">
                <a:solidFill>
                  <a:srgbClr val="FFFFFF"/>
                </a:solidFill>
                <a:latin typeface="Arimo"/>
                <a:ea typeface="Arimo"/>
                <a:cs typeface="Arimo"/>
                <a:sym typeface="Arimo"/>
              </a:rPr>
              <a:t>ô</a:t>
            </a:r>
            <a:r>
              <a:rPr lang="en-US" sz="3812" spc="381" strike="noStrike" u="none">
                <a:solidFill>
                  <a:srgbClr val="FFFFFF"/>
                </a:solidFill>
                <a:latin typeface="Arimo"/>
                <a:ea typeface="Arimo"/>
                <a:cs typeface="Arimo"/>
                <a:sym typeface="Arimo"/>
              </a:rPr>
              <a:t>ng </a:t>
            </a:r>
            <a:r>
              <a:rPr lang="en-US" sz="3812" spc="381" strike="noStrike" u="none">
                <a:solidFill>
                  <a:srgbClr val="FFFFFF"/>
                </a:solidFill>
                <a:latin typeface="Arimo"/>
                <a:ea typeface="Arimo"/>
                <a:cs typeface="Arimo"/>
                <a:sym typeface="Arimo"/>
              </a:rPr>
              <a:t>time</a:t>
            </a:r>
            <a:r>
              <a:rPr lang="en-US" sz="3812" spc="381" strike="noStrike" u="none">
                <a:solidFill>
                  <a:srgbClr val="FFFFFF"/>
                </a:solidFill>
                <a:latin typeface="Arimo"/>
                <a:ea typeface="Arimo"/>
                <a:cs typeface="Arimo"/>
                <a:sym typeface="Arimo"/>
              </a:rPr>
              <a:t>ou</a:t>
            </a:r>
            <a:r>
              <a:rPr lang="en-US" sz="3812" spc="381" strike="noStrike" u="none">
                <a:solidFill>
                  <a:srgbClr val="FFFFFF"/>
                </a:solidFill>
                <a:latin typeface="Arimo"/>
                <a:ea typeface="Arimo"/>
                <a:cs typeface="Arimo"/>
                <a:sym typeface="Arimo"/>
              </a:rPr>
              <a:t>t. Dùng Postman, REST</a:t>
            </a:r>
            <a:r>
              <a:rPr lang="en-US" sz="3812" spc="381" strike="noStrike" u="none">
                <a:solidFill>
                  <a:srgbClr val="FFFFFF"/>
                </a:solidFill>
                <a:latin typeface="Arimo"/>
                <a:ea typeface="Arimo"/>
                <a:cs typeface="Arimo"/>
                <a:sym typeface="Arimo"/>
              </a:rPr>
              <a:t>-a</a:t>
            </a:r>
            <a:r>
              <a:rPr lang="en-US" sz="3812" spc="381" strike="noStrike" u="none">
                <a:solidFill>
                  <a:srgbClr val="FFFFFF"/>
                </a:solidFill>
                <a:latin typeface="Arimo"/>
                <a:ea typeface="Arimo"/>
                <a:cs typeface="Arimo"/>
                <a:sym typeface="Arimo"/>
              </a:rPr>
              <a:t>ssur</a:t>
            </a:r>
            <a:r>
              <a:rPr lang="en-US" sz="3812" spc="381" strike="noStrike" u="none">
                <a:solidFill>
                  <a:srgbClr val="FFFFFF"/>
                </a:solidFill>
                <a:latin typeface="Arimo"/>
                <a:ea typeface="Arimo"/>
                <a:cs typeface="Arimo"/>
                <a:sym typeface="Arimo"/>
              </a:rPr>
              <a:t>e</a:t>
            </a:r>
            <a:r>
              <a:rPr lang="en-US" sz="3812" spc="381" strike="noStrike" u="none">
                <a:solidFill>
                  <a:srgbClr val="FFFFFF"/>
                </a:solidFill>
                <a:latin typeface="Arimo"/>
                <a:ea typeface="Arimo"/>
                <a:cs typeface="Arimo"/>
                <a:sym typeface="Arimo"/>
              </a:rPr>
              <a:t>d</a:t>
            </a:r>
            <a:r>
              <a:rPr lang="en-US" sz="3812" spc="381" strike="noStrike" u="none">
                <a:solidFill>
                  <a:srgbClr val="FFFFFF"/>
                </a:solidFill>
                <a:latin typeface="Arimo"/>
                <a:ea typeface="Arimo"/>
                <a:cs typeface="Arimo"/>
                <a:sym typeface="Arimo"/>
              </a:rPr>
              <a:t>.</a:t>
            </a:r>
          </a:p>
          <a:p>
            <a:pPr algn="l" marL="823058" indent="-411529" lvl="1">
              <a:lnSpc>
                <a:spcPts val="4040"/>
              </a:lnSpc>
              <a:buFont typeface="Arial"/>
              <a:buChar char="•"/>
            </a:pPr>
            <a:r>
              <a:rPr lang="en-US" sz="3812" spc="381" strike="noStrike" u="none">
                <a:solidFill>
                  <a:srgbClr val="FFFFFF"/>
                </a:solidFill>
                <a:latin typeface="Arimo"/>
                <a:ea typeface="Arimo"/>
                <a:cs typeface="Arimo"/>
                <a:sym typeface="Arimo"/>
              </a:rPr>
              <a:t>K</a:t>
            </a:r>
            <a:r>
              <a:rPr lang="en-US" sz="3812" spc="381" strike="noStrike" u="none">
                <a:solidFill>
                  <a:srgbClr val="FFFFFF"/>
                </a:solidFill>
                <a:latin typeface="Arimo"/>
                <a:ea typeface="Arimo"/>
                <a:cs typeface="Arimo"/>
                <a:sym typeface="Arimo"/>
              </a:rPr>
              <a:t>i</a:t>
            </a:r>
            <a:r>
              <a:rPr lang="en-US" sz="3812" spc="381" strike="noStrike" u="none">
                <a:solidFill>
                  <a:srgbClr val="FFFFFF"/>
                </a:solidFill>
                <a:latin typeface="Arimo"/>
                <a:ea typeface="Arimo"/>
                <a:cs typeface="Arimo"/>
                <a:sym typeface="Arimo"/>
              </a:rPr>
              <a:t>ểm</a:t>
            </a:r>
            <a:r>
              <a:rPr lang="en-US" sz="3812" spc="381" strike="noStrike" u="none">
                <a:solidFill>
                  <a:srgbClr val="FFFFFF"/>
                </a:solidFill>
                <a:latin typeface="Arimo"/>
                <a:ea typeface="Arimo"/>
                <a:cs typeface="Arimo"/>
                <a:sym typeface="Arimo"/>
              </a:rPr>
              <a:t> th</a:t>
            </a:r>
            <a:r>
              <a:rPr lang="en-US" sz="3812" spc="381" strike="noStrike" u="none">
                <a:solidFill>
                  <a:srgbClr val="FFFFFF"/>
                </a:solidFill>
                <a:latin typeface="Arimo"/>
                <a:ea typeface="Arimo"/>
                <a:cs typeface="Arimo"/>
                <a:sym typeface="Arimo"/>
              </a:rPr>
              <a:t>ử</a:t>
            </a:r>
            <a:r>
              <a:rPr lang="en-US" sz="3812" spc="381" strike="noStrike" u="none">
                <a:solidFill>
                  <a:srgbClr val="FFFFFF"/>
                </a:solidFill>
                <a:latin typeface="Arimo"/>
                <a:ea typeface="Arimo"/>
                <a:cs typeface="Arimo"/>
                <a:sym typeface="Arimo"/>
              </a:rPr>
              <a:t> hiệ</a:t>
            </a:r>
            <a:r>
              <a:rPr lang="en-US" sz="3812" spc="381" strike="noStrike" u="none">
                <a:solidFill>
                  <a:srgbClr val="FFFFFF"/>
                </a:solidFill>
                <a:latin typeface="Arimo"/>
                <a:ea typeface="Arimo"/>
                <a:cs typeface="Arimo"/>
                <a:sym typeface="Arimo"/>
              </a:rPr>
              <a:t>u</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suấ</a:t>
            </a:r>
            <a:r>
              <a:rPr lang="en-US" sz="3812" spc="381" strike="noStrike" u="none">
                <a:solidFill>
                  <a:srgbClr val="FFFFFF"/>
                </a:solidFill>
                <a:latin typeface="Arimo"/>
                <a:ea typeface="Arimo"/>
                <a:cs typeface="Arimo"/>
                <a:sym typeface="Arimo"/>
              </a:rPr>
              <a:t>t</a:t>
            </a:r>
            <a:r>
              <a:rPr lang="en-US" sz="3812" spc="381" strike="noStrike" u="none">
                <a:solidFill>
                  <a:srgbClr val="FFFFFF"/>
                </a:solidFill>
                <a:latin typeface="Arimo"/>
                <a:ea typeface="Arimo"/>
                <a:cs typeface="Arimo"/>
                <a:sym typeface="Arimo"/>
              </a:rPr>
              <a:t>:</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Tả</a:t>
            </a:r>
            <a:r>
              <a:rPr lang="en-US" sz="3812" spc="381" strike="noStrike" u="none">
                <a:solidFill>
                  <a:srgbClr val="FFFFFF"/>
                </a:solidFill>
                <a:latin typeface="Arimo"/>
                <a:ea typeface="Arimo"/>
                <a:cs typeface="Arimo"/>
                <a:sym typeface="Arimo"/>
              </a:rPr>
              <a:t>i đ</a:t>
            </a:r>
            <a:r>
              <a:rPr lang="en-US" sz="3812" spc="381" strike="noStrike" u="none">
                <a:solidFill>
                  <a:srgbClr val="FFFFFF"/>
                </a:solidFill>
                <a:latin typeface="Arimo"/>
                <a:ea typeface="Arimo"/>
                <a:cs typeface="Arimo"/>
                <a:sym typeface="Arimo"/>
              </a:rPr>
              <a:t>ồ</a:t>
            </a:r>
            <a:r>
              <a:rPr lang="en-US" sz="3812" spc="381" strike="noStrike" u="none">
                <a:solidFill>
                  <a:srgbClr val="FFFFFF"/>
                </a:solidFill>
                <a:latin typeface="Arimo"/>
                <a:ea typeface="Arimo"/>
                <a:cs typeface="Arimo"/>
                <a:sym typeface="Arimo"/>
              </a:rPr>
              <a:t>n</a:t>
            </a:r>
            <a:r>
              <a:rPr lang="en-US" sz="3812" spc="381" strike="noStrike" u="none">
                <a:solidFill>
                  <a:srgbClr val="FFFFFF"/>
                </a:solidFill>
                <a:latin typeface="Arimo"/>
                <a:ea typeface="Arimo"/>
                <a:cs typeface="Arimo"/>
                <a:sym typeface="Arimo"/>
              </a:rPr>
              <a:t>g</a:t>
            </a:r>
            <a:r>
              <a:rPr lang="en-US" sz="3812" spc="381" strike="noStrike" u="none">
                <a:solidFill>
                  <a:srgbClr val="FFFFFF"/>
                </a:solidFill>
                <a:latin typeface="Arimo"/>
                <a:ea typeface="Arimo"/>
                <a:cs typeface="Arimo"/>
                <a:sym typeface="Arimo"/>
              </a:rPr>
              <a:t> t</a:t>
            </a:r>
            <a:r>
              <a:rPr lang="en-US" sz="3812" spc="381" strike="noStrike" u="none">
                <a:solidFill>
                  <a:srgbClr val="FFFFFF"/>
                </a:solidFill>
                <a:latin typeface="Arimo"/>
                <a:ea typeface="Arimo"/>
                <a:cs typeface="Arimo"/>
                <a:sym typeface="Arimo"/>
              </a:rPr>
              <a:t>hời</a:t>
            </a:r>
            <a:r>
              <a:rPr lang="en-US" sz="3812" spc="381" strike="noStrike" u="none">
                <a:solidFill>
                  <a:srgbClr val="FFFFFF"/>
                </a:solidFill>
                <a:latin typeface="Arimo"/>
                <a:ea typeface="Arimo"/>
                <a:cs typeface="Arimo"/>
                <a:sym typeface="Arimo"/>
              </a:rPr>
              <a:t>, t</a:t>
            </a:r>
            <a:r>
              <a:rPr lang="en-US" sz="3812" spc="381" strike="noStrike" u="none">
                <a:solidFill>
                  <a:srgbClr val="FFFFFF"/>
                </a:solidFill>
                <a:latin typeface="Arimo"/>
                <a:ea typeface="Arimo"/>
                <a:cs typeface="Arimo"/>
                <a:sym typeface="Arimo"/>
              </a:rPr>
              <a:t>ru</a:t>
            </a:r>
            <a:r>
              <a:rPr lang="en-US" sz="3812" spc="381" strike="noStrike" u="none">
                <a:solidFill>
                  <a:srgbClr val="FFFFFF"/>
                </a:solidFill>
                <a:latin typeface="Arimo"/>
                <a:ea typeface="Arimo"/>
                <a:cs typeface="Arimo"/>
                <a:sym typeface="Arimo"/>
              </a:rPr>
              <a:t>y v</a:t>
            </a:r>
            <a:r>
              <a:rPr lang="en-US" sz="3812" spc="381" strike="noStrike" u="none">
                <a:solidFill>
                  <a:srgbClr val="FFFFFF"/>
                </a:solidFill>
                <a:latin typeface="Arimo"/>
                <a:ea typeface="Arimo"/>
                <a:cs typeface="Arimo"/>
                <a:sym typeface="Arimo"/>
              </a:rPr>
              <a:t>ấ</a:t>
            </a:r>
            <a:r>
              <a:rPr lang="en-US" sz="3812" spc="381" strike="noStrike" u="none">
                <a:solidFill>
                  <a:srgbClr val="FFFFFF"/>
                </a:solidFill>
                <a:latin typeface="Arimo"/>
                <a:ea typeface="Arimo"/>
                <a:cs typeface="Arimo"/>
                <a:sym typeface="Arimo"/>
              </a:rPr>
              <a:t>n</a:t>
            </a:r>
            <a:r>
              <a:rPr lang="en-US" sz="3812" spc="381" strike="noStrike" u="none">
                <a:solidFill>
                  <a:srgbClr val="FFFFFF"/>
                </a:solidFill>
                <a:latin typeface="Arimo"/>
                <a:ea typeface="Arimo"/>
                <a:cs typeface="Arimo"/>
                <a:sym typeface="Arimo"/>
              </a:rPr>
              <a:t> g</a:t>
            </a:r>
            <a:r>
              <a:rPr lang="en-US" sz="3812" spc="381" strike="noStrike" u="none">
                <a:solidFill>
                  <a:srgbClr val="FFFFFF"/>
                </a:solidFill>
                <a:latin typeface="Arimo"/>
                <a:ea typeface="Arimo"/>
                <a:cs typeface="Arimo"/>
                <a:sym typeface="Arimo"/>
              </a:rPr>
              <a:t>i</a:t>
            </a:r>
            <a:r>
              <a:rPr lang="en-US" sz="3812" spc="381" strike="noStrike" u="none">
                <a:solidFill>
                  <a:srgbClr val="FFFFFF"/>
                </a:solidFill>
                <a:latin typeface="Arimo"/>
                <a:ea typeface="Arimo"/>
                <a:cs typeface="Arimo"/>
                <a:sym typeface="Arimo"/>
              </a:rPr>
              <a:t>ờ</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ca</a:t>
            </a:r>
            <a:r>
              <a:rPr lang="en-US" sz="3812" spc="381" strike="noStrike" u="none">
                <a:solidFill>
                  <a:srgbClr val="FFFFFF"/>
                </a:solidFill>
                <a:latin typeface="Arimo"/>
                <a:ea typeface="Arimo"/>
                <a:cs typeface="Arimo"/>
                <a:sym typeface="Arimo"/>
              </a:rPr>
              <a:t>o</a:t>
            </a:r>
            <a:r>
              <a:rPr lang="en-US" sz="3812" spc="381" strike="noStrike" u="none">
                <a:solidFill>
                  <a:srgbClr val="FFFFFF"/>
                </a:solidFill>
                <a:latin typeface="Arimo"/>
                <a:ea typeface="Arimo"/>
                <a:cs typeface="Arimo"/>
                <a:sym typeface="Arimo"/>
              </a:rPr>
              <a:t> đ</a:t>
            </a:r>
            <a:r>
              <a:rPr lang="en-US" sz="3812" spc="381" strike="noStrike" u="none">
                <a:solidFill>
                  <a:srgbClr val="FFFFFF"/>
                </a:solidFill>
                <a:latin typeface="Arimo"/>
                <a:ea typeface="Arimo"/>
                <a:cs typeface="Arimo"/>
                <a:sym typeface="Arimo"/>
              </a:rPr>
              <a:t>i</a:t>
            </a:r>
            <a:r>
              <a:rPr lang="en-US" sz="3812" spc="381" strike="noStrike" u="none">
                <a:solidFill>
                  <a:srgbClr val="FFFFFF"/>
                </a:solidFill>
                <a:latin typeface="Arimo"/>
                <a:ea typeface="Arimo"/>
                <a:cs typeface="Arimo"/>
                <a:sym typeface="Arimo"/>
              </a:rPr>
              <a:t>ể</a:t>
            </a:r>
            <a:r>
              <a:rPr lang="en-US" sz="3812" spc="381" strike="noStrike" u="none">
                <a:solidFill>
                  <a:srgbClr val="FFFFFF"/>
                </a:solidFill>
                <a:latin typeface="Arimo"/>
                <a:ea typeface="Arimo"/>
                <a:cs typeface="Arimo"/>
                <a:sym typeface="Arimo"/>
              </a:rPr>
              <a:t>m</a:t>
            </a:r>
            <a:r>
              <a:rPr lang="en-US" sz="3812" spc="381" strike="noStrike" u="none">
                <a:solidFill>
                  <a:srgbClr val="FFFFFF"/>
                </a:solidFill>
                <a:latin typeface="Arimo"/>
                <a:ea typeface="Arimo"/>
                <a:cs typeface="Arimo"/>
                <a:sym typeface="Arimo"/>
              </a:rPr>
              <a:t> → So</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sán</a:t>
            </a:r>
            <a:r>
              <a:rPr lang="en-US" sz="3812" spc="381" strike="noStrike" u="none">
                <a:solidFill>
                  <a:srgbClr val="FFFFFF"/>
                </a:solidFill>
                <a:latin typeface="Arimo"/>
                <a:ea typeface="Arimo"/>
                <a:cs typeface="Arimo"/>
                <a:sym typeface="Arimo"/>
              </a:rPr>
              <a:t>h h</a:t>
            </a:r>
            <a:r>
              <a:rPr lang="en-US" sz="3812" spc="381" strike="noStrike" u="none">
                <a:solidFill>
                  <a:srgbClr val="FFFFFF"/>
                </a:solidFill>
                <a:latin typeface="Arimo"/>
                <a:ea typeface="Arimo"/>
                <a:cs typeface="Arimo"/>
                <a:sym typeface="Arimo"/>
              </a:rPr>
              <a:t>iệu</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suấ</a:t>
            </a:r>
            <a:r>
              <a:rPr lang="en-US" sz="3812" spc="381" strike="noStrike" u="none">
                <a:solidFill>
                  <a:srgbClr val="FFFFFF"/>
                </a:solidFill>
                <a:latin typeface="Arimo"/>
                <a:ea typeface="Arimo"/>
                <a:cs typeface="Arimo"/>
                <a:sym typeface="Arimo"/>
              </a:rPr>
              <a:t>t tr</a:t>
            </a:r>
            <a:r>
              <a:rPr lang="en-US" sz="3812" spc="381" strike="noStrike" u="none">
                <a:solidFill>
                  <a:srgbClr val="FFFFFF"/>
                </a:solidFill>
                <a:latin typeface="Arimo"/>
                <a:ea typeface="Arimo"/>
                <a:cs typeface="Arimo"/>
                <a:sym typeface="Arimo"/>
              </a:rPr>
              <a:t>ước/sa</a:t>
            </a:r>
            <a:r>
              <a:rPr lang="en-US" sz="3812" spc="381" strike="noStrike" u="none">
                <a:solidFill>
                  <a:srgbClr val="FFFFFF"/>
                </a:solidFill>
                <a:latin typeface="Arimo"/>
                <a:ea typeface="Arimo"/>
                <a:cs typeface="Arimo"/>
                <a:sym typeface="Arimo"/>
              </a:rPr>
              <a:t>u</a:t>
            </a:r>
            <a:r>
              <a:rPr lang="en-US" sz="3812" spc="381" strike="noStrike" u="none">
                <a:solidFill>
                  <a:srgbClr val="FFFFFF"/>
                </a:solidFill>
                <a:latin typeface="Arimo"/>
                <a:ea typeface="Arimo"/>
                <a:cs typeface="Arimo"/>
                <a:sym typeface="Arimo"/>
              </a:rPr>
              <a:t> dùng Prox</a:t>
            </a:r>
            <a:r>
              <a:rPr lang="en-US" sz="3812" spc="381" strike="noStrike" u="none">
                <a:solidFill>
                  <a:srgbClr val="FFFFFF"/>
                </a:solidFill>
                <a:latin typeface="Arimo"/>
                <a:ea typeface="Arimo"/>
                <a:cs typeface="Arimo"/>
                <a:sym typeface="Arimo"/>
              </a:rPr>
              <a:t>y</a:t>
            </a:r>
            <a:r>
              <a:rPr lang="en-US" sz="3812" spc="381" strike="noStrike" u="none">
                <a:solidFill>
                  <a:srgbClr val="FFFFFF"/>
                </a:solidFill>
                <a:latin typeface="Arimo"/>
                <a:ea typeface="Arimo"/>
                <a:cs typeface="Arimo"/>
                <a:sym typeface="Arimo"/>
              </a:rPr>
              <a:t>,</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đá</a:t>
            </a:r>
            <a:r>
              <a:rPr lang="en-US" sz="3812" spc="381" strike="noStrike" u="none">
                <a:solidFill>
                  <a:srgbClr val="FFFFFF"/>
                </a:solidFill>
                <a:latin typeface="Arimo"/>
                <a:ea typeface="Arimo"/>
                <a:cs typeface="Arimo"/>
                <a:sym typeface="Arimo"/>
              </a:rPr>
              <a:t>n</a:t>
            </a:r>
            <a:r>
              <a:rPr lang="en-US" sz="3812" spc="381" strike="noStrike" u="none">
                <a:solidFill>
                  <a:srgbClr val="FFFFFF"/>
                </a:solidFill>
                <a:latin typeface="Arimo"/>
                <a:ea typeface="Arimo"/>
                <a:cs typeface="Arimo"/>
                <a:sym typeface="Arimo"/>
              </a:rPr>
              <a:t>h</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giá kh</a:t>
            </a:r>
            <a:r>
              <a:rPr lang="en-US" sz="3812" spc="381" strike="noStrike" u="none">
                <a:solidFill>
                  <a:srgbClr val="FFFFFF"/>
                </a:solidFill>
                <a:latin typeface="Arimo"/>
                <a:ea typeface="Arimo"/>
                <a:cs typeface="Arimo"/>
                <a:sym typeface="Arimo"/>
              </a:rPr>
              <a:t>ả</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n</a:t>
            </a:r>
            <a:r>
              <a:rPr lang="en-US" sz="3812" spc="381" strike="noStrike" u="none">
                <a:solidFill>
                  <a:srgbClr val="FFFFFF"/>
                </a:solidFill>
                <a:latin typeface="Arimo"/>
                <a:ea typeface="Arimo"/>
                <a:cs typeface="Arimo"/>
                <a:sym typeface="Arimo"/>
              </a:rPr>
              <a:t>ăng</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m</a:t>
            </a:r>
            <a:r>
              <a:rPr lang="en-US" sz="3812" spc="381" strike="noStrike" u="none">
                <a:solidFill>
                  <a:srgbClr val="FFFFFF"/>
                </a:solidFill>
                <a:latin typeface="Arimo"/>
                <a:ea typeface="Arimo"/>
                <a:cs typeface="Arimo"/>
                <a:sym typeface="Arimo"/>
              </a:rPr>
              <a:t>ở</a:t>
            </a:r>
            <a:r>
              <a:rPr lang="en-US" sz="3812" spc="381" strike="noStrike" u="none">
                <a:solidFill>
                  <a:srgbClr val="FFFFFF"/>
                </a:solidFill>
                <a:latin typeface="Arimo"/>
                <a:ea typeface="Arimo"/>
                <a:cs typeface="Arimo"/>
                <a:sym typeface="Arimo"/>
              </a:rPr>
              <a:t> rộ</a:t>
            </a:r>
            <a:r>
              <a:rPr lang="en-US" sz="3812" spc="381" strike="noStrike" u="none">
                <a:solidFill>
                  <a:srgbClr val="FFFFFF"/>
                </a:solidFill>
                <a:latin typeface="Arimo"/>
                <a:ea typeface="Arimo"/>
                <a:cs typeface="Arimo"/>
                <a:sym typeface="Arimo"/>
              </a:rPr>
              <a:t>ng</a:t>
            </a:r>
            <a:r>
              <a:rPr lang="en-US" sz="3812" spc="381" strike="noStrike" u="none">
                <a:solidFill>
                  <a:srgbClr val="FFFFFF"/>
                </a:solidFill>
                <a:latin typeface="Arimo"/>
                <a:ea typeface="Arimo"/>
                <a:cs typeface="Arimo"/>
                <a:sym typeface="Arimo"/>
              </a:rPr>
              <a:t>.</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Dùng JMe</a:t>
            </a:r>
            <a:r>
              <a:rPr lang="en-US" sz="3812" spc="381" strike="noStrike" u="none">
                <a:solidFill>
                  <a:srgbClr val="FFFFFF"/>
                </a:solidFill>
                <a:latin typeface="Arimo"/>
                <a:ea typeface="Arimo"/>
                <a:cs typeface="Arimo"/>
                <a:sym typeface="Arimo"/>
              </a:rPr>
              <a:t>t</a:t>
            </a:r>
            <a:r>
              <a:rPr lang="en-US" sz="3812" spc="381" strike="noStrike" u="none">
                <a:solidFill>
                  <a:srgbClr val="FFFFFF"/>
                </a:solidFill>
                <a:latin typeface="Arimo"/>
                <a:ea typeface="Arimo"/>
                <a:cs typeface="Arimo"/>
                <a:sym typeface="Arimo"/>
              </a:rPr>
              <a:t>e</a:t>
            </a:r>
            <a:r>
              <a:rPr lang="en-US" sz="3812" spc="381" strike="noStrike" u="none">
                <a:solidFill>
                  <a:srgbClr val="FFFFFF"/>
                </a:solidFill>
                <a:latin typeface="Arimo"/>
                <a:ea typeface="Arimo"/>
                <a:cs typeface="Arimo"/>
                <a:sym typeface="Arimo"/>
              </a:rPr>
              <a:t>r</a:t>
            </a:r>
            <a:r>
              <a:rPr lang="en-US" sz="3812" spc="381" strike="noStrike" u="none">
                <a:solidFill>
                  <a:srgbClr val="FFFFFF"/>
                </a:solidFill>
                <a:latin typeface="Arimo"/>
                <a:ea typeface="Arimo"/>
                <a:cs typeface="Arimo"/>
                <a:sym typeface="Arimo"/>
              </a:rPr>
              <a:t>,</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k6.</a:t>
            </a:r>
          </a:p>
          <a:p>
            <a:pPr algn="l" marL="823058" indent="-411529" lvl="1">
              <a:lnSpc>
                <a:spcPts val="4040"/>
              </a:lnSpc>
              <a:buFont typeface="Arial"/>
              <a:buChar char="•"/>
            </a:pPr>
            <a:r>
              <a:rPr lang="en-US" sz="3812" spc="381" strike="noStrike" u="none">
                <a:solidFill>
                  <a:srgbClr val="FFFFFF"/>
                </a:solidFill>
                <a:latin typeface="Arimo"/>
                <a:ea typeface="Arimo"/>
                <a:cs typeface="Arimo"/>
                <a:sym typeface="Arimo"/>
              </a:rPr>
              <a:t>K</a:t>
            </a:r>
            <a:r>
              <a:rPr lang="en-US" sz="3812" spc="381" strike="noStrike" u="none">
                <a:solidFill>
                  <a:srgbClr val="FFFFFF"/>
                </a:solidFill>
                <a:latin typeface="Arimo"/>
                <a:ea typeface="Arimo"/>
                <a:cs typeface="Arimo"/>
                <a:sym typeface="Arimo"/>
              </a:rPr>
              <a:t>i</a:t>
            </a:r>
            <a:r>
              <a:rPr lang="en-US" sz="3812" spc="381" strike="noStrike" u="none">
                <a:solidFill>
                  <a:srgbClr val="FFFFFF"/>
                </a:solidFill>
                <a:latin typeface="Arimo"/>
                <a:ea typeface="Arimo"/>
                <a:cs typeface="Arimo"/>
                <a:sym typeface="Arimo"/>
              </a:rPr>
              <a:t>ểm</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t</a:t>
            </a:r>
            <a:r>
              <a:rPr lang="en-US" sz="3812" spc="381" strike="noStrike" u="none">
                <a:solidFill>
                  <a:srgbClr val="FFFFFF"/>
                </a:solidFill>
                <a:latin typeface="Arimo"/>
                <a:ea typeface="Arimo"/>
                <a:cs typeface="Arimo"/>
                <a:sym typeface="Arimo"/>
              </a:rPr>
              <a:t>h</a:t>
            </a:r>
            <a:r>
              <a:rPr lang="en-US" sz="3812" spc="381" strike="noStrike" u="none">
                <a:solidFill>
                  <a:srgbClr val="FFFFFF"/>
                </a:solidFill>
                <a:latin typeface="Arimo"/>
                <a:ea typeface="Arimo"/>
                <a:cs typeface="Arimo"/>
                <a:sym typeface="Arimo"/>
              </a:rPr>
              <a:t>ử</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c</a:t>
            </a:r>
            <a:r>
              <a:rPr lang="en-US" sz="3812" spc="381" strike="noStrike" u="none">
                <a:solidFill>
                  <a:srgbClr val="FFFFFF"/>
                </a:solidFill>
                <a:latin typeface="Arimo"/>
                <a:ea typeface="Arimo"/>
                <a:cs typeface="Arimo"/>
                <a:sym typeface="Arimo"/>
              </a:rPr>
              <a:t>huy</a:t>
            </a:r>
            <a:r>
              <a:rPr lang="en-US" sz="3812" spc="381" strike="noStrike" u="none">
                <a:solidFill>
                  <a:srgbClr val="FFFFFF"/>
                </a:solidFill>
                <a:latin typeface="Arimo"/>
                <a:ea typeface="Arimo"/>
                <a:cs typeface="Arimo"/>
                <a:sym typeface="Arimo"/>
              </a:rPr>
              <a:t>ển</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đổi</a:t>
            </a:r>
            <a:r>
              <a:rPr lang="en-US" sz="3812" spc="381" strike="noStrike" u="none">
                <a:solidFill>
                  <a:srgbClr val="FFFFFF"/>
                </a:solidFill>
                <a:latin typeface="Arimo"/>
                <a:ea typeface="Arimo"/>
                <a:cs typeface="Arimo"/>
                <a:sym typeface="Arimo"/>
              </a:rPr>
              <a:t> d</a:t>
            </a:r>
            <a:r>
              <a:rPr lang="en-US" sz="3812" spc="381" strike="noStrike" u="none">
                <a:solidFill>
                  <a:srgbClr val="FFFFFF"/>
                </a:solidFill>
                <a:latin typeface="Arimo"/>
                <a:ea typeface="Arimo"/>
                <a:cs typeface="Arimo"/>
                <a:sym typeface="Arimo"/>
              </a:rPr>
              <a:t>ự p</a:t>
            </a:r>
            <a:r>
              <a:rPr lang="en-US" sz="3812" spc="381" strike="noStrike" u="none">
                <a:solidFill>
                  <a:srgbClr val="FFFFFF"/>
                </a:solidFill>
                <a:latin typeface="Arimo"/>
                <a:ea typeface="Arimo"/>
                <a:cs typeface="Arimo"/>
                <a:sym typeface="Arimo"/>
              </a:rPr>
              <a:t>h</a:t>
            </a:r>
            <a:r>
              <a:rPr lang="en-US" sz="3812" spc="381" strike="noStrike" u="none">
                <a:solidFill>
                  <a:srgbClr val="FFFFFF"/>
                </a:solidFill>
                <a:latin typeface="Arimo"/>
                <a:ea typeface="Arimo"/>
                <a:cs typeface="Arimo"/>
                <a:sym typeface="Arimo"/>
              </a:rPr>
              <a:t>òng:</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Mô</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phỏ</a:t>
            </a:r>
            <a:r>
              <a:rPr lang="en-US" sz="3812" spc="381" strike="noStrike" u="none">
                <a:solidFill>
                  <a:srgbClr val="FFFFFF"/>
                </a:solidFill>
                <a:latin typeface="Arimo"/>
                <a:ea typeface="Arimo"/>
                <a:cs typeface="Arimo"/>
                <a:sym typeface="Arimo"/>
              </a:rPr>
              <a:t>ng l</a:t>
            </a:r>
            <a:r>
              <a:rPr lang="en-US" sz="3812" spc="381" strike="noStrike" u="none">
                <a:solidFill>
                  <a:srgbClr val="FFFFFF"/>
                </a:solidFill>
                <a:latin typeface="Arimo"/>
                <a:ea typeface="Arimo"/>
                <a:cs typeface="Arimo"/>
                <a:sym typeface="Arimo"/>
              </a:rPr>
              <a:t>ỗ</a:t>
            </a:r>
            <a:r>
              <a:rPr lang="en-US" sz="3812" spc="381" strike="noStrike" u="none">
                <a:solidFill>
                  <a:srgbClr val="FFFFFF"/>
                </a:solidFill>
                <a:latin typeface="Arimo"/>
                <a:ea typeface="Arimo"/>
                <a:cs typeface="Arimo"/>
                <a:sym typeface="Arimo"/>
              </a:rPr>
              <a:t>i</a:t>
            </a:r>
            <a:r>
              <a:rPr lang="en-US" sz="3812" spc="381" strike="noStrike" u="none">
                <a:solidFill>
                  <a:srgbClr val="FFFFFF"/>
                </a:solidFill>
                <a:latin typeface="Arimo"/>
                <a:ea typeface="Arimo"/>
                <a:cs typeface="Arimo"/>
                <a:sym typeface="Arimo"/>
              </a:rPr>
              <a:t> DB chí</a:t>
            </a:r>
            <a:r>
              <a:rPr lang="en-US" sz="3812" spc="381" strike="noStrike" u="none">
                <a:solidFill>
                  <a:srgbClr val="FFFFFF"/>
                </a:solidFill>
                <a:latin typeface="Arimo"/>
                <a:ea typeface="Arimo"/>
                <a:cs typeface="Arimo"/>
                <a:sym typeface="Arimo"/>
              </a:rPr>
              <a:t>nh </a:t>
            </a:r>
            <a:r>
              <a:rPr lang="en-US" sz="3812" spc="381" strike="noStrike" u="none">
                <a:solidFill>
                  <a:srgbClr val="FFFFFF"/>
                </a:solidFill>
                <a:latin typeface="Arimo"/>
                <a:ea typeface="Arimo"/>
                <a:cs typeface="Arimo"/>
                <a:sym typeface="Arimo"/>
              </a:rPr>
              <a:t>(Mul</a:t>
            </a:r>
            <a:r>
              <a:rPr lang="en-US" sz="3812" spc="381" strike="noStrike" u="none">
                <a:solidFill>
                  <a:srgbClr val="FFFFFF"/>
                </a:solidFill>
                <a:latin typeface="Arimo"/>
                <a:ea typeface="Arimo"/>
                <a:cs typeface="Arimo"/>
                <a:sym typeface="Arimo"/>
              </a:rPr>
              <a:t>t</a:t>
            </a:r>
            <a:r>
              <a:rPr lang="en-US" sz="3812" spc="381" strike="noStrike" u="none">
                <a:solidFill>
                  <a:srgbClr val="FFFFFF"/>
                </a:solidFill>
                <a:latin typeface="Arimo"/>
                <a:ea typeface="Arimo"/>
                <a:cs typeface="Arimo"/>
                <a:sym typeface="Arimo"/>
              </a:rPr>
              <a:t>i-AZ)</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Đảm</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bảo</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R</a:t>
            </a:r>
            <a:r>
              <a:rPr lang="en-US" sz="3812" spc="381" strike="noStrike" u="none">
                <a:solidFill>
                  <a:srgbClr val="FFFFFF"/>
                </a:solidFill>
                <a:latin typeface="Arimo"/>
                <a:ea typeface="Arimo"/>
                <a:cs typeface="Arimo"/>
                <a:sym typeface="Arimo"/>
              </a:rPr>
              <a:t>D</a:t>
            </a:r>
            <a:r>
              <a:rPr lang="en-US" sz="3812" spc="381" strike="noStrike" u="none">
                <a:solidFill>
                  <a:srgbClr val="FFFFFF"/>
                </a:solidFill>
                <a:latin typeface="Arimo"/>
                <a:ea typeface="Arimo"/>
                <a:cs typeface="Arimo"/>
                <a:sym typeface="Arimo"/>
              </a:rPr>
              <a:t>S</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Proxy</a:t>
            </a:r>
            <a:r>
              <a:rPr lang="en-US" sz="3812" spc="381" strike="noStrike" u="none">
                <a:solidFill>
                  <a:srgbClr val="FFFFFF"/>
                </a:solidFill>
                <a:latin typeface="Arimo"/>
                <a:ea typeface="Arimo"/>
                <a:cs typeface="Arimo"/>
                <a:sym typeface="Arimo"/>
              </a:rPr>
              <a:t> ch</a:t>
            </a:r>
            <a:r>
              <a:rPr lang="en-US" sz="3812" spc="381" strike="noStrike" u="none">
                <a:solidFill>
                  <a:srgbClr val="FFFFFF"/>
                </a:solidFill>
                <a:latin typeface="Arimo"/>
                <a:ea typeface="Arimo"/>
                <a:cs typeface="Arimo"/>
                <a:sym typeface="Arimo"/>
              </a:rPr>
              <a:t>uy</a:t>
            </a:r>
            <a:r>
              <a:rPr lang="en-US" sz="3812" spc="381" strike="noStrike" u="none">
                <a:solidFill>
                  <a:srgbClr val="FFFFFF"/>
                </a:solidFill>
                <a:latin typeface="Arimo"/>
                <a:ea typeface="Arimo"/>
                <a:cs typeface="Arimo"/>
                <a:sym typeface="Arimo"/>
              </a:rPr>
              <a:t>ể</a:t>
            </a:r>
            <a:r>
              <a:rPr lang="en-US" sz="3812" spc="381" strike="noStrike" u="none">
                <a:solidFill>
                  <a:srgbClr val="FFFFFF"/>
                </a:solidFill>
                <a:latin typeface="Arimo"/>
                <a:ea typeface="Arimo"/>
                <a:cs typeface="Arimo"/>
                <a:sym typeface="Arimo"/>
              </a:rPr>
              <a:t>n</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nh</a:t>
            </a:r>
            <a:r>
              <a:rPr lang="en-US" sz="3812" spc="381" strike="noStrike" u="none">
                <a:solidFill>
                  <a:srgbClr val="FFFFFF"/>
                </a:solidFill>
                <a:latin typeface="Arimo"/>
                <a:ea typeface="Arimo"/>
                <a:cs typeface="Arimo"/>
                <a:sym typeface="Arimo"/>
              </a:rPr>
              <a:t>a</a:t>
            </a:r>
            <a:r>
              <a:rPr lang="en-US" sz="3812" spc="381" strike="noStrike" u="none">
                <a:solidFill>
                  <a:srgbClr val="FFFFFF"/>
                </a:solidFill>
                <a:latin typeface="Arimo"/>
                <a:ea typeface="Arimo"/>
                <a:cs typeface="Arimo"/>
                <a:sym typeface="Arimo"/>
              </a:rPr>
              <a:t>nh</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(&lt;10s),</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khô</a:t>
            </a:r>
            <a:r>
              <a:rPr lang="en-US" sz="3812" spc="381" strike="noStrike" u="none">
                <a:solidFill>
                  <a:srgbClr val="FFFFFF"/>
                </a:solidFill>
                <a:latin typeface="Arimo"/>
                <a:ea typeface="Arimo"/>
                <a:cs typeface="Arimo"/>
                <a:sym typeface="Arimo"/>
              </a:rPr>
              <a:t>ng </a:t>
            </a:r>
            <a:r>
              <a:rPr lang="en-US" sz="3812" spc="381" strike="noStrike" u="none">
                <a:solidFill>
                  <a:srgbClr val="FFFFFF"/>
                </a:solidFill>
                <a:latin typeface="Arimo"/>
                <a:ea typeface="Arimo"/>
                <a:cs typeface="Arimo"/>
                <a:sym typeface="Arimo"/>
              </a:rPr>
              <a:t>gián</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đoạ</a:t>
            </a:r>
            <a:r>
              <a:rPr lang="en-US" sz="3812" spc="381" strike="noStrike" u="none">
                <a:solidFill>
                  <a:srgbClr val="FFFFFF"/>
                </a:solidFill>
                <a:latin typeface="Arimo"/>
                <a:ea typeface="Arimo"/>
                <a:cs typeface="Arimo"/>
                <a:sym typeface="Arimo"/>
              </a:rPr>
              <a:t>n</a:t>
            </a:r>
            <a:r>
              <a:rPr lang="en-US" sz="3812" spc="381" strike="noStrike" u="none">
                <a:solidFill>
                  <a:srgbClr val="FFFFFF"/>
                </a:solidFill>
                <a:latin typeface="Arimo"/>
                <a:ea typeface="Arimo"/>
                <a:cs typeface="Arimo"/>
                <a:sym typeface="Arimo"/>
              </a:rPr>
              <a:t>.</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Dùng</a:t>
            </a:r>
            <a:r>
              <a:rPr lang="en-US" sz="3812" spc="381" strike="noStrike" u="none">
                <a:solidFill>
                  <a:srgbClr val="FFFFFF"/>
                </a:solidFill>
                <a:latin typeface="Arimo"/>
                <a:ea typeface="Arimo"/>
                <a:cs typeface="Arimo"/>
                <a:sym typeface="Arimo"/>
              </a:rPr>
              <a:t> AWS </a:t>
            </a:r>
            <a:r>
              <a:rPr lang="en-US" sz="3812" spc="381" strike="noStrike" u="none">
                <a:solidFill>
                  <a:srgbClr val="FFFFFF"/>
                </a:solidFill>
                <a:latin typeface="Arimo"/>
                <a:ea typeface="Arimo"/>
                <a:cs typeface="Arimo"/>
                <a:sym typeface="Arimo"/>
              </a:rPr>
              <a:t>CLI,</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Clou</a:t>
            </a:r>
            <a:r>
              <a:rPr lang="en-US" sz="3812" spc="381" strike="noStrike" u="none">
                <a:solidFill>
                  <a:srgbClr val="FFFFFF"/>
                </a:solidFill>
                <a:latin typeface="Arimo"/>
                <a:ea typeface="Arimo"/>
                <a:cs typeface="Arimo"/>
                <a:sym typeface="Arimo"/>
              </a:rPr>
              <a:t>d</a:t>
            </a:r>
            <a:r>
              <a:rPr lang="en-US" sz="3812" spc="381" strike="noStrike" u="none">
                <a:solidFill>
                  <a:srgbClr val="FFFFFF"/>
                </a:solidFill>
                <a:latin typeface="Arimo"/>
                <a:ea typeface="Arimo"/>
                <a:cs typeface="Arimo"/>
                <a:sym typeface="Arimo"/>
              </a:rPr>
              <a:t>W</a:t>
            </a:r>
            <a:r>
              <a:rPr lang="en-US" sz="3812" spc="381" strike="noStrike" u="none">
                <a:solidFill>
                  <a:srgbClr val="FFFFFF"/>
                </a:solidFill>
                <a:latin typeface="Arimo"/>
                <a:ea typeface="Arimo"/>
                <a:cs typeface="Arimo"/>
                <a:sym typeface="Arimo"/>
              </a:rPr>
              <a:t>a</a:t>
            </a:r>
            <a:r>
              <a:rPr lang="en-US" sz="3812" spc="381" strike="noStrike" u="none">
                <a:solidFill>
                  <a:srgbClr val="FFFFFF"/>
                </a:solidFill>
                <a:latin typeface="Arimo"/>
                <a:ea typeface="Arimo"/>
                <a:cs typeface="Arimo"/>
                <a:sym typeface="Arimo"/>
              </a:rPr>
              <a:t>tc</a:t>
            </a:r>
            <a:r>
              <a:rPr lang="en-US" sz="3812" spc="381" strike="noStrike" u="none">
                <a:solidFill>
                  <a:srgbClr val="FFFFFF"/>
                </a:solidFill>
                <a:latin typeface="Arimo"/>
                <a:ea typeface="Arimo"/>
                <a:cs typeface="Arimo"/>
                <a:sym typeface="Arimo"/>
              </a:rPr>
              <a:t>h </a:t>
            </a:r>
            <a:r>
              <a:rPr lang="en-US" sz="3812" spc="381" strike="noStrike" u="none">
                <a:solidFill>
                  <a:srgbClr val="FFFFFF"/>
                </a:solidFill>
                <a:latin typeface="Arimo"/>
                <a:ea typeface="Arimo"/>
                <a:cs typeface="Arimo"/>
                <a:sym typeface="Arimo"/>
              </a:rPr>
              <a:t>Lo</a:t>
            </a:r>
            <a:r>
              <a:rPr lang="en-US" sz="3812" spc="381" strike="noStrike" u="none">
                <a:solidFill>
                  <a:srgbClr val="FFFFFF"/>
                </a:solidFill>
                <a:latin typeface="Arimo"/>
                <a:ea typeface="Arimo"/>
                <a:cs typeface="Arimo"/>
                <a:sym typeface="Arimo"/>
              </a:rPr>
              <a:t>g</a:t>
            </a:r>
            <a:r>
              <a:rPr lang="en-US" sz="3812" spc="381" strike="noStrike" u="none">
                <a:solidFill>
                  <a:srgbClr val="FFFFFF"/>
                </a:solidFill>
                <a:latin typeface="Arimo"/>
                <a:ea typeface="Arimo"/>
                <a:cs typeface="Arimo"/>
                <a:sym typeface="Arimo"/>
              </a:rPr>
              <a:t>s.</a:t>
            </a:r>
          </a:p>
          <a:p>
            <a:pPr algn="l" marL="823058" indent="-411529" lvl="1">
              <a:lnSpc>
                <a:spcPts val="4040"/>
              </a:lnSpc>
              <a:buFont typeface="Arial"/>
              <a:buChar char="•"/>
            </a:pPr>
            <a:r>
              <a:rPr lang="en-US" sz="3812" spc="381" strike="noStrike" u="none">
                <a:solidFill>
                  <a:srgbClr val="FFFFFF"/>
                </a:solidFill>
                <a:latin typeface="Arimo"/>
                <a:ea typeface="Arimo"/>
                <a:cs typeface="Arimo"/>
                <a:sym typeface="Arimo"/>
              </a:rPr>
              <a:t>K</a:t>
            </a:r>
            <a:r>
              <a:rPr lang="en-US" sz="3812" spc="381" strike="noStrike" u="none">
                <a:solidFill>
                  <a:srgbClr val="FFFFFF"/>
                </a:solidFill>
                <a:latin typeface="Arimo"/>
                <a:ea typeface="Arimo"/>
                <a:cs typeface="Arimo"/>
                <a:sym typeface="Arimo"/>
              </a:rPr>
              <a:t>i</a:t>
            </a:r>
            <a:r>
              <a:rPr lang="en-US" sz="3812" spc="381" strike="noStrike" u="none">
                <a:solidFill>
                  <a:srgbClr val="FFFFFF"/>
                </a:solidFill>
                <a:latin typeface="Arimo"/>
                <a:ea typeface="Arimo"/>
                <a:cs typeface="Arimo"/>
                <a:sym typeface="Arimo"/>
              </a:rPr>
              <a:t>ểm</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thử</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bảo</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mậ</a:t>
            </a:r>
            <a:r>
              <a:rPr lang="en-US" sz="3812" spc="381" strike="noStrike" u="none">
                <a:solidFill>
                  <a:srgbClr val="FFFFFF"/>
                </a:solidFill>
                <a:latin typeface="Arimo"/>
                <a:ea typeface="Arimo"/>
                <a:cs typeface="Arimo"/>
                <a:sym typeface="Arimo"/>
              </a:rPr>
              <a:t>t</a:t>
            </a:r>
            <a:r>
              <a:rPr lang="en-US" sz="3812" spc="381" strike="noStrike" u="none">
                <a:solidFill>
                  <a:srgbClr val="FFFFFF"/>
                </a:solidFill>
                <a:latin typeface="Arimo"/>
                <a:ea typeface="Arimo"/>
                <a:cs typeface="Arimo"/>
                <a:sym typeface="Arimo"/>
              </a:rPr>
              <a:t>: Đả</a:t>
            </a:r>
            <a:r>
              <a:rPr lang="en-US" sz="3812" spc="381" strike="noStrike" u="none">
                <a:solidFill>
                  <a:srgbClr val="FFFFFF"/>
                </a:solidFill>
                <a:latin typeface="Arimo"/>
                <a:ea typeface="Arimo"/>
                <a:cs typeface="Arimo"/>
                <a:sym typeface="Arimo"/>
              </a:rPr>
              <a:t>m </a:t>
            </a:r>
            <a:r>
              <a:rPr lang="en-US" sz="3812" spc="381" strike="noStrike" u="none">
                <a:solidFill>
                  <a:srgbClr val="FFFFFF"/>
                </a:solidFill>
                <a:latin typeface="Arimo"/>
                <a:ea typeface="Arimo"/>
                <a:cs typeface="Arimo"/>
                <a:sym typeface="Arimo"/>
              </a:rPr>
              <a:t>bảo IAM Role</a:t>
            </a:r>
            <a:r>
              <a:rPr lang="en-US" sz="3812" spc="381" strike="noStrike" u="none">
                <a:solidFill>
                  <a:srgbClr val="FFFFFF"/>
                </a:solidFill>
                <a:latin typeface="Arimo"/>
                <a:ea typeface="Arimo"/>
                <a:cs typeface="Arimo"/>
                <a:sym typeface="Arimo"/>
              </a:rPr>
              <a:t> t</a:t>
            </a:r>
            <a:r>
              <a:rPr lang="en-US" sz="3812" spc="381" strike="noStrike" u="none">
                <a:solidFill>
                  <a:srgbClr val="FFFFFF"/>
                </a:solidFill>
                <a:latin typeface="Arimo"/>
                <a:ea typeface="Arimo"/>
                <a:cs typeface="Arimo"/>
                <a:sym typeface="Arimo"/>
              </a:rPr>
              <a:t>ối</a:t>
            </a:r>
            <a:r>
              <a:rPr lang="en-US" sz="3812" spc="381" strike="noStrike" u="none">
                <a:solidFill>
                  <a:srgbClr val="FFFFFF"/>
                </a:solidFill>
                <a:latin typeface="Arimo"/>
                <a:ea typeface="Arimo"/>
                <a:cs typeface="Arimo"/>
                <a:sym typeface="Arimo"/>
              </a:rPr>
              <a:t> t</a:t>
            </a:r>
            <a:r>
              <a:rPr lang="en-US" sz="3812" spc="381" strike="noStrike" u="none">
                <a:solidFill>
                  <a:srgbClr val="FFFFFF"/>
                </a:solidFill>
                <a:latin typeface="Arimo"/>
                <a:ea typeface="Arimo"/>
                <a:cs typeface="Arimo"/>
                <a:sym typeface="Arimo"/>
              </a:rPr>
              <a:t>hiểu,</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se</a:t>
            </a:r>
            <a:r>
              <a:rPr lang="en-US" sz="3812" spc="381" strike="noStrike" u="none">
                <a:solidFill>
                  <a:srgbClr val="FFFFFF"/>
                </a:solidFill>
                <a:latin typeface="Arimo"/>
                <a:ea typeface="Arimo"/>
                <a:cs typeface="Arimo"/>
                <a:sym typeface="Arimo"/>
              </a:rPr>
              <a:t>c</a:t>
            </a:r>
            <a:r>
              <a:rPr lang="en-US" sz="3812" spc="381" strike="noStrike" u="none">
                <a:solidFill>
                  <a:srgbClr val="FFFFFF"/>
                </a:solidFill>
                <a:latin typeface="Arimo"/>
                <a:ea typeface="Arimo"/>
                <a:cs typeface="Arimo"/>
                <a:sym typeface="Arimo"/>
              </a:rPr>
              <a:t>re</a:t>
            </a:r>
            <a:r>
              <a:rPr lang="en-US" sz="3812" spc="381" strike="noStrike" u="none">
                <a:solidFill>
                  <a:srgbClr val="FFFFFF"/>
                </a:solidFill>
                <a:latin typeface="Arimo"/>
                <a:ea typeface="Arimo"/>
                <a:cs typeface="Arimo"/>
                <a:sym typeface="Arimo"/>
              </a:rPr>
              <a:t>t</a:t>
            </a:r>
            <a:r>
              <a:rPr lang="en-US" sz="3812" spc="381" strike="noStrike" u="none">
                <a:solidFill>
                  <a:srgbClr val="FFFFFF"/>
                </a:solidFill>
                <a:latin typeface="Arimo"/>
                <a:ea typeface="Arimo"/>
                <a:cs typeface="Arimo"/>
                <a:sym typeface="Arimo"/>
              </a:rPr>
              <a:t>s</a:t>
            </a:r>
            <a:r>
              <a:rPr lang="en-US" sz="3812" spc="381" strike="noStrike" u="none">
                <a:solidFill>
                  <a:srgbClr val="FFFFFF"/>
                </a:solidFill>
                <a:latin typeface="Arimo"/>
                <a:ea typeface="Arimo"/>
                <a:cs typeface="Arimo"/>
                <a:sym typeface="Arimo"/>
              </a:rPr>
              <a:t> không </a:t>
            </a:r>
            <a:r>
              <a:rPr lang="en-US" sz="3812" spc="381" strike="noStrike" u="none">
                <a:solidFill>
                  <a:srgbClr val="FFFFFF"/>
                </a:solidFill>
                <a:latin typeface="Arimo"/>
                <a:ea typeface="Arimo"/>
                <a:cs typeface="Arimo"/>
                <a:sym typeface="Arimo"/>
              </a:rPr>
              <a:t>bị</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lộ</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 T</a:t>
            </a:r>
            <a:r>
              <a:rPr lang="en-US" sz="3812" spc="381" strike="noStrike" u="none">
                <a:solidFill>
                  <a:srgbClr val="FFFFFF"/>
                </a:solidFill>
                <a:latin typeface="Arimo"/>
                <a:ea typeface="Arimo"/>
                <a:cs typeface="Arimo"/>
                <a:sym typeface="Arimo"/>
              </a:rPr>
              <a:t>u</a:t>
            </a:r>
            <a:r>
              <a:rPr lang="en-US" sz="3812" spc="381" strike="noStrike" u="none">
                <a:solidFill>
                  <a:srgbClr val="FFFFFF"/>
                </a:solidFill>
                <a:latin typeface="Arimo"/>
                <a:ea typeface="Arimo"/>
                <a:cs typeface="Arimo"/>
                <a:sym typeface="Arimo"/>
              </a:rPr>
              <a:t>ân</a:t>
            </a:r>
            <a:r>
              <a:rPr lang="en-US" sz="3812" spc="381" strike="noStrike" u="none">
                <a:solidFill>
                  <a:srgbClr val="FFFFFF"/>
                </a:solidFill>
                <a:latin typeface="Arimo"/>
                <a:ea typeface="Arimo"/>
                <a:cs typeface="Arimo"/>
                <a:sym typeface="Arimo"/>
              </a:rPr>
              <a:t> th</a:t>
            </a:r>
            <a:r>
              <a:rPr lang="en-US" sz="3812" spc="381" strike="noStrike" u="none">
                <a:solidFill>
                  <a:srgbClr val="FFFFFF"/>
                </a:solidFill>
                <a:latin typeface="Arimo"/>
                <a:ea typeface="Arimo"/>
                <a:cs typeface="Arimo"/>
                <a:sym typeface="Arimo"/>
              </a:rPr>
              <a:t>ủ</a:t>
            </a:r>
            <a:r>
              <a:rPr lang="en-US" sz="3812" spc="381" strike="noStrike" u="none">
                <a:solidFill>
                  <a:srgbClr val="FFFFFF"/>
                </a:solidFill>
                <a:latin typeface="Arimo"/>
                <a:ea typeface="Arimo"/>
                <a:cs typeface="Arimo"/>
                <a:sym typeface="Arimo"/>
              </a:rPr>
              <a:t> ng</a:t>
            </a:r>
            <a:r>
              <a:rPr lang="en-US" sz="3812" spc="381" strike="noStrike" u="none">
                <a:solidFill>
                  <a:srgbClr val="FFFFFF"/>
                </a:solidFill>
                <a:latin typeface="Arimo"/>
                <a:ea typeface="Arimo"/>
                <a:cs typeface="Arimo"/>
                <a:sym typeface="Arimo"/>
              </a:rPr>
              <a:t>uyên</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tắc</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qu</a:t>
            </a:r>
            <a:r>
              <a:rPr lang="en-US" sz="3812" spc="381" strike="noStrike" u="none">
                <a:solidFill>
                  <a:srgbClr val="FFFFFF"/>
                </a:solidFill>
                <a:latin typeface="Arimo"/>
                <a:ea typeface="Arimo"/>
                <a:cs typeface="Arimo"/>
                <a:sym typeface="Arimo"/>
              </a:rPr>
              <a:t>y</a:t>
            </a:r>
            <a:r>
              <a:rPr lang="en-US" sz="3812" spc="381" strike="noStrike" u="none">
                <a:solidFill>
                  <a:srgbClr val="FFFFFF"/>
                </a:solidFill>
                <a:latin typeface="Arimo"/>
                <a:ea typeface="Arimo"/>
                <a:cs typeface="Arimo"/>
                <a:sym typeface="Arimo"/>
              </a:rPr>
              <a:t>ền</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tối</a:t>
            </a:r>
            <a:r>
              <a:rPr lang="en-US" sz="3812" spc="381" strike="noStrike" u="none">
                <a:solidFill>
                  <a:srgbClr val="FFFFFF"/>
                </a:solidFill>
                <a:latin typeface="Arimo"/>
                <a:ea typeface="Arimo"/>
                <a:cs typeface="Arimo"/>
                <a:sym typeface="Arimo"/>
              </a:rPr>
              <a:t> th</a:t>
            </a:r>
            <a:r>
              <a:rPr lang="en-US" sz="3812" spc="381" strike="noStrike" u="none">
                <a:solidFill>
                  <a:srgbClr val="FFFFFF"/>
                </a:solidFill>
                <a:latin typeface="Arimo"/>
                <a:ea typeface="Arimo"/>
                <a:cs typeface="Arimo"/>
                <a:sym typeface="Arimo"/>
              </a:rPr>
              <a:t>i</a:t>
            </a:r>
            <a:r>
              <a:rPr lang="en-US" sz="3812" spc="381" strike="noStrike" u="none">
                <a:solidFill>
                  <a:srgbClr val="FFFFFF"/>
                </a:solidFill>
                <a:latin typeface="Arimo"/>
                <a:ea typeface="Arimo"/>
                <a:cs typeface="Arimo"/>
                <a:sym typeface="Arimo"/>
              </a:rPr>
              <a:t>ể</a:t>
            </a:r>
            <a:r>
              <a:rPr lang="en-US" sz="3812" spc="381" strike="noStrike" u="none">
                <a:solidFill>
                  <a:srgbClr val="FFFFFF"/>
                </a:solidFill>
                <a:latin typeface="Arimo"/>
                <a:ea typeface="Arimo"/>
                <a:cs typeface="Arimo"/>
                <a:sym typeface="Arimo"/>
              </a:rPr>
              <a:t>u.</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Dùng</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AWS</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I</a:t>
            </a:r>
            <a:r>
              <a:rPr lang="en-US" sz="3812" spc="381" strike="noStrike" u="none">
                <a:solidFill>
                  <a:srgbClr val="FFFFFF"/>
                </a:solidFill>
                <a:latin typeface="Arimo"/>
                <a:ea typeface="Arimo"/>
                <a:cs typeface="Arimo"/>
                <a:sym typeface="Arimo"/>
              </a:rPr>
              <a:t>n</a:t>
            </a:r>
            <a:r>
              <a:rPr lang="en-US" sz="3812" spc="381" strike="noStrike" u="none">
                <a:solidFill>
                  <a:srgbClr val="FFFFFF"/>
                </a:solidFill>
                <a:latin typeface="Arimo"/>
                <a:ea typeface="Arimo"/>
                <a:cs typeface="Arimo"/>
                <a:sym typeface="Arimo"/>
              </a:rPr>
              <a:t>spe</a:t>
            </a:r>
            <a:r>
              <a:rPr lang="en-US" sz="3812" spc="381" strike="noStrike" u="none">
                <a:solidFill>
                  <a:srgbClr val="FFFFFF"/>
                </a:solidFill>
                <a:latin typeface="Arimo"/>
                <a:ea typeface="Arimo"/>
                <a:cs typeface="Arimo"/>
                <a:sym typeface="Arimo"/>
              </a:rPr>
              <a:t>c</a:t>
            </a:r>
            <a:r>
              <a:rPr lang="en-US" sz="3812" spc="381" strike="noStrike" u="none">
                <a:solidFill>
                  <a:srgbClr val="FFFFFF"/>
                </a:solidFill>
                <a:latin typeface="Arimo"/>
                <a:ea typeface="Arimo"/>
                <a:cs typeface="Arimo"/>
                <a:sym typeface="Arimo"/>
              </a:rPr>
              <a:t>t</a:t>
            </a:r>
            <a:r>
              <a:rPr lang="en-US" sz="3812" spc="381" strike="noStrike" u="none">
                <a:solidFill>
                  <a:srgbClr val="FFFFFF"/>
                </a:solidFill>
                <a:latin typeface="Arimo"/>
                <a:ea typeface="Arimo"/>
                <a:cs typeface="Arimo"/>
                <a:sym typeface="Arimo"/>
              </a:rPr>
              <a:t>o</a:t>
            </a:r>
            <a:r>
              <a:rPr lang="en-US" sz="3812" spc="381" strike="noStrike" u="none">
                <a:solidFill>
                  <a:srgbClr val="FFFFFF"/>
                </a:solidFill>
                <a:latin typeface="Arimo"/>
                <a:ea typeface="Arimo"/>
                <a:cs typeface="Arimo"/>
                <a:sym typeface="Arimo"/>
              </a:rPr>
              <a:t>r,</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S</a:t>
            </a:r>
            <a:r>
              <a:rPr lang="en-US" sz="3812" spc="381" strike="noStrike" u="none">
                <a:solidFill>
                  <a:srgbClr val="FFFFFF"/>
                </a:solidFill>
                <a:latin typeface="Arimo"/>
                <a:ea typeface="Arimo"/>
                <a:cs typeface="Arimo"/>
                <a:sym typeface="Arimo"/>
              </a:rPr>
              <a:t>c</a:t>
            </a:r>
            <a:r>
              <a:rPr lang="en-US" sz="3812" spc="381" strike="noStrike" u="none">
                <a:solidFill>
                  <a:srgbClr val="FFFFFF"/>
                </a:solidFill>
                <a:latin typeface="Arimo"/>
                <a:ea typeface="Arimo"/>
                <a:cs typeface="Arimo"/>
                <a:sym typeface="Arimo"/>
              </a:rPr>
              <a:t>outSuite.</a:t>
            </a:r>
          </a:p>
          <a:p>
            <a:pPr algn="l" marL="823058" indent="-411529" lvl="1">
              <a:lnSpc>
                <a:spcPts val="4040"/>
              </a:lnSpc>
              <a:buFont typeface="Arial"/>
              <a:buChar char="•"/>
            </a:pPr>
            <a:r>
              <a:rPr lang="en-US" sz="3812" spc="381" strike="noStrike" u="none">
                <a:solidFill>
                  <a:srgbClr val="FFFFFF"/>
                </a:solidFill>
                <a:latin typeface="Arimo"/>
                <a:ea typeface="Arimo"/>
                <a:cs typeface="Arimo"/>
                <a:sym typeface="Arimo"/>
              </a:rPr>
              <a:t>Kiểm</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t</a:t>
            </a:r>
            <a:r>
              <a:rPr lang="en-US" sz="3812" spc="381" strike="noStrike" u="none">
                <a:solidFill>
                  <a:srgbClr val="FFFFFF"/>
                </a:solidFill>
                <a:latin typeface="Arimo"/>
                <a:ea typeface="Arimo"/>
                <a:cs typeface="Arimo"/>
                <a:sym typeface="Arimo"/>
              </a:rPr>
              <a:t>h</a:t>
            </a:r>
            <a:r>
              <a:rPr lang="en-US" sz="3812" spc="381" strike="noStrike" u="none">
                <a:solidFill>
                  <a:srgbClr val="FFFFFF"/>
                </a:solidFill>
                <a:latin typeface="Arimo"/>
                <a:ea typeface="Arimo"/>
                <a:cs typeface="Arimo"/>
                <a:sym typeface="Arimo"/>
              </a:rPr>
              <a:t>ử</a:t>
            </a:r>
            <a:r>
              <a:rPr lang="en-US" sz="3812" spc="381" strike="noStrike" u="none">
                <a:solidFill>
                  <a:srgbClr val="FFFFFF"/>
                </a:solidFill>
                <a:latin typeface="Arimo"/>
                <a:ea typeface="Arimo"/>
                <a:cs typeface="Arimo"/>
                <a:sym typeface="Arimo"/>
              </a:rPr>
              <a:t> g</a:t>
            </a:r>
            <a:r>
              <a:rPr lang="en-US" sz="3812" spc="381" strike="noStrike" u="none">
                <a:solidFill>
                  <a:srgbClr val="FFFFFF"/>
                </a:solidFill>
                <a:latin typeface="Arimo"/>
                <a:ea typeface="Arimo"/>
                <a:cs typeface="Arimo"/>
                <a:sym typeface="Arimo"/>
              </a:rPr>
              <a:t>i</a:t>
            </a:r>
            <a:r>
              <a:rPr lang="en-US" sz="3812" spc="381" strike="noStrike" u="none">
                <a:solidFill>
                  <a:srgbClr val="FFFFFF"/>
                </a:solidFill>
                <a:latin typeface="Arimo"/>
                <a:ea typeface="Arimo"/>
                <a:cs typeface="Arimo"/>
                <a:sym typeface="Arimo"/>
              </a:rPr>
              <a:t>á</a:t>
            </a:r>
            <a:r>
              <a:rPr lang="en-US" sz="3812" spc="381" strike="noStrike" u="none">
                <a:solidFill>
                  <a:srgbClr val="FFFFFF"/>
                </a:solidFill>
                <a:latin typeface="Arimo"/>
                <a:ea typeface="Arimo"/>
                <a:cs typeface="Arimo"/>
                <a:sym typeface="Arimo"/>
              </a:rPr>
              <a:t>m</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sá</a:t>
            </a:r>
            <a:r>
              <a:rPr lang="en-US" sz="3812" spc="381" strike="noStrike" u="none">
                <a:solidFill>
                  <a:srgbClr val="FFFFFF"/>
                </a:solidFill>
                <a:latin typeface="Arimo"/>
                <a:ea typeface="Arimo"/>
                <a:cs typeface="Arimo"/>
                <a:sym typeface="Arimo"/>
              </a:rPr>
              <a:t>t</a:t>
            </a:r>
            <a:r>
              <a:rPr lang="en-US" sz="3812" spc="381" strike="noStrike" u="none">
                <a:solidFill>
                  <a:srgbClr val="FFFFFF"/>
                </a:solidFill>
                <a:latin typeface="Arimo"/>
                <a:ea typeface="Arimo"/>
                <a:cs typeface="Arimo"/>
                <a:sym typeface="Arimo"/>
              </a:rPr>
              <a:t>: Đảm bả</a:t>
            </a:r>
            <a:r>
              <a:rPr lang="en-US" sz="3812" spc="381" strike="noStrike" u="none">
                <a:solidFill>
                  <a:srgbClr val="FFFFFF"/>
                </a:solidFill>
                <a:latin typeface="Arimo"/>
                <a:ea typeface="Arimo"/>
                <a:cs typeface="Arimo"/>
                <a:sym typeface="Arimo"/>
              </a:rPr>
              <a:t>o </a:t>
            </a:r>
            <a:r>
              <a:rPr lang="en-US" sz="3812" spc="381" strike="noStrike" u="none">
                <a:solidFill>
                  <a:srgbClr val="FFFFFF"/>
                </a:solidFill>
                <a:latin typeface="Arimo"/>
                <a:ea typeface="Arimo"/>
                <a:cs typeface="Arimo"/>
                <a:sym typeface="Arimo"/>
              </a:rPr>
              <a:t>l</a:t>
            </a:r>
            <a:r>
              <a:rPr lang="en-US" sz="3812" spc="381" strike="noStrike" u="none">
                <a:solidFill>
                  <a:srgbClr val="FFFFFF"/>
                </a:solidFill>
                <a:latin typeface="Arimo"/>
                <a:ea typeface="Arimo"/>
                <a:cs typeface="Arimo"/>
                <a:sym typeface="Arimo"/>
              </a:rPr>
              <a:t>og</a:t>
            </a:r>
            <a:r>
              <a:rPr lang="en-US" sz="3812" spc="381" strike="noStrike" u="none">
                <a:solidFill>
                  <a:srgbClr val="FFFFFF"/>
                </a:solidFill>
                <a:latin typeface="Arimo"/>
                <a:ea typeface="Arimo"/>
                <a:cs typeface="Arimo"/>
                <a:sym typeface="Arimo"/>
              </a:rPr>
              <a:t>/metr</a:t>
            </a:r>
            <a:r>
              <a:rPr lang="en-US" sz="3812" spc="381" strike="noStrike" u="none">
                <a:solidFill>
                  <a:srgbClr val="FFFFFF"/>
                </a:solidFill>
                <a:latin typeface="Arimo"/>
                <a:ea typeface="Arimo"/>
                <a:cs typeface="Arimo"/>
                <a:sym typeface="Arimo"/>
              </a:rPr>
              <a:t>i</a:t>
            </a:r>
            <a:r>
              <a:rPr lang="en-US" sz="3812" spc="381" strike="noStrike" u="none">
                <a:solidFill>
                  <a:srgbClr val="FFFFFF"/>
                </a:solidFill>
                <a:latin typeface="Arimo"/>
                <a:ea typeface="Arimo"/>
                <a:cs typeface="Arimo"/>
                <a:sym typeface="Arimo"/>
              </a:rPr>
              <a:t>cs</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đầy</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đủ,</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alar</a:t>
            </a:r>
            <a:r>
              <a:rPr lang="en-US" sz="3812" spc="381" strike="noStrike" u="none">
                <a:solidFill>
                  <a:srgbClr val="FFFFFF"/>
                </a:solidFill>
                <a:latin typeface="Arimo"/>
                <a:ea typeface="Arimo"/>
                <a:cs typeface="Arimo"/>
                <a:sym typeface="Arimo"/>
              </a:rPr>
              <a:t>m</a:t>
            </a:r>
            <a:r>
              <a:rPr lang="en-US" sz="3812" spc="381" strike="noStrike" u="none">
                <a:solidFill>
                  <a:srgbClr val="FFFFFF"/>
                </a:solidFill>
                <a:latin typeface="Arimo"/>
                <a:ea typeface="Arimo"/>
                <a:cs typeface="Arimo"/>
                <a:sym typeface="Arimo"/>
              </a:rPr>
              <a:t>s</a:t>
            </a:r>
            <a:r>
              <a:rPr lang="en-US" sz="3812" spc="381" strike="noStrike" u="none">
                <a:solidFill>
                  <a:srgbClr val="FFFFFF"/>
                </a:solidFill>
                <a:latin typeface="Arimo"/>
                <a:ea typeface="Arimo"/>
                <a:cs typeface="Arimo"/>
                <a:sym typeface="Arimo"/>
              </a:rPr>
              <a:t> c</a:t>
            </a:r>
            <a:r>
              <a:rPr lang="en-US" sz="3812" spc="381" strike="noStrike" u="none">
                <a:solidFill>
                  <a:srgbClr val="FFFFFF"/>
                </a:solidFill>
                <a:latin typeface="Arimo"/>
                <a:ea typeface="Arimo"/>
                <a:cs typeface="Arimo"/>
                <a:sym typeface="Arimo"/>
              </a:rPr>
              <a:t>ảnh báo đú</a:t>
            </a:r>
            <a:r>
              <a:rPr lang="en-US" sz="3812" spc="381" strike="noStrike" u="none">
                <a:solidFill>
                  <a:srgbClr val="FFFFFF"/>
                </a:solidFill>
                <a:latin typeface="Arimo"/>
                <a:ea typeface="Arimo"/>
                <a:cs typeface="Arimo"/>
                <a:sym typeface="Arimo"/>
              </a:rPr>
              <a:t>ng </a:t>
            </a:r>
            <a:r>
              <a:rPr lang="en-US" sz="3812" spc="381" strike="noStrike" u="none">
                <a:solidFill>
                  <a:srgbClr val="FFFFFF"/>
                </a:solidFill>
                <a:latin typeface="Arimo"/>
                <a:ea typeface="Arimo"/>
                <a:cs typeface="Arimo"/>
                <a:sym typeface="Arimo"/>
              </a:rPr>
              <a:t>lú</a:t>
            </a:r>
            <a:r>
              <a:rPr lang="en-US" sz="3812" spc="381" strike="noStrike" u="none">
                <a:solidFill>
                  <a:srgbClr val="FFFFFF"/>
                </a:solidFill>
                <a:latin typeface="Arimo"/>
                <a:ea typeface="Arimo"/>
                <a:cs typeface="Arimo"/>
                <a:sym typeface="Arimo"/>
              </a:rPr>
              <a:t>c </a:t>
            </a:r>
            <a:r>
              <a:rPr lang="en-US" sz="3812" spc="381" strike="noStrike" u="none">
                <a:solidFill>
                  <a:srgbClr val="FFFFFF"/>
                </a:solidFill>
                <a:latin typeface="Arimo"/>
                <a:ea typeface="Arimo"/>
                <a:cs typeface="Arimo"/>
                <a:sym typeface="Arimo"/>
              </a:rPr>
              <a:t>→ Hỗ trợ DevO</a:t>
            </a:r>
            <a:r>
              <a:rPr lang="en-US" sz="3812" spc="381" strike="noStrike" u="none">
                <a:solidFill>
                  <a:srgbClr val="FFFFFF"/>
                </a:solidFill>
                <a:latin typeface="Arimo"/>
                <a:ea typeface="Arimo"/>
                <a:cs typeface="Arimo"/>
                <a:sym typeface="Arimo"/>
              </a:rPr>
              <a:t>p</a:t>
            </a:r>
            <a:r>
              <a:rPr lang="en-US" sz="3812" spc="381" strike="noStrike" u="none">
                <a:solidFill>
                  <a:srgbClr val="FFFFFF"/>
                </a:solidFill>
                <a:latin typeface="Arimo"/>
                <a:ea typeface="Arimo"/>
                <a:cs typeface="Arimo"/>
                <a:sym typeface="Arimo"/>
              </a:rPr>
              <a:t>s gi</a:t>
            </a:r>
            <a:r>
              <a:rPr lang="en-US" sz="3812" spc="381" strike="noStrike" u="none">
                <a:solidFill>
                  <a:srgbClr val="FFFFFF"/>
                </a:solidFill>
                <a:latin typeface="Arimo"/>
                <a:ea typeface="Arimo"/>
                <a:cs typeface="Arimo"/>
                <a:sym typeface="Arimo"/>
              </a:rPr>
              <a:t>á</a:t>
            </a:r>
            <a:r>
              <a:rPr lang="en-US" sz="3812" spc="381" strike="noStrike" u="none">
                <a:solidFill>
                  <a:srgbClr val="FFFFFF"/>
                </a:solidFill>
                <a:latin typeface="Arimo"/>
                <a:ea typeface="Arimo"/>
                <a:cs typeface="Arimo"/>
                <a:sym typeface="Arimo"/>
              </a:rPr>
              <a:t>m</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sá</a:t>
            </a:r>
            <a:r>
              <a:rPr lang="en-US" sz="3812" spc="381" strike="noStrike" u="none">
                <a:solidFill>
                  <a:srgbClr val="FFFFFF"/>
                </a:solidFill>
                <a:latin typeface="Arimo"/>
                <a:ea typeface="Arimo"/>
                <a:cs typeface="Arimo"/>
                <a:sym typeface="Arimo"/>
              </a:rPr>
              <a:t>t và </a:t>
            </a:r>
            <a:r>
              <a:rPr lang="en-US" sz="3812" spc="381" strike="noStrike" u="none">
                <a:solidFill>
                  <a:srgbClr val="FFFFFF"/>
                </a:solidFill>
                <a:latin typeface="Arimo"/>
                <a:ea typeface="Arimo"/>
                <a:cs typeface="Arimo"/>
                <a:sym typeface="Arimo"/>
              </a:rPr>
              <a:t>xử lý sự </a:t>
            </a:r>
            <a:r>
              <a:rPr lang="en-US" sz="3812" spc="381" strike="noStrike" u="none">
                <a:solidFill>
                  <a:srgbClr val="FFFFFF"/>
                </a:solidFill>
                <a:latin typeface="Arimo"/>
                <a:ea typeface="Arimo"/>
                <a:cs typeface="Arimo"/>
                <a:sym typeface="Arimo"/>
              </a:rPr>
              <a:t>c</a:t>
            </a:r>
            <a:r>
              <a:rPr lang="en-US" sz="3812" spc="381" strike="noStrike" u="none">
                <a:solidFill>
                  <a:srgbClr val="FFFFFF"/>
                </a:solidFill>
                <a:latin typeface="Arimo"/>
                <a:ea typeface="Arimo"/>
                <a:cs typeface="Arimo"/>
                <a:sym typeface="Arimo"/>
              </a:rPr>
              <a:t>ố</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kị</a:t>
            </a:r>
            <a:r>
              <a:rPr lang="en-US" sz="3812" spc="381" strike="noStrike" u="none">
                <a:solidFill>
                  <a:srgbClr val="FFFFFF"/>
                </a:solidFill>
                <a:latin typeface="Arimo"/>
                <a:ea typeface="Arimo"/>
                <a:cs typeface="Arimo"/>
                <a:sym typeface="Arimo"/>
              </a:rPr>
              <a:t>p</a:t>
            </a:r>
            <a:r>
              <a:rPr lang="en-US" sz="3812" spc="381" strike="noStrike" u="none">
                <a:solidFill>
                  <a:srgbClr val="FFFFFF"/>
                </a:solidFill>
                <a:latin typeface="Arimo"/>
                <a:ea typeface="Arimo"/>
                <a:cs typeface="Arimo"/>
                <a:sym typeface="Arimo"/>
              </a:rPr>
              <a:t> t</a:t>
            </a:r>
            <a:r>
              <a:rPr lang="en-US" sz="3812" spc="381" strike="noStrike" u="none">
                <a:solidFill>
                  <a:srgbClr val="FFFFFF"/>
                </a:solidFill>
                <a:latin typeface="Arimo"/>
                <a:ea typeface="Arimo"/>
                <a:cs typeface="Arimo"/>
                <a:sym typeface="Arimo"/>
              </a:rPr>
              <a:t>h</a:t>
            </a:r>
            <a:r>
              <a:rPr lang="en-US" sz="3812" spc="381" strike="noStrike" u="none">
                <a:solidFill>
                  <a:srgbClr val="FFFFFF"/>
                </a:solidFill>
                <a:latin typeface="Arimo"/>
                <a:ea typeface="Arimo"/>
                <a:cs typeface="Arimo"/>
                <a:sym typeface="Arimo"/>
              </a:rPr>
              <a:t>ời.</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Dù</a:t>
            </a:r>
            <a:r>
              <a:rPr lang="en-US" sz="3812" spc="381" strike="noStrike" u="none">
                <a:solidFill>
                  <a:srgbClr val="FFFFFF"/>
                </a:solidFill>
                <a:latin typeface="Arimo"/>
                <a:ea typeface="Arimo"/>
                <a:cs typeface="Arimo"/>
                <a:sym typeface="Arimo"/>
              </a:rPr>
              <a:t>n</a:t>
            </a:r>
            <a:r>
              <a:rPr lang="en-US" sz="3812" spc="381" strike="noStrike" u="none">
                <a:solidFill>
                  <a:srgbClr val="FFFFFF"/>
                </a:solidFill>
                <a:latin typeface="Arimo"/>
                <a:ea typeface="Arimo"/>
                <a:cs typeface="Arimo"/>
                <a:sym typeface="Arimo"/>
              </a:rPr>
              <a:t>g</a:t>
            </a:r>
            <a:r>
              <a:rPr lang="en-US" sz="3812" spc="381" strike="noStrike" u="none">
                <a:solidFill>
                  <a:srgbClr val="FFFFFF"/>
                </a:solidFill>
                <a:latin typeface="Arimo"/>
                <a:ea typeface="Arimo"/>
                <a:cs typeface="Arimo"/>
                <a:sym typeface="Arimo"/>
              </a:rPr>
              <a:t> </a:t>
            </a:r>
            <a:r>
              <a:rPr lang="en-US" sz="3812" spc="381" strike="noStrike" u="none">
                <a:solidFill>
                  <a:srgbClr val="FFFFFF"/>
                </a:solidFill>
                <a:latin typeface="Arimo"/>
                <a:ea typeface="Arimo"/>
                <a:cs typeface="Arimo"/>
                <a:sym typeface="Arimo"/>
              </a:rPr>
              <a:t>CloudWatc</a:t>
            </a:r>
            <a:r>
              <a:rPr lang="en-US" sz="3812" spc="381" strike="noStrike" u="none">
                <a:solidFill>
                  <a:srgbClr val="FFFFFF"/>
                </a:solidFill>
                <a:latin typeface="Arimo"/>
                <a:ea typeface="Arimo"/>
                <a:cs typeface="Arimo"/>
                <a:sym typeface="Arimo"/>
              </a:rPr>
              <a:t>h</a:t>
            </a:r>
            <a:r>
              <a:rPr lang="en-US" sz="3812" spc="381" strike="noStrike" u="none">
                <a:solidFill>
                  <a:srgbClr val="FFFFFF"/>
                </a:solidFill>
                <a:latin typeface="Arimo"/>
                <a:ea typeface="Arimo"/>
                <a:cs typeface="Arimo"/>
                <a:sym typeface="Arimo"/>
              </a:rPr>
              <a:t>, SNS</a:t>
            </a:r>
            <a:r>
              <a:rPr lang="en-US" sz="3812" spc="381" strike="noStrike" u="none">
                <a:solidFill>
                  <a:srgbClr val="FFFFFF"/>
                </a:solidFill>
                <a:latin typeface="Arimo"/>
                <a:ea typeface="Arimo"/>
                <a:cs typeface="Arimo"/>
                <a:sym typeface="Arimo"/>
              </a:rPr>
              <a: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1028700" y="7516"/>
            <a:ext cx="11480637" cy="1021184"/>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Kế hoạch triển khai và khôi phục</a:t>
            </a:r>
          </a:p>
        </p:txBody>
      </p:sp>
      <p:graphicFrame>
        <p:nvGraphicFramePr>
          <p:cNvPr name="Object 3" id="3"/>
          <p:cNvGraphicFramePr/>
          <p:nvPr/>
        </p:nvGraphicFramePr>
        <p:xfrm>
          <a:off x="601009" y="1028700"/>
          <a:ext cx="3771900" cy="3352800"/>
        </p:xfrm>
        <a:graphic>
          <a:graphicData uri="http://schemas.openxmlformats.org/presentationml/2006/ole">
            <p:oleObj imgW="4521200" imgH="41021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19.xml><?xml version="1.0" encoding="utf-8"?>
<p:sld xmlns:p="http://schemas.openxmlformats.org/presentationml/2006/main" xmlns:a="http://schemas.openxmlformats.org/drawingml/2006/main">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5784769" y="1245568"/>
            <a:ext cx="6843569" cy="1021184"/>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Quản Lý Cấu Hình</a:t>
            </a:r>
          </a:p>
        </p:txBody>
      </p:sp>
      <p:grpSp>
        <p:nvGrpSpPr>
          <p:cNvPr name="Group 3" id="3"/>
          <p:cNvGrpSpPr/>
          <p:nvPr/>
        </p:nvGrpSpPr>
        <p:grpSpPr>
          <a:xfrm rot="0">
            <a:off x="1595871" y="2802657"/>
            <a:ext cx="4920028" cy="5143299"/>
            <a:chOff x="0" y="0"/>
            <a:chExt cx="1295810" cy="1354614"/>
          </a:xfrm>
        </p:grpSpPr>
        <p:sp>
          <p:nvSpPr>
            <p:cNvPr name="Freeform 4" id="4"/>
            <p:cNvSpPr/>
            <p:nvPr/>
          </p:nvSpPr>
          <p:spPr>
            <a:xfrm flipH="false" flipV="false" rot="0">
              <a:off x="0" y="0"/>
              <a:ext cx="1295810" cy="1354614"/>
            </a:xfrm>
            <a:custGeom>
              <a:avLst/>
              <a:gdLst/>
              <a:ahLst/>
              <a:cxnLst/>
              <a:rect r="r" b="b" t="t" l="l"/>
              <a:pathLst>
                <a:path h="1354614" w="1295810">
                  <a:moveTo>
                    <a:pt x="0" y="0"/>
                  </a:moveTo>
                  <a:lnTo>
                    <a:pt x="1295810" y="0"/>
                  </a:lnTo>
                  <a:lnTo>
                    <a:pt x="1295810" y="1354614"/>
                  </a:lnTo>
                  <a:lnTo>
                    <a:pt x="0" y="1354614"/>
                  </a:lnTo>
                  <a:close/>
                </a:path>
              </a:pathLst>
            </a:custGeom>
            <a:solidFill>
              <a:srgbClr val="FFFFFF"/>
            </a:solidFill>
          </p:spPr>
        </p:sp>
        <p:sp>
          <p:nvSpPr>
            <p:cNvPr name="TextBox 5" id="5"/>
            <p:cNvSpPr txBox="true"/>
            <p:nvPr/>
          </p:nvSpPr>
          <p:spPr>
            <a:xfrm>
              <a:off x="0" y="-47625"/>
              <a:ext cx="1295810" cy="1402239"/>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901513" y="2802657"/>
            <a:ext cx="4920028" cy="5143299"/>
            <a:chOff x="0" y="0"/>
            <a:chExt cx="1295810" cy="1354614"/>
          </a:xfrm>
        </p:grpSpPr>
        <p:sp>
          <p:nvSpPr>
            <p:cNvPr name="Freeform 7" id="7"/>
            <p:cNvSpPr/>
            <p:nvPr/>
          </p:nvSpPr>
          <p:spPr>
            <a:xfrm flipH="false" flipV="false" rot="0">
              <a:off x="0" y="0"/>
              <a:ext cx="1295810" cy="1354614"/>
            </a:xfrm>
            <a:custGeom>
              <a:avLst/>
              <a:gdLst/>
              <a:ahLst/>
              <a:cxnLst/>
              <a:rect r="r" b="b" t="t" l="l"/>
              <a:pathLst>
                <a:path h="1354614" w="1295810">
                  <a:moveTo>
                    <a:pt x="0" y="0"/>
                  </a:moveTo>
                  <a:lnTo>
                    <a:pt x="1295810" y="0"/>
                  </a:lnTo>
                  <a:lnTo>
                    <a:pt x="1295810" y="1354614"/>
                  </a:lnTo>
                  <a:lnTo>
                    <a:pt x="0" y="1354614"/>
                  </a:lnTo>
                  <a:close/>
                </a:path>
              </a:pathLst>
            </a:custGeom>
            <a:solidFill>
              <a:srgbClr val="FFFFFF"/>
            </a:solidFill>
          </p:spPr>
        </p:sp>
        <p:sp>
          <p:nvSpPr>
            <p:cNvPr name="TextBox 8" id="8"/>
            <p:cNvSpPr txBox="true"/>
            <p:nvPr/>
          </p:nvSpPr>
          <p:spPr>
            <a:xfrm>
              <a:off x="0" y="-47625"/>
              <a:ext cx="1295810" cy="1402239"/>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2207154" y="2802657"/>
            <a:ext cx="4920028" cy="5143299"/>
            <a:chOff x="0" y="0"/>
            <a:chExt cx="1295810" cy="1354614"/>
          </a:xfrm>
        </p:grpSpPr>
        <p:sp>
          <p:nvSpPr>
            <p:cNvPr name="Freeform 10" id="10"/>
            <p:cNvSpPr/>
            <p:nvPr/>
          </p:nvSpPr>
          <p:spPr>
            <a:xfrm flipH="false" flipV="false" rot="0">
              <a:off x="0" y="0"/>
              <a:ext cx="1295810" cy="1354614"/>
            </a:xfrm>
            <a:custGeom>
              <a:avLst/>
              <a:gdLst/>
              <a:ahLst/>
              <a:cxnLst/>
              <a:rect r="r" b="b" t="t" l="l"/>
              <a:pathLst>
                <a:path h="1354614" w="1295810">
                  <a:moveTo>
                    <a:pt x="0" y="0"/>
                  </a:moveTo>
                  <a:lnTo>
                    <a:pt x="1295810" y="0"/>
                  </a:lnTo>
                  <a:lnTo>
                    <a:pt x="1295810" y="1354614"/>
                  </a:lnTo>
                  <a:lnTo>
                    <a:pt x="0" y="1354614"/>
                  </a:lnTo>
                  <a:close/>
                </a:path>
              </a:pathLst>
            </a:custGeom>
            <a:solidFill>
              <a:srgbClr val="FFFFFF"/>
            </a:solidFill>
          </p:spPr>
        </p:sp>
        <p:sp>
          <p:nvSpPr>
            <p:cNvPr name="TextBox 11" id="11"/>
            <p:cNvSpPr txBox="true"/>
            <p:nvPr/>
          </p:nvSpPr>
          <p:spPr>
            <a:xfrm>
              <a:off x="0" y="-47625"/>
              <a:ext cx="1295810" cy="1402239"/>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067761" y="3121024"/>
            <a:ext cx="3947927" cy="4480274"/>
          </a:xfrm>
          <a:prstGeom prst="rect">
            <a:avLst/>
          </a:prstGeom>
        </p:spPr>
        <p:txBody>
          <a:bodyPr anchor="t" rtlCol="false" tIns="0" lIns="0" bIns="0" rIns="0">
            <a:spAutoFit/>
          </a:bodyPr>
          <a:lstStyle/>
          <a:p>
            <a:pPr algn="l" marL="605293" indent="-302647" lvl="1">
              <a:lnSpc>
                <a:spcPts val="3925"/>
              </a:lnSpc>
              <a:buFont typeface="Arial"/>
              <a:buChar char="•"/>
            </a:pPr>
            <a:r>
              <a:rPr lang="en-US" sz="2803">
                <a:solidFill>
                  <a:srgbClr val="194A8D"/>
                </a:solidFill>
                <a:latin typeface="Arimo"/>
                <a:ea typeface="Arimo"/>
                <a:cs typeface="Arimo"/>
                <a:sym typeface="Arimo"/>
              </a:rPr>
              <a:t> </a:t>
            </a:r>
            <a:r>
              <a:rPr lang="en-US" sz="2803">
                <a:solidFill>
                  <a:srgbClr val="194A8D"/>
                </a:solidFill>
                <a:latin typeface="Arimo"/>
                <a:ea typeface="Arimo"/>
                <a:cs typeface="Arimo"/>
                <a:sym typeface="Arimo"/>
              </a:rPr>
              <a:t>ECS (Fargate): Chạy container, nhận cấu hình runtime qua biến môi trường.</a:t>
            </a:r>
          </a:p>
          <a:p>
            <a:pPr algn="l" marL="605293" indent="-302647" lvl="1">
              <a:lnSpc>
                <a:spcPts val="3925"/>
              </a:lnSpc>
              <a:buFont typeface="Arial"/>
              <a:buChar char="•"/>
            </a:pPr>
            <a:r>
              <a:rPr lang="en-US" sz="2803">
                <a:solidFill>
                  <a:srgbClr val="194A8D"/>
                </a:solidFill>
                <a:latin typeface="Arimo"/>
                <a:ea typeface="Arimo"/>
                <a:cs typeface="Arimo"/>
                <a:sym typeface="Arimo"/>
              </a:rPr>
              <a:t> RDS Proxy: Kết nối DB qua secret được quản lý bởi Secrets Manager.</a:t>
            </a:r>
          </a:p>
        </p:txBody>
      </p:sp>
      <p:sp>
        <p:nvSpPr>
          <p:cNvPr name="TextBox 13" id="13"/>
          <p:cNvSpPr txBox="true"/>
          <p:nvPr/>
        </p:nvSpPr>
        <p:spPr>
          <a:xfrm rot="0">
            <a:off x="7319696" y="3121660"/>
            <a:ext cx="4083661" cy="3967481"/>
          </a:xfrm>
          <a:prstGeom prst="rect">
            <a:avLst/>
          </a:prstGeom>
        </p:spPr>
        <p:txBody>
          <a:bodyPr anchor="t" rtlCol="false" tIns="0" lIns="0" bIns="0" rIns="0">
            <a:spAutoFit/>
          </a:bodyPr>
          <a:lstStyle/>
          <a:p>
            <a:pPr algn="l" marL="604515" indent="-302257" lvl="1">
              <a:lnSpc>
                <a:spcPts val="3919"/>
              </a:lnSpc>
              <a:buFont typeface="Arial"/>
              <a:buChar char="•"/>
            </a:pPr>
            <a:r>
              <a:rPr lang="en-US" sz="2799">
                <a:solidFill>
                  <a:srgbClr val="194A8D"/>
                </a:solidFill>
                <a:latin typeface="Arimo"/>
                <a:ea typeface="Arimo"/>
                <a:cs typeface="Arimo"/>
                <a:sym typeface="Arimo"/>
              </a:rPr>
              <a:t>RDS Multi-AZ: Không cấu hình trực tiếp, truy cập qua Proxy.</a:t>
            </a:r>
          </a:p>
          <a:p>
            <a:pPr algn="l" marL="604515" indent="-302257" lvl="1">
              <a:lnSpc>
                <a:spcPts val="3919"/>
              </a:lnSpc>
              <a:buFont typeface="Arial"/>
              <a:buChar char="•"/>
            </a:pPr>
            <a:r>
              <a:rPr lang="en-US" sz="2799">
                <a:solidFill>
                  <a:srgbClr val="194A8D"/>
                </a:solidFill>
                <a:latin typeface="Arimo"/>
                <a:ea typeface="Arimo"/>
                <a:cs typeface="Arimo"/>
                <a:sym typeface="Arimo"/>
              </a:rPr>
              <a:t> Secrets Manager: Lưu thông tin nhạy cảm (DB credentials, JWT...), hỗ trợ tự động xoay vòng.</a:t>
            </a:r>
          </a:p>
        </p:txBody>
      </p:sp>
      <p:sp>
        <p:nvSpPr>
          <p:cNvPr name="TextBox 14" id="14"/>
          <p:cNvSpPr txBox="true"/>
          <p:nvPr/>
        </p:nvSpPr>
        <p:spPr>
          <a:xfrm rot="0">
            <a:off x="12621641" y="3104816"/>
            <a:ext cx="4083661" cy="4462781"/>
          </a:xfrm>
          <a:prstGeom prst="rect">
            <a:avLst/>
          </a:prstGeom>
        </p:spPr>
        <p:txBody>
          <a:bodyPr anchor="t" rtlCol="false" tIns="0" lIns="0" bIns="0" rIns="0">
            <a:spAutoFit/>
          </a:bodyPr>
          <a:lstStyle/>
          <a:p>
            <a:pPr algn="l" marL="604515" indent="-302257" lvl="1">
              <a:lnSpc>
                <a:spcPts val="3919"/>
              </a:lnSpc>
              <a:buFont typeface="Arial"/>
              <a:buChar char="•"/>
            </a:pPr>
            <a:r>
              <a:rPr lang="en-US" sz="2799">
                <a:solidFill>
                  <a:srgbClr val="194A8D"/>
                </a:solidFill>
                <a:latin typeface="Arimo"/>
                <a:ea typeface="Arimo"/>
                <a:cs typeface="Arimo"/>
                <a:sym typeface="Arimo"/>
              </a:rPr>
              <a:t>CloudWatch: Theo dõi log, cảnh báo khi cấu hình thay đổi hoặc lỗi xảy ra </a:t>
            </a:r>
          </a:p>
          <a:p>
            <a:pPr algn="l" marL="604515" indent="-302257" lvl="1">
              <a:lnSpc>
                <a:spcPts val="3919"/>
              </a:lnSpc>
              <a:buFont typeface="Arial"/>
              <a:buChar char="•"/>
            </a:pPr>
            <a:r>
              <a:rPr lang="en-US" sz="2799">
                <a:solidFill>
                  <a:srgbClr val="194A8D"/>
                </a:solidFill>
                <a:latin typeface="Arimo"/>
                <a:ea typeface="Arimo"/>
                <a:cs typeface="Arimo"/>
                <a:sym typeface="Arimo"/>
              </a:rPr>
              <a:t>IAM Role (ECS Task): Cấp quyền tối thiểu cho ECS truy cập đúng secrets và thông tin cần thiết.</a:t>
            </a:r>
          </a:p>
        </p:txBody>
      </p:sp>
    </p:spTree>
  </p:cSld>
  <p:clrMapOvr>
    <a:masterClrMapping/>
  </p:clrMapOvr>
</p:sld>
</file>

<file path=ppt/slides/slide20.xml><?xml version="1.0" encoding="utf-8"?>
<p:sld xmlns:p="http://schemas.openxmlformats.org/presentationml/2006/main" xmlns:a="http://schemas.openxmlformats.org/drawingml/2006/main">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114125" y="348179"/>
            <a:ext cx="18059749" cy="2231158"/>
          </a:xfrm>
          <a:prstGeom prst="rect">
            <a:avLst/>
          </a:prstGeom>
        </p:spPr>
        <p:txBody>
          <a:bodyPr anchor="t" rtlCol="false" tIns="0" lIns="0" bIns="0" rIns="0">
            <a:spAutoFit/>
          </a:bodyPr>
          <a:lstStyle/>
          <a:p>
            <a:pPr algn="ctr">
              <a:lnSpc>
                <a:spcPts val="8655"/>
              </a:lnSpc>
            </a:pPr>
            <a:r>
              <a:rPr lang="en-US" sz="8165" spc="816">
                <a:solidFill>
                  <a:srgbClr val="FFFFFF"/>
                </a:solidFill>
                <a:latin typeface="League Spartan"/>
                <a:ea typeface="League Spartan"/>
                <a:cs typeface="League Spartan"/>
                <a:sym typeface="League Spartan"/>
              </a:rPr>
              <a:t>DÒNG THỜI GIAN &amp; CÁC MỐC QUAN TRỌNG </a:t>
            </a:r>
          </a:p>
        </p:txBody>
      </p:sp>
      <p:sp>
        <p:nvSpPr>
          <p:cNvPr name="TextBox 3" id="3"/>
          <p:cNvSpPr txBox="true"/>
          <p:nvPr/>
        </p:nvSpPr>
        <p:spPr>
          <a:xfrm rot="0">
            <a:off x="2379302" y="4948398"/>
            <a:ext cx="3332003" cy="2116559"/>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Phân tích giai đoạn </a:t>
            </a:r>
          </a:p>
        </p:txBody>
      </p:sp>
      <p:grpSp>
        <p:nvGrpSpPr>
          <p:cNvPr name="Group 4" id="4"/>
          <p:cNvGrpSpPr/>
          <p:nvPr/>
        </p:nvGrpSpPr>
        <p:grpSpPr>
          <a:xfrm rot="0">
            <a:off x="8257139" y="2665371"/>
            <a:ext cx="8709530" cy="1084959"/>
            <a:chOff x="0" y="0"/>
            <a:chExt cx="2644579" cy="329439"/>
          </a:xfrm>
        </p:grpSpPr>
        <p:sp>
          <p:nvSpPr>
            <p:cNvPr name="Freeform 5" id="5"/>
            <p:cNvSpPr/>
            <p:nvPr/>
          </p:nvSpPr>
          <p:spPr>
            <a:xfrm flipH="false" flipV="false" rot="0">
              <a:off x="0" y="0"/>
              <a:ext cx="2644579" cy="329439"/>
            </a:xfrm>
            <a:custGeom>
              <a:avLst/>
              <a:gdLst/>
              <a:ahLst/>
              <a:cxnLst/>
              <a:rect r="r" b="b" t="t" l="l"/>
              <a:pathLst>
                <a:path h="329439" w="2644579">
                  <a:moveTo>
                    <a:pt x="0" y="0"/>
                  </a:moveTo>
                  <a:lnTo>
                    <a:pt x="2644579" y="0"/>
                  </a:lnTo>
                  <a:lnTo>
                    <a:pt x="2644579" y="329439"/>
                  </a:lnTo>
                  <a:lnTo>
                    <a:pt x="0" y="329439"/>
                  </a:lnTo>
                  <a:close/>
                </a:path>
              </a:pathLst>
            </a:custGeom>
            <a:solidFill>
              <a:srgbClr val="FFFFFF"/>
            </a:solidFill>
          </p:spPr>
        </p:sp>
        <p:sp>
          <p:nvSpPr>
            <p:cNvPr name="TextBox 6" id="6"/>
            <p:cNvSpPr txBox="true"/>
            <p:nvPr/>
          </p:nvSpPr>
          <p:spPr>
            <a:xfrm>
              <a:off x="0" y="-47625"/>
              <a:ext cx="2644579" cy="377064"/>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7412050" y="2480668"/>
            <a:ext cx="1731950" cy="1269661"/>
            <a:chOff x="0" y="0"/>
            <a:chExt cx="812800" cy="595849"/>
          </a:xfrm>
        </p:grpSpPr>
        <p:sp>
          <p:nvSpPr>
            <p:cNvPr name="Freeform 8" id="8"/>
            <p:cNvSpPr/>
            <p:nvPr/>
          </p:nvSpPr>
          <p:spPr>
            <a:xfrm flipH="false" flipV="false" rot="0">
              <a:off x="0" y="0"/>
              <a:ext cx="812800" cy="595849"/>
            </a:xfrm>
            <a:custGeom>
              <a:avLst/>
              <a:gdLst/>
              <a:ahLst/>
              <a:cxnLst/>
              <a:rect r="r" b="b" t="t" l="l"/>
              <a:pathLst>
                <a:path h="595849" w="812800">
                  <a:moveTo>
                    <a:pt x="406400" y="0"/>
                  </a:moveTo>
                  <a:cubicBezTo>
                    <a:pt x="181951" y="0"/>
                    <a:pt x="0" y="133385"/>
                    <a:pt x="0" y="297925"/>
                  </a:cubicBezTo>
                  <a:cubicBezTo>
                    <a:pt x="0" y="462464"/>
                    <a:pt x="181951" y="595849"/>
                    <a:pt x="406400" y="595849"/>
                  </a:cubicBezTo>
                  <a:cubicBezTo>
                    <a:pt x="630849" y="595849"/>
                    <a:pt x="812800" y="462464"/>
                    <a:pt x="812800" y="297925"/>
                  </a:cubicBezTo>
                  <a:cubicBezTo>
                    <a:pt x="812800" y="133385"/>
                    <a:pt x="630849" y="0"/>
                    <a:pt x="406400" y="0"/>
                  </a:cubicBezTo>
                  <a:close/>
                </a:path>
              </a:pathLst>
            </a:custGeom>
            <a:solidFill>
              <a:srgbClr val="194A8D"/>
            </a:solidFill>
          </p:spPr>
        </p:sp>
        <p:sp>
          <p:nvSpPr>
            <p:cNvPr name="TextBox 9" id="9"/>
            <p:cNvSpPr txBox="true"/>
            <p:nvPr/>
          </p:nvSpPr>
          <p:spPr>
            <a:xfrm>
              <a:off x="76200" y="8236"/>
              <a:ext cx="660400" cy="531752"/>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7438226" y="2804690"/>
            <a:ext cx="1679599" cy="740698"/>
          </a:xfrm>
          <a:prstGeom prst="rect">
            <a:avLst/>
          </a:prstGeom>
        </p:spPr>
        <p:txBody>
          <a:bodyPr anchor="t" rtlCol="false" tIns="0" lIns="0" bIns="0" rIns="0">
            <a:spAutoFit/>
          </a:bodyPr>
          <a:lstStyle/>
          <a:p>
            <a:pPr algn="ctr">
              <a:lnSpc>
                <a:spcPts val="5633"/>
              </a:lnSpc>
            </a:pPr>
            <a:r>
              <a:rPr lang="en-US" sz="5314" spc="531">
                <a:solidFill>
                  <a:srgbClr val="FFFFFF"/>
                </a:solidFill>
                <a:latin typeface="League Spartan"/>
                <a:ea typeface="League Spartan"/>
                <a:cs typeface="League Spartan"/>
                <a:sym typeface="League Spartan"/>
              </a:rPr>
              <a:t>01</a:t>
            </a:r>
          </a:p>
        </p:txBody>
      </p:sp>
      <p:sp>
        <p:nvSpPr>
          <p:cNvPr name="TextBox 11" id="11"/>
          <p:cNvSpPr txBox="true"/>
          <p:nvPr/>
        </p:nvSpPr>
        <p:spPr>
          <a:xfrm rot="0">
            <a:off x="9498571" y="2833491"/>
            <a:ext cx="6522677" cy="711896"/>
          </a:xfrm>
          <a:prstGeom prst="rect">
            <a:avLst/>
          </a:prstGeom>
        </p:spPr>
        <p:txBody>
          <a:bodyPr anchor="t" rtlCol="false" tIns="0" lIns="0" bIns="0" rIns="0">
            <a:spAutoFit/>
          </a:bodyPr>
          <a:lstStyle/>
          <a:p>
            <a:pPr algn="l">
              <a:lnSpc>
                <a:spcPts val="2856"/>
              </a:lnSpc>
              <a:spcBef>
                <a:spcPct val="0"/>
              </a:spcBef>
            </a:pPr>
            <a:r>
              <a:rPr lang="en-US" sz="2040">
                <a:solidFill>
                  <a:srgbClr val="194A8D"/>
                </a:solidFill>
                <a:latin typeface="Arimo"/>
                <a:ea typeface="Arimo"/>
                <a:cs typeface="Arimo"/>
                <a:sym typeface="Arimo"/>
              </a:rPr>
              <a:t>Khởi tạo hạ tầng: Tạ</a:t>
            </a:r>
            <a:r>
              <a:rPr lang="en-US" sz="2040">
                <a:solidFill>
                  <a:srgbClr val="194A8D"/>
                </a:solidFill>
                <a:latin typeface="Arimo"/>
                <a:ea typeface="Arimo"/>
                <a:cs typeface="Arimo"/>
                <a:sym typeface="Arimo"/>
              </a:rPr>
              <a:t>o VPC riêng, subnet chia AZ, ECS cluster, ALB, tạo RDS instance</a:t>
            </a:r>
          </a:p>
        </p:txBody>
      </p:sp>
      <p:grpSp>
        <p:nvGrpSpPr>
          <p:cNvPr name="Group 12" id="12"/>
          <p:cNvGrpSpPr/>
          <p:nvPr/>
        </p:nvGrpSpPr>
        <p:grpSpPr>
          <a:xfrm rot="0">
            <a:off x="8257139" y="4154107"/>
            <a:ext cx="8709530" cy="1084959"/>
            <a:chOff x="0" y="0"/>
            <a:chExt cx="2644579" cy="329439"/>
          </a:xfrm>
        </p:grpSpPr>
        <p:sp>
          <p:nvSpPr>
            <p:cNvPr name="Freeform 13" id="13"/>
            <p:cNvSpPr/>
            <p:nvPr/>
          </p:nvSpPr>
          <p:spPr>
            <a:xfrm flipH="false" flipV="false" rot="0">
              <a:off x="0" y="0"/>
              <a:ext cx="2644579" cy="329439"/>
            </a:xfrm>
            <a:custGeom>
              <a:avLst/>
              <a:gdLst/>
              <a:ahLst/>
              <a:cxnLst/>
              <a:rect r="r" b="b" t="t" l="l"/>
              <a:pathLst>
                <a:path h="329439" w="2644579">
                  <a:moveTo>
                    <a:pt x="0" y="0"/>
                  </a:moveTo>
                  <a:lnTo>
                    <a:pt x="2644579" y="0"/>
                  </a:lnTo>
                  <a:lnTo>
                    <a:pt x="2644579" y="329439"/>
                  </a:lnTo>
                  <a:lnTo>
                    <a:pt x="0" y="329439"/>
                  </a:lnTo>
                  <a:close/>
                </a:path>
              </a:pathLst>
            </a:custGeom>
            <a:solidFill>
              <a:srgbClr val="FFFFFF"/>
            </a:solidFill>
          </p:spPr>
        </p:sp>
        <p:sp>
          <p:nvSpPr>
            <p:cNvPr name="TextBox 14" id="14"/>
            <p:cNvSpPr txBox="true"/>
            <p:nvPr/>
          </p:nvSpPr>
          <p:spPr>
            <a:xfrm>
              <a:off x="0" y="-47625"/>
              <a:ext cx="2644579" cy="377064"/>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7438226" y="4217054"/>
            <a:ext cx="1731950" cy="1269661"/>
            <a:chOff x="0" y="0"/>
            <a:chExt cx="812800" cy="595849"/>
          </a:xfrm>
        </p:grpSpPr>
        <p:sp>
          <p:nvSpPr>
            <p:cNvPr name="Freeform 16" id="16"/>
            <p:cNvSpPr/>
            <p:nvPr/>
          </p:nvSpPr>
          <p:spPr>
            <a:xfrm flipH="false" flipV="false" rot="0">
              <a:off x="0" y="0"/>
              <a:ext cx="812800" cy="595849"/>
            </a:xfrm>
            <a:custGeom>
              <a:avLst/>
              <a:gdLst/>
              <a:ahLst/>
              <a:cxnLst/>
              <a:rect r="r" b="b" t="t" l="l"/>
              <a:pathLst>
                <a:path h="595849" w="812800">
                  <a:moveTo>
                    <a:pt x="406400" y="0"/>
                  </a:moveTo>
                  <a:cubicBezTo>
                    <a:pt x="181951" y="0"/>
                    <a:pt x="0" y="133385"/>
                    <a:pt x="0" y="297925"/>
                  </a:cubicBezTo>
                  <a:cubicBezTo>
                    <a:pt x="0" y="462464"/>
                    <a:pt x="181951" y="595849"/>
                    <a:pt x="406400" y="595849"/>
                  </a:cubicBezTo>
                  <a:cubicBezTo>
                    <a:pt x="630849" y="595849"/>
                    <a:pt x="812800" y="462464"/>
                    <a:pt x="812800" y="297925"/>
                  </a:cubicBezTo>
                  <a:cubicBezTo>
                    <a:pt x="812800" y="133385"/>
                    <a:pt x="630849" y="0"/>
                    <a:pt x="406400" y="0"/>
                  </a:cubicBezTo>
                  <a:close/>
                </a:path>
              </a:pathLst>
            </a:custGeom>
            <a:solidFill>
              <a:srgbClr val="194A8D"/>
            </a:solidFill>
          </p:spPr>
        </p:sp>
        <p:sp>
          <p:nvSpPr>
            <p:cNvPr name="TextBox 17" id="17"/>
            <p:cNvSpPr txBox="true"/>
            <p:nvPr/>
          </p:nvSpPr>
          <p:spPr>
            <a:xfrm>
              <a:off x="76200" y="8236"/>
              <a:ext cx="660400" cy="531752"/>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7464401" y="4541076"/>
            <a:ext cx="1679599" cy="740698"/>
          </a:xfrm>
          <a:prstGeom prst="rect">
            <a:avLst/>
          </a:prstGeom>
        </p:spPr>
        <p:txBody>
          <a:bodyPr anchor="t" rtlCol="false" tIns="0" lIns="0" bIns="0" rIns="0">
            <a:spAutoFit/>
          </a:bodyPr>
          <a:lstStyle/>
          <a:p>
            <a:pPr algn="ctr">
              <a:lnSpc>
                <a:spcPts val="5633"/>
              </a:lnSpc>
            </a:pPr>
            <a:r>
              <a:rPr lang="en-US" sz="5314" spc="531">
                <a:solidFill>
                  <a:srgbClr val="FFFFFF"/>
                </a:solidFill>
                <a:latin typeface="League Spartan"/>
                <a:ea typeface="League Spartan"/>
                <a:cs typeface="League Spartan"/>
                <a:sym typeface="League Spartan"/>
              </a:rPr>
              <a:t>02</a:t>
            </a:r>
          </a:p>
        </p:txBody>
      </p:sp>
      <p:sp>
        <p:nvSpPr>
          <p:cNvPr name="TextBox 19" id="19"/>
          <p:cNvSpPr txBox="true"/>
          <p:nvPr/>
        </p:nvSpPr>
        <p:spPr>
          <a:xfrm rot="0">
            <a:off x="9498571" y="4322227"/>
            <a:ext cx="6522677" cy="711896"/>
          </a:xfrm>
          <a:prstGeom prst="rect">
            <a:avLst/>
          </a:prstGeom>
        </p:spPr>
        <p:txBody>
          <a:bodyPr anchor="t" rtlCol="false" tIns="0" lIns="0" bIns="0" rIns="0">
            <a:spAutoFit/>
          </a:bodyPr>
          <a:lstStyle/>
          <a:p>
            <a:pPr algn="l">
              <a:lnSpc>
                <a:spcPts val="2856"/>
              </a:lnSpc>
              <a:spcBef>
                <a:spcPct val="0"/>
              </a:spcBef>
            </a:pPr>
            <a:r>
              <a:rPr lang="en-US" sz="2040">
                <a:solidFill>
                  <a:srgbClr val="194A8D"/>
                </a:solidFill>
                <a:latin typeface="Arimo"/>
                <a:ea typeface="Arimo"/>
                <a:cs typeface="Arimo"/>
                <a:sym typeface="Arimo"/>
              </a:rPr>
              <a:t>Kết nối an toàn: thiết lập RDS</a:t>
            </a:r>
            <a:r>
              <a:rPr lang="en-US" sz="2040">
                <a:solidFill>
                  <a:srgbClr val="194A8D"/>
                </a:solidFill>
                <a:latin typeface="Arimo"/>
                <a:ea typeface="Arimo"/>
                <a:cs typeface="Arimo"/>
                <a:sym typeface="Arimo"/>
              </a:rPr>
              <a:t> Proxy, kết nối ECS → Proxy, dùng IAM Role, Secrets Manager</a:t>
            </a:r>
          </a:p>
        </p:txBody>
      </p:sp>
      <p:grpSp>
        <p:nvGrpSpPr>
          <p:cNvPr name="Group 20" id="20"/>
          <p:cNvGrpSpPr/>
          <p:nvPr/>
        </p:nvGrpSpPr>
        <p:grpSpPr>
          <a:xfrm rot="0">
            <a:off x="8257139" y="5671418"/>
            <a:ext cx="8709530" cy="1084959"/>
            <a:chOff x="0" y="0"/>
            <a:chExt cx="2644579" cy="329439"/>
          </a:xfrm>
        </p:grpSpPr>
        <p:sp>
          <p:nvSpPr>
            <p:cNvPr name="Freeform 21" id="21"/>
            <p:cNvSpPr/>
            <p:nvPr/>
          </p:nvSpPr>
          <p:spPr>
            <a:xfrm flipH="false" flipV="false" rot="0">
              <a:off x="0" y="0"/>
              <a:ext cx="2644579" cy="329439"/>
            </a:xfrm>
            <a:custGeom>
              <a:avLst/>
              <a:gdLst/>
              <a:ahLst/>
              <a:cxnLst/>
              <a:rect r="r" b="b" t="t" l="l"/>
              <a:pathLst>
                <a:path h="329439" w="2644579">
                  <a:moveTo>
                    <a:pt x="0" y="0"/>
                  </a:moveTo>
                  <a:lnTo>
                    <a:pt x="2644579" y="0"/>
                  </a:lnTo>
                  <a:lnTo>
                    <a:pt x="2644579" y="329439"/>
                  </a:lnTo>
                  <a:lnTo>
                    <a:pt x="0" y="329439"/>
                  </a:lnTo>
                  <a:close/>
                </a:path>
              </a:pathLst>
            </a:custGeom>
            <a:solidFill>
              <a:srgbClr val="FFFFFF"/>
            </a:solidFill>
          </p:spPr>
        </p:sp>
        <p:sp>
          <p:nvSpPr>
            <p:cNvPr name="TextBox 22" id="22"/>
            <p:cNvSpPr txBox="true"/>
            <p:nvPr/>
          </p:nvSpPr>
          <p:spPr>
            <a:xfrm>
              <a:off x="0" y="-47625"/>
              <a:ext cx="2644579" cy="377064"/>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7412050" y="5486715"/>
            <a:ext cx="1731950" cy="1269661"/>
            <a:chOff x="0" y="0"/>
            <a:chExt cx="812800" cy="595849"/>
          </a:xfrm>
        </p:grpSpPr>
        <p:sp>
          <p:nvSpPr>
            <p:cNvPr name="Freeform 24" id="24"/>
            <p:cNvSpPr/>
            <p:nvPr/>
          </p:nvSpPr>
          <p:spPr>
            <a:xfrm flipH="false" flipV="false" rot="0">
              <a:off x="0" y="0"/>
              <a:ext cx="812800" cy="595849"/>
            </a:xfrm>
            <a:custGeom>
              <a:avLst/>
              <a:gdLst/>
              <a:ahLst/>
              <a:cxnLst/>
              <a:rect r="r" b="b" t="t" l="l"/>
              <a:pathLst>
                <a:path h="595849" w="812800">
                  <a:moveTo>
                    <a:pt x="406400" y="0"/>
                  </a:moveTo>
                  <a:cubicBezTo>
                    <a:pt x="181951" y="0"/>
                    <a:pt x="0" y="133385"/>
                    <a:pt x="0" y="297925"/>
                  </a:cubicBezTo>
                  <a:cubicBezTo>
                    <a:pt x="0" y="462464"/>
                    <a:pt x="181951" y="595849"/>
                    <a:pt x="406400" y="595849"/>
                  </a:cubicBezTo>
                  <a:cubicBezTo>
                    <a:pt x="630849" y="595849"/>
                    <a:pt x="812800" y="462464"/>
                    <a:pt x="812800" y="297925"/>
                  </a:cubicBezTo>
                  <a:cubicBezTo>
                    <a:pt x="812800" y="133385"/>
                    <a:pt x="630849" y="0"/>
                    <a:pt x="406400" y="0"/>
                  </a:cubicBezTo>
                  <a:close/>
                </a:path>
              </a:pathLst>
            </a:custGeom>
            <a:solidFill>
              <a:srgbClr val="194A8D"/>
            </a:solidFill>
          </p:spPr>
        </p:sp>
        <p:sp>
          <p:nvSpPr>
            <p:cNvPr name="TextBox 25" id="25"/>
            <p:cNvSpPr txBox="true"/>
            <p:nvPr/>
          </p:nvSpPr>
          <p:spPr>
            <a:xfrm>
              <a:off x="76200" y="8236"/>
              <a:ext cx="660400" cy="531752"/>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7438226" y="5810737"/>
            <a:ext cx="1679599" cy="740698"/>
          </a:xfrm>
          <a:prstGeom prst="rect">
            <a:avLst/>
          </a:prstGeom>
        </p:spPr>
        <p:txBody>
          <a:bodyPr anchor="t" rtlCol="false" tIns="0" lIns="0" bIns="0" rIns="0">
            <a:spAutoFit/>
          </a:bodyPr>
          <a:lstStyle/>
          <a:p>
            <a:pPr algn="ctr">
              <a:lnSpc>
                <a:spcPts val="5633"/>
              </a:lnSpc>
            </a:pPr>
            <a:r>
              <a:rPr lang="en-US" sz="5314" spc="531">
                <a:solidFill>
                  <a:srgbClr val="FFFFFF"/>
                </a:solidFill>
                <a:latin typeface="League Spartan"/>
                <a:ea typeface="League Spartan"/>
                <a:cs typeface="League Spartan"/>
                <a:sym typeface="League Spartan"/>
              </a:rPr>
              <a:t>03</a:t>
            </a:r>
          </a:p>
        </p:txBody>
      </p:sp>
      <p:sp>
        <p:nvSpPr>
          <p:cNvPr name="TextBox 27" id="27"/>
          <p:cNvSpPr txBox="true"/>
          <p:nvPr/>
        </p:nvSpPr>
        <p:spPr>
          <a:xfrm rot="0">
            <a:off x="9498571" y="5839539"/>
            <a:ext cx="6522677" cy="711896"/>
          </a:xfrm>
          <a:prstGeom prst="rect">
            <a:avLst/>
          </a:prstGeom>
        </p:spPr>
        <p:txBody>
          <a:bodyPr anchor="t" rtlCol="false" tIns="0" lIns="0" bIns="0" rIns="0">
            <a:spAutoFit/>
          </a:bodyPr>
          <a:lstStyle/>
          <a:p>
            <a:pPr algn="l">
              <a:lnSpc>
                <a:spcPts val="2856"/>
              </a:lnSpc>
              <a:spcBef>
                <a:spcPct val="0"/>
              </a:spcBef>
            </a:pPr>
            <a:r>
              <a:rPr lang="en-US" sz="2040">
                <a:solidFill>
                  <a:srgbClr val="194A8D"/>
                </a:solidFill>
                <a:latin typeface="Arimo"/>
                <a:ea typeface="Arimo"/>
                <a:cs typeface="Arimo"/>
                <a:sym typeface="Arimo"/>
              </a:rPr>
              <a:t>Tối ưu kết nối &amp; failover: Cấu hình connection po</a:t>
            </a:r>
            <a:r>
              <a:rPr lang="en-US" sz="2040">
                <a:solidFill>
                  <a:srgbClr val="194A8D"/>
                </a:solidFill>
                <a:latin typeface="Arimo"/>
                <a:ea typeface="Arimo"/>
                <a:cs typeface="Arimo"/>
                <a:sym typeface="Arimo"/>
              </a:rPr>
              <a:t>oling, giới hạn timeout, test failover Multi-AZ</a:t>
            </a:r>
          </a:p>
        </p:txBody>
      </p:sp>
      <p:grpSp>
        <p:nvGrpSpPr>
          <p:cNvPr name="Group 28" id="28"/>
          <p:cNvGrpSpPr/>
          <p:nvPr/>
        </p:nvGrpSpPr>
        <p:grpSpPr>
          <a:xfrm rot="0">
            <a:off x="8257139" y="7107612"/>
            <a:ext cx="8709530" cy="1084959"/>
            <a:chOff x="0" y="0"/>
            <a:chExt cx="2644579" cy="329439"/>
          </a:xfrm>
        </p:grpSpPr>
        <p:sp>
          <p:nvSpPr>
            <p:cNvPr name="Freeform 29" id="29"/>
            <p:cNvSpPr/>
            <p:nvPr/>
          </p:nvSpPr>
          <p:spPr>
            <a:xfrm flipH="false" flipV="false" rot="0">
              <a:off x="0" y="0"/>
              <a:ext cx="2644579" cy="329439"/>
            </a:xfrm>
            <a:custGeom>
              <a:avLst/>
              <a:gdLst/>
              <a:ahLst/>
              <a:cxnLst/>
              <a:rect r="r" b="b" t="t" l="l"/>
              <a:pathLst>
                <a:path h="329439" w="2644579">
                  <a:moveTo>
                    <a:pt x="0" y="0"/>
                  </a:moveTo>
                  <a:lnTo>
                    <a:pt x="2644579" y="0"/>
                  </a:lnTo>
                  <a:lnTo>
                    <a:pt x="2644579" y="329439"/>
                  </a:lnTo>
                  <a:lnTo>
                    <a:pt x="0" y="329439"/>
                  </a:lnTo>
                  <a:close/>
                </a:path>
              </a:pathLst>
            </a:custGeom>
            <a:solidFill>
              <a:srgbClr val="FFFFFF"/>
            </a:solidFill>
          </p:spPr>
        </p:sp>
        <p:sp>
          <p:nvSpPr>
            <p:cNvPr name="TextBox 30" id="30"/>
            <p:cNvSpPr txBox="true"/>
            <p:nvPr/>
          </p:nvSpPr>
          <p:spPr>
            <a:xfrm>
              <a:off x="0" y="-47625"/>
              <a:ext cx="2644579" cy="377064"/>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7412050" y="6922910"/>
            <a:ext cx="1731950" cy="1269661"/>
            <a:chOff x="0" y="0"/>
            <a:chExt cx="812800" cy="595849"/>
          </a:xfrm>
        </p:grpSpPr>
        <p:sp>
          <p:nvSpPr>
            <p:cNvPr name="Freeform 32" id="32"/>
            <p:cNvSpPr/>
            <p:nvPr/>
          </p:nvSpPr>
          <p:spPr>
            <a:xfrm flipH="false" flipV="false" rot="0">
              <a:off x="0" y="0"/>
              <a:ext cx="812800" cy="595849"/>
            </a:xfrm>
            <a:custGeom>
              <a:avLst/>
              <a:gdLst/>
              <a:ahLst/>
              <a:cxnLst/>
              <a:rect r="r" b="b" t="t" l="l"/>
              <a:pathLst>
                <a:path h="595849" w="812800">
                  <a:moveTo>
                    <a:pt x="406400" y="0"/>
                  </a:moveTo>
                  <a:cubicBezTo>
                    <a:pt x="181951" y="0"/>
                    <a:pt x="0" y="133385"/>
                    <a:pt x="0" y="297925"/>
                  </a:cubicBezTo>
                  <a:cubicBezTo>
                    <a:pt x="0" y="462464"/>
                    <a:pt x="181951" y="595849"/>
                    <a:pt x="406400" y="595849"/>
                  </a:cubicBezTo>
                  <a:cubicBezTo>
                    <a:pt x="630849" y="595849"/>
                    <a:pt x="812800" y="462464"/>
                    <a:pt x="812800" y="297925"/>
                  </a:cubicBezTo>
                  <a:cubicBezTo>
                    <a:pt x="812800" y="133385"/>
                    <a:pt x="630849" y="0"/>
                    <a:pt x="406400" y="0"/>
                  </a:cubicBezTo>
                  <a:close/>
                </a:path>
              </a:pathLst>
            </a:custGeom>
            <a:solidFill>
              <a:srgbClr val="194A8D"/>
            </a:solidFill>
          </p:spPr>
        </p:sp>
        <p:sp>
          <p:nvSpPr>
            <p:cNvPr name="TextBox 33" id="33"/>
            <p:cNvSpPr txBox="true"/>
            <p:nvPr/>
          </p:nvSpPr>
          <p:spPr>
            <a:xfrm>
              <a:off x="76200" y="8236"/>
              <a:ext cx="660400" cy="531752"/>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7438226" y="7246931"/>
            <a:ext cx="1679599" cy="740698"/>
          </a:xfrm>
          <a:prstGeom prst="rect">
            <a:avLst/>
          </a:prstGeom>
        </p:spPr>
        <p:txBody>
          <a:bodyPr anchor="t" rtlCol="false" tIns="0" lIns="0" bIns="0" rIns="0">
            <a:spAutoFit/>
          </a:bodyPr>
          <a:lstStyle/>
          <a:p>
            <a:pPr algn="ctr">
              <a:lnSpc>
                <a:spcPts val="5633"/>
              </a:lnSpc>
            </a:pPr>
            <a:r>
              <a:rPr lang="en-US" sz="5314" spc="531">
                <a:solidFill>
                  <a:srgbClr val="FFFFFF"/>
                </a:solidFill>
                <a:latin typeface="League Spartan"/>
                <a:ea typeface="League Spartan"/>
                <a:cs typeface="League Spartan"/>
                <a:sym typeface="League Spartan"/>
              </a:rPr>
              <a:t>04</a:t>
            </a:r>
          </a:p>
        </p:txBody>
      </p:sp>
      <p:sp>
        <p:nvSpPr>
          <p:cNvPr name="TextBox 35" id="35"/>
          <p:cNvSpPr txBox="true"/>
          <p:nvPr/>
        </p:nvSpPr>
        <p:spPr>
          <a:xfrm rot="0">
            <a:off x="9498571" y="7275733"/>
            <a:ext cx="6522677" cy="711896"/>
          </a:xfrm>
          <a:prstGeom prst="rect">
            <a:avLst/>
          </a:prstGeom>
        </p:spPr>
        <p:txBody>
          <a:bodyPr anchor="t" rtlCol="false" tIns="0" lIns="0" bIns="0" rIns="0">
            <a:spAutoFit/>
          </a:bodyPr>
          <a:lstStyle/>
          <a:p>
            <a:pPr algn="l">
              <a:lnSpc>
                <a:spcPts val="2856"/>
              </a:lnSpc>
              <a:spcBef>
                <a:spcPct val="0"/>
              </a:spcBef>
            </a:pPr>
            <a:r>
              <a:rPr lang="en-US" sz="2040">
                <a:solidFill>
                  <a:srgbClr val="194A8D"/>
                </a:solidFill>
                <a:latin typeface="Arimo"/>
                <a:ea typeface="Arimo"/>
                <a:cs typeface="Arimo"/>
                <a:sym typeface="Arimo"/>
              </a:rPr>
              <a:t>Logging, giám sát &amp; cảnh báo: Kích hoạt CloudWatch l</a:t>
            </a:r>
            <a:r>
              <a:rPr lang="en-US" sz="2040">
                <a:solidFill>
                  <a:srgbClr val="194A8D"/>
                </a:solidFill>
                <a:latin typeface="Arimo"/>
                <a:ea typeface="Arimo"/>
                <a:cs typeface="Arimo"/>
                <a:sym typeface="Arimo"/>
              </a:rPr>
              <a:t>og, metrics, thiết lập alarm cho latency, CPU, kết nối</a:t>
            </a:r>
          </a:p>
        </p:txBody>
      </p:sp>
      <p:grpSp>
        <p:nvGrpSpPr>
          <p:cNvPr name="Group 36" id="36"/>
          <p:cNvGrpSpPr/>
          <p:nvPr/>
        </p:nvGrpSpPr>
        <p:grpSpPr>
          <a:xfrm rot="0">
            <a:off x="8283315" y="8539198"/>
            <a:ext cx="8709530" cy="1084959"/>
            <a:chOff x="0" y="0"/>
            <a:chExt cx="2644579" cy="329439"/>
          </a:xfrm>
        </p:grpSpPr>
        <p:sp>
          <p:nvSpPr>
            <p:cNvPr name="Freeform 37" id="37"/>
            <p:cNvSpPr/>
            <p:nvPr/>
          </p:nvSpPr>
          <p:spPr>
            <a:xfrm flipH="false" flipV="false" rot="0">
              <a:off x="0" y="0"/>
              <a:ext cx="2644579" cy="329439"/>
            </a:xfrm>
            <a:custGeom>
              <a:avLst/>
              <a:gdLst/>
              <a:ahLst/>
              <a:cxnLst/>
              <a:rect r="r" b="b" t="t" l="l"/>
              <a:pathLst>
                <a:path h="329439" w="2644579">
                  <a:moveTo>
                    <a:pt x="0" y="0"/>
                  </a:moveTo>
                  <a:lnTo>
                    <a:pt x="2644579" y="0"/>
                  </a:lnTo>
                  <a:lnTo>
                    <a:pt x="2644579" y="329439"/>
                  </a:lnTo>
                  <a:lnTo>
                    <a:pt x="0" y="329439"/>
                  </a:lnTo>
                  <a:close/>
                </a:path>
              </a:pathLst>
            </a:custGeom>
            <a:solidFill>
              <a:srgbClr val="FFFFFF"/>
            </a:solidFill>
          </p:spPr>
        </p:sp>
        <p:sp>
          <p:nvSpPr>
            <p:cNvPr name="TextBox 38" id="38"/>
            <p:cNvSpPr txBox="true"/>
            <p:nvPr/>
          </p:nvSpPr>
          <p:spPr>
            <a:xfrm>
              <a:off x="0" y="-47625"/>
              <a:ext cx="2644579" cy="377064"/>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7438226" y="8354496"/>
            <a:ext cx="1731950" cy="1269661"/>
            <a:chOff x="0" y="0"/>
            <a:chExt cx="812800" cy="595849"/>
          </a:xfrm>
        </p:grpSpPr>
        <p:sp>
          <p:nvSpPr>
            <p:cNvPr name="Freeform 40" id="40"/>
            <p:cNvSpPr/>
            <p:nvPr/>
          </p:nvSpPr>
          <p:spPr>
            <a:xfrm flipH="false" flipV="false" rot="0">
              <a:off x="0" y="0"/>
              <a:ext cx="812800" cy="595849"/>
            </a:xfrm>
            <a:custGeom>
              <a:avLst/>
              <a:gdLst/>
              <a:ahLst/>
              <a:cxnLst/>
              <a:rect r="r" b="b" t="t" l="l"/>
              <a:pathLst>
                <a:path h="595849" w="812800">
                  <a:moveTo>
                    <a:pt x="406400" y="0"/>
                  </a:moveTo>
                  <a:cubicBezTo>
                    <a:pt x="181951" y="0"/>
                    <a:pt x="0" y="133385"/>
                    <a:pt x="0" y="297925"/>
                  </a:cubicBezTo>
                  <a:cubicBezTo>
                    <a:pt x="0" y="462464"/>
                    <a:pt x="181951" y="595849"/>
                    <a:pt x="406400" y="595849"/>
                  </a:cubicBezTo>
                  <a:cubicBezTo>
                    <a:pt x="630849" y="595849"/>
                    <a:pt x="812800" y="462464"/>
                    <a:pt x="812800" y="297925"/>
                  </a:cubicBezTo>
                  <a:cubicBezTo>
                    <a:pt x="812800" y="133385"/>
                    <a:pt x="630849" y="0"/>
                    <a:pt x="406400" y="0"/>
                  </a:cubicBezTo>
                  <a:close/>
                </a:path>
              </a:pathLst>
            </a:custGeom>
            <a:solidFill>
              <a:srgbClr val="194A8D"/>
            </a:solidFill>
          </p:spPr>
        </p:sp>
        <p:sp>
          <p:nvSpPr>
            <p:cNvPr name="TextBox 41" id="41"/>
            <p:cNvSpPr txBox="true"/>
            <p:nvPr/>
          </p:nvSpPr>
          <p:spPr>
            <a:xfrm>
              <a:off x="76200" y="8236"/>
              <a:ext cx="660400" cy="531752"/>
            </a:xfrm>
            <a:prstGeom prst="rect">
              <a:avLst/>
            </a:prstGeom>
          </p:spPr>
          <p:txBody>
            <a:bodyPr anchor="ctr" rtlCol="false" tIns="50800" lIns="50800" bIns="50800" rIns="50800"/>
            <a:lstStyle/>
            <a:p>
              <a:pPr algn="ctr">
                <a:lnSpc>
                  <a:spcPts val="2659"/>
                </a:lnSpc>
              </a:pPr>
            </a:p>
          </p:txBody>
        </p:sp>
      </p:grpSp>
      <p:sp>
        <p:nvSpPr>
          <p:cNvPr name="TextBox 42" id="42"/>
          <p:cNvSpPr txBox="true"/>
          <p:nvPr/>
        </p:nvSpPr>
        <p:spPr>
          <a:xfrm rot="0">
            <a:off x="7464401" y="8678517"/>
            <a:ext cx="1679599" cy="740698"/>
          </a:xfrm>
          <a:prstGeom prst="rect">
            <a:avLst/>
          </a:prstGeom>
        </p:spPr>
        <p:txBody>
          <a:bodyPr anchor="t" rtlCol="false" tIns="0" lIns="0" bIns="0" rIns="0">
            <a:spAutoFit/>
          </a:bodyPr>
          <a:lstStyle/>
          <a:p>
            <a:pPr algn="ctr">
              <a:lnSpc>
                <a:spcPts val="5633"/>
              </a:lnSpc>
            </a:pPr>
            <a:r>
              <a:rPr lang="en-US" sz="5314" spc="531">
                <a:solidFill>
                  <a:srgbClr val="FFFFFF"/>
                </a:solidFill>
                <a:latin typeface="League Spartan"/>
                <a:ea typeface="League Spartan"/>
                <a:cs typeface="League Spartan"/>
                <a:sym typeface="League Spartan"/>
              </a:rPr>
              <a:t>05</a:t>
            </a:r>
          </a:p>
        </p:txBody>
      </p:sp>
      <p:sp>
        <p:nvSpPr>
          <p:cNvPr name="TextBox 43" id="43"/>
          <p:cNvSpPr txBox="true"/>
          <p:nvPr/>
        </p:nvSpPr>
        <p:spPr>
          <a:xfrm rot="0">
            <a:off x="9524746" y="8707319"/>
            <a:ext cx="6522677" cy="711896"/>
          </a:xfrm>
          <a:prstGeom prst="rect">
            <a:avLst/>
          </a:prstGeom>
        </p:spPr>
        <p:txBody>
          <a:bodyPr anchor="t" rtlCol="false" tIns="0" lIns="0" bIns="0" rIns="0">
            <a:spAutoFit/>
          </a:bodyPr>
          <a:lstStyle/>
          <a:p>
            <a:pPr algn="l">
              <a:lnSpc>
                <a:spcPts val="2856"/>
              </a:lnSpc>
              <a:spcBef>
                <a:spcPct val="0"/>
              </a:spcBef>
            </a:pPr>
            <a:r>
              <a:rPr lang="en-US" sz="2040">
                <a:solidFill>
                  <a:srgbClr val="194A8D"/>
                </a:solidFill>
                <a:latin typeface="Arimo"/>
                <a:ea typeface="Arimo"/>
                <a:cs typeface="Arimo"/>
                <a:sym typeface="Arimo"/>
              </a:rPr>
              <a:t>Kiểm thử toàn hệ thống: Test hiệu suất</a:t>
            </a:r>
            <a:r>
              <a:rPr lang="en-US" sz="2040">
                <a:solidFill>
                  <a:srgbClr val="194A8D"/>
                </a:solidFill>
                <a:latin typeface="Arimo"/>
                <a:ea typeface="Arimo"/>
                <a:cs typeface="Arimo"/>
                <a:sym typeface="Arimo"/>
              </a:rPr>
              <a:t>, viết SOP khôi phục, tài liệu hóa toàn bộ quy trình</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261658" y="-1359176"/>
            <a:ext cx="9754014" cy="13005352"/>
          </a:xfrm>
          <a:custGeom>
            <a:avLst/>
            <a:gdLst/>
            <a:ahLst/>
            <a:cxnLst/>
            <a:rect r="r" b="b" t="t" l="l"/>
            <a:pathLst>
              <a:path h="13005352" w="9754014">
                <a:moveTo>
                  <a:pt x="0" y="0"/>
                </a:moveTo>
                <a:lnTo>
                  <a:pt x="9754015" y="0"/>
                </a:lnTo>
                <a:lnTo>
                  <a:pt x="9754015" y="13005352"/>
                </a:lnTo>
                <a:lnTo>
                  <a:pt x="0" y="13005352"/>
                </a:lnTo>
                <a:lnTo>
                  <a:pt x="0" y="0"/>
                </a:lnTo>
                <a:close/>
              </a:path>
            </a:pathLst>
          </a:custGeom>
          <a:blipFill>
            <a:blip r:embed="rId2">
              <a:alphaModFix amt="39000"/>
            </a:blip>
            <a:stretch>
              <a:fillRect l="0" t="0" r="0" b="0"/>
            </a:stretch>
          </a:blipFill>
        </p:spPr>
      </p:sp>
      <p:sp>
        <p:nvSpPr>
          <p:cNvPr name="TextBox 3" id="3"/>
          <p:cNvSpPr txBox="true"/>
          <p:nvPr/>
        </p:nvSpPr>
        <p:spPr>
          <a:xfrm rot="0">
            <a:off x="1906592" y="4519095"/>
            <a:ext cx="4029814" cy="2116559"/>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Các mốc quan trọng</a:t>
            </a:r>
          </a:p>
        </p:txBody>
      </p:sp>
      <p:grpSp>
        <p:nvGrpSpPr>
          <p:cNvPr name="Group 4" id="4"/>
          <p:cNvGrpSpPr/>
          <p:nvPr/>
        </p:nvGrpSpPr>
        <p:grpSpPr>
          <a:xfrm rot="0">
            <a:off x="8257139" y="1664107"/>
            <a:ext cx="8709530" cy="1084959"/>
            <a:chOff x="0" y="0"/>
            <a:chExt cx="2644579" cy="329439"/>
          </a:xfrm>
        </p:grpSpPr>
        <p:sp>
          <p:nvSpPr>
            <p:cNvPr name="Freeform 5" id="5"/>
            <p:cNvSpPr/>
            <p:nvPr/>
          </p:nvSpPr>
          <p:spPr>
            <a:xfrm flipH="false" flipV="false" rot="0">
              <a:off x="0" y="0"/>
              <a:ext cx="2644579" cy="329439"/>
            </a:xfrm>
            <a:custGeom>
              <a:avLst/>
              <a:gdLst/>
              <a:ahLst/>
              <a:cxnLst/>
              <a:rect r="r" b="b" t="t" l="l"/>
              <a:pathLst>
                <a:path h="329439" w="2644579">
                  <a:moveTo>
                    <a:pt x="0" y="0"/>
                  </a:moveTo>
                  <a:lnTo>
                    <a:pt x="2644579" y="0"/>
                  </a:lnTo>
                  <a:lnTo>
                    <a:pt x="2644579" y="329439"/>
                  </a:lnTo>
                  <a:lnTo>
                    <a:pt x="0" y="329439"/>
                  </a:lnTo>
                  <a:close/>
                </a:path>
              </a:pathLst>
            </a:custGeom>
            <a:solidFill>
              <a:srgbClr val="FFFFFF"/>
            </a:solidFill>
          </p:spPr>
        </p:sp>
        <p:sp>
          <p:nvSpPr>
            <p:cNvPr name="TextBox 6" id="6"/>
            <p:cNvSpPr txBox="true"/>
            <p:nvPr/>
          </p:nvSpPr>
          <p:spPr>
            <a:xfrm>
              <a:off x="0" y="-47625"/>
              <a:ext cx="2644579" cy="377064"/>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7438226" y="1571756"/>
            <a:ext cx="1731950" cy="1269661"/>
            <a:chOff x="0" y="0"/>
            <a:chExt cx="812800" cy="595849"/>
          </a:xfrm>
        </p:grpSpPr>
        <p:sp>
          <p:nvSpPr>
            <p:cNvPr name="Freeform 8" id="8"/>
            <p:cNvSpPr/>
            <p:nvPr/>
          </p:nvSpPr>
          <p:spPr>
            <a:xfrm flipH="false" flipV="false" rot="0">
              <a:off x="0" y="0"/>
              <a:ext cx="812800" cy="595849"/>
            </a:xfrm>
            <a:custGeom>
              <a:avLst/>
              <a:gdLst/>
              <a:ahLst/>
              <a:cxnLst/>
              <a:rect r="r" b="b" t="t" l="l"/>
              <a:pathLst>
                <a:path h="595849" w="812800">
                  <a:moveTo>
                    <a:pt x="406400" y="0"/>
                  </a:moveTo>
                  <a:cubicBezTo>
                    <a:pt x="181951" y="0"/>
                    <a:pt x="0" y="133385"/>
                    <a:pt x="0" y="297925"/>
                  </a:cubicBezTo>
                  <a:cubicBezTo>
                    <a:pt x="0" y="462464"/>
                    <a:pt x="181951" y="595849"/>
                    <a:pt x="406400" y="595849"/>
                  </a:cubicBezTo>
                  <a:cubicBezTo>
                    <a:pt x="630849" y="595849"/>
                    <a:pt x="812800" y="462464"/>
                    <a:pt x="812800" y="297925"/>
                  </a:cubicBezTo>
                  <a:cubicBezTo>
                    <a:pt x="812800" y="133385"/>
                    <a:pt x="630849" y="0"/>
                    <a:pt x="406400" y="0"/>
                  </a:cubicBezTo>
                  <a:close/>
                </a:path>
              </a:pathLst>
            </a:custGeom>
            <a:solidFill>
              <a:srgbClr val="194A8D"/>
            </a:solidFill>
          </p:spPr>
        </p:sp>
        <p:sp>
          <p:nvSpPr>
            <p:cNvPr name="TextBox 9" id="9"/>
            <p:cNvSpPr txBox="true"/>
            <p:nvPr/>
          </p:nvSpPr>
          <p:spPr>
            <a:xfrm>
              <a:off x="76200" y="8236"/>
              <a:ext cx="660400" cy="531752"/>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7417340" y="1849061"/>
            <a:ext cx="1679599" cy="740698"/>
          </a:xfrm>
          <a:prstGeom prst="rect">
            <a:avLst/>
          </a:prstGeom>
        </p:spPr>
        <p:txBody>
          <a:bodyPr anchor="t" rtlCol="false" tIns="0" lIns="0" bIns="0" rIns="0">
            <a:spAutoFit/>
          </a:bodyPr>
          <a:lstStyle/>
          <a:p>
            <a:pPr algn="ctr">
              <a:lnSpc>
                <a:spcPts val="5633"/>
              </a:lnSpc>
            </a:pPr>
            <a:r>
              <a:rPr lang="en-US" sz="5314" spc="531">
                <a:solidFill>
                  <a:srgbClr val="FFFFFF"/>
                </a:solidFill>
                <a:latin typeface="League Spartan"/>
                <a:ea typeface="League Spartan"/>
                <a:cs typeface="League Spartan"/>
                <a:sym typeface="League Spartan"/>
              </a:rPr>
              <a:t>M1</a:t>
            </a:r>
          </a:p>
        </p:txBody>
      </p:sp>
      <p:sp>
        <p:nvSpPr>
          <p:cNvPr name="TextBox 11" id="11"/>
          <p:cNvSpPr txBox="true"/>
          <p:nvPr/>
        </p:nvSpPr>
        <p:spPr>
          <a:xfrm rot="0">
            <a:off x="9498571" y="1832227"/>
            <a:ext cx="6522677" cy="353844"/>
          </a:xfrm>
          <a:prstGeom prst="rect">
            <a:avLst/>
          </a:prstGeom>
        </p:spPr>
        <p:txBody>
          <a:bodyPr anchor="t" rtlCol="false" tIns="0" lIns="0" bIns="0" rIns="0">
            <a:spAutoFit/>
          </a:bodyPr>
          <a:lstStyle/>
          <a:p>
            <a:pPr algn="l">
              <a:lnSpc>
                <a:spcPts val="2856"/>
              </a:lnSpc>
              <a:spcBef>
                <a:spcPct val="0"/>
              </a:spcBef>
            </a:pPr>
            <a:r>
              <a:rPr lang="en-US" sz="2040">
                <a:solidFill>
                  <a:srgbClr val="194A8D"/>
                </a:solidFill>
                <a:latin typeface="Arimo"/>
                <a:ea typeface="Arimo"/>
                <a:cs typeface="Arimo"/>
                <a:sym typeface="Arimo"/>
              </a:rPr>
              <a:t>Tạo ECS + RDS</a:t>
            </a:r>
            <a:r>
              <a:rPr lang="en-US" sz="2040">
                <a:solidFill>
                  <a:srgbClr val="194A8D"/>
                </a:solidFill>
                <a:latin typeface="Arimo"/>
                <a:ea typeface="Arimo"/>
                <a:cs typeface="Arimo"/>
                <a:sym typeface="Arimo"/>
              </a:rPr>
              <a:t> Proxy + RDS Multi-AZ, hạ tầng ổn định</a:t>
            </a:r>
          </a:p>
        </p:txBody>
      </p:sp>
      <p:grpSp>
        <p:nvGrpSpPr>
          <p:cNvPr name="Group 12" id="12"/>
          <p:cNvGrpSpPr/>
          <p:nvPr/>
        </p:nvGrpSpPr>
        <p:grpSpPr>
          <a:xfrm rot="0">
            <a:off x="8257139" y="3152843"/>
            <a:ext cx="8709530" cy="1084959"/>
            <a:chOff x="0" y="0"/>
            <a:chExt cx="2644579" cy="329439"/>
          </a:xfrm>
        </p:grpSpPr>
        <p:sp>
          <p:nvSpPr>
            <p:cNvPr name="Freeform 13" id="13"/>
            <p:cNvSpPr/>
            <p:nvPr/>
          </p:nvSpPr>
          <p:spPr>
            <a:xfrm flipH="false" flipV="false" rot="0">
              <a:off x="0" y="0"/>
              <a:ext cx="2644579" cy="329439"/>
            </a:xfrm>
            <a:custGeom>
              <a:avLst/>
              <a:gdLst/>
              <a:ahLst/>
              <a:cxnLst/>
              <a:rect r="r" b="b" t="t" l="l"/>
              <a:pathLst>
                <a:path h="329439" w="2644579">
                  <a:moveTo>
                    <a:pt x="0" y="0"/>
                  </a:moveTo>
                  <a:lnTo>
                    <a:pt x="2644579" y="0"/>
                  </a:lnTo>
                  <a:lnTo>
                    <a:pt x="2644579" y="329439"/>
                  </a:lnTo>
                  <a:lnTo>
                    <a:pt x="0" y="329439"/>
                  </a:lnTo>
                  <a:close/>
                </a:path>
              </a:pathLst>
            </a:custGeom>
            <a:solidFill>
              <a:srgbClr val="FFFFFF"/>
            </a:solidFill>
          </p:spPr>
        </p:sp>
        <p:sp>
          <p:nvSpPr>
            <p:cNvPr name="TextBox 14" id="14"/>
            <p:cNvSpPr txBox="true"/>
            <p:nvPr/>
          </p:nvSpPr>
          <p:spPr>
            <a:xfrm>
              <a:off x="0" y="-47625"/>
              <a:ext cx="2644579" cy="377064"/>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7364989" y="3029018"/>
            <a:ext cx="1731950" cy="1269661"/>
            <a:chOff x="0" y="0"/>
            <a:chExt cx="812800" cy="595849"/>
          </a:xfrm>
        </p:grpSpPr>
        <p:sp>
          <p:nvSpPr>
            <p:cNvPr name="Freeform 16" id="16"/>
            <p:cNvSpPr/>
            <p:nvPr/>
          </p:nvSpPr>
          <p:spPr>
            <a:xfrm flipH="false" flipV="false" rot="0">
              <a:off x="0" y="0"/>
              <a:ext cx="812800" cy="595849"/>
            </a:xfrm>
            <a:custGeom>
              <a:avLst/>
              <a:gdLst/>
              <a:ahLst/>
              <a:cxnLst/>
              <a:rect r="r" b="b" t="t" l="l"/>
              <a:pathLst>
                <a:path h="595849" w="812800">
                  <a:moveTo>
                    <a:pt x="406400" y="0"/>
                  </a:moveTo>
                  <a:cubicBezTo>
                    <a:pt x="181951" y="0"/>
                    <a:pt x="0" y="133385"/>
                    <a:pt x="0" y="297925"/>
                  </a:cubicBezTo>
                  <a:cubicBezTo>
                    <a:pt x="0" y="462464"/>
                    <a:pt x="181951" y="595849"/>
                    <a:pt x="406400" y="595849"/>
                  </a:cubicBezTo>
                  <a:cubicBezTo>
                    <a:pt x="630849" y="595849"/>
                    <a:pt x="812800" y="462464"/>
                    <a:pt x="812800" y="297925"/>
                  </a:cubicBezTo>
                  <a:cubicBezTo>
                    <a:pt x="812800" y="133385"/>
                    <a:pt x="630849" y="0"/>
                    <a:pt x="406400" y="0"/>
                  </a:cubicBezTo>
                  <a:close/>
                </a:path>
              </a:pathLst>
            </a:custGeom>
            <a:solidFill>
              <a:srgbClr val="194A8D"/>
            </a:solidFill>
          </p:spPr>
        </p:sp>
        <p:sp>
          <p:nvSpPr>
            <p:cNvPr name="TextBox 17" id="17"/>
            <p:cNvSpPr txBox="true"/>
            <p:nvPr/>
          </p:nvSpPr>
          <p:spPr>
            <a:xfrm>
              <a:off x="76200" y="8236"/>
              <a:ext cx="660400" cy="531752"/>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7490576" y="3363713"/>
            <a:ext cx="1679599" cy="740698"/>
          </a:xfrm>
          <a:prstGeom prst="rect">
            <a:avLst/>
          </a:prstGeom>
        </p:spPr>
        <p:txBody>
          <a:bodyPr anchor="t" rtlCol="false" tIns="0" lIns="0" bIns="0" rIns="0">
            <a:spAutoFit/>
          </a:bodyPr>
          <a:lstStyle/>
          <a:p>
            <a:pPr algn="ctr">
              <a:lnSpc>
                <a:spcPts val="5633"/>
              </a:lnSpc>
            </a:pPr>
            <a:r>
              <a:rPr lang="en-US" sz="5314" spc="531">
                <a:solidFill>
                  <a:srgbClr val="FFFFFF"/>
                </a:solidFill>
                <a:latin typeface="League Spartan"/>
                <a:ea typeface="League Spartan"/>
                <a:cs typeface="League Spartan"/>
                <a:sym typeface="League Spartan"/>
              </a:rPr>
              <a:t>M2</a:t>
            </a:r>
          </a:p>
        </p:txBody>
      </p:sp>
      <p:sp>
        <p:nvSpPr>
          <p:cNvPr name="TextBox 19" id="19"/>
          <p:cNvSpPr txBox="true"/>
          <p:nvPr/>
        </p:nvSpPr>
        <p:spPr>
          <a:xfrm rot="0">
            <a:off x="9498571" y="3320964"/>
            <a:ext cx="6522677" cy="711896"/>
          </a:xfrm>
          <a:prstGeom prst="rect">
            <a:avLst/>
          </a:prstGeom>
        </p:spPr>
        <p:txBody>
          <a:bodyPr anchor="t" rtlCol="false" tIns="0" lIns="0" bIns="0" rIns="0">
            <a:spAutoFit/>
          </a:bodyPr>
          <a:lstStyle/>
          <a:p>
            <a:pPr algn="l">
              <a:lnSpc>
                <a:spcPts val="2856"/>
              </a:lnSpc>
              <a:spcBef>
                <a:spcPct val="0"/>
              </a:spcBef>
            </a:pPr>
            <a:r>
              <a:rPr lang="en-US" sz="2040">
                <a:solidFill>
                  <a:srgbClr val="194A8D"/>
                </a:solidFill>
                <a:latin typeface="Arimo"/>
                <a:ea typeface="Arimo"/>
                <a:cs typeface="Arimo"/>
                <a:sym typeface="Arimo"/>
              </a:rPr>
              <a:t>Ứng dụng backend kết nối thông qua RDS</a:t>
            </a:r>
            <a:r>
              <a:rPr lang="en-US" sz="2040">
                <a:solidFill>
                  <a:srgbClr val="194A8D"/>
                </a:solidFill>
                <a:latin typeface="Arimo"/>
                <a:ea typeface="Arimo"/>
                <a:cs typeface="Arimo"/>
                <a:sym typeface="Arimo"/>
              </a:rPr>
              <a:t> Proxy an toàn và hoạt động thành công</a:t>
            </a:r>
          </a:p>
        </p:txBody>
      </p:sp>
      <p:grpSp>
        <p:nvGrpSpPr>
          <p:cNvPr name="Group 20" id="20"/>
          <p:cNvGrpSpPr/>
          <p:nvPr/>
        </p:nvGrpSpPr>
        <p:grpSpPr>
          <a:xfrm rot="0">
            <a:off x="8257139" y="4670154"/>
            <a:ext cx="8709530" cy="1084959"/>
            <a:chOff x="0" y="0"/>
            <a:chExt cx="2644579" cy="329439"/>
          </a:xfrm>
        </p:grpSpPr>
        <p:sp>
          <p:nvSpPr>
            <p:cNvPr name="Freeform 21" id="21"/>
            <p:cNvSpPr/>
            <p:nvPr/>
          </p:nvSpPr>
          <p:spPr>
            <a:xfrm flipH="false" flipV="false" rot="0">
              <a:off x="0" y="0"/>
              <a:ext cx="2644579" cy="329439"/>
            </a:xfrm>
            <a:custGeom>
              <a:avLst/>
              <a:gdLst/>
              <a:ahLst/>
              <a:cxnLst/>
              <a:rect r="r" b="b" t="t" l="l"/>
              <a:pathLst>
                <a:path h="329439" w="2644579">
                  <a:moveTo>
                    <a:pt x="0" y="0"/>
                  </a:moveTo>
                  <a:lnTo>
                    <a:pt x="2644579" y="0"/>
                  </a:lnTo>
                  <a:lnTo>
                    <a:pt x="2644579" y="329439"/>
                  </a:lnTo>
                  <a:lnTo>
                    <a:pt x="0" y="329439"/>
                  </a:lnTo>
                  <a:close/>
                </a:path>
              </a:pathLst>
            </a:custGeom>
            <a:solidFill>
              <a:srgbClr val="FFFFFF"/>
            </a:solidFill>
          </p:spPr>
        </p:sp>
        <p:sp>
          <p:nvSpPr>
            <p:cNvPr name="TextBox 22" id="22"/>
            <p:cNvSpPr txBox="true"/>
            <p:nvPr/>
          </p:nvSpPr>
          <p:spPr>
            <a:xfrm>
              <a:off x="0" y="-47625"/>
              <a:ext cx="2644579" cy="377064"/>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7364989" y="4589037"/>
            <a:ext cx="1731950" cy="1269661"/>
            <a:chOff x="0" y="0"/>
            <a:chExt cx="812800" cy="595849"/>
          </a:xfrm>
        </p:grpSpPr>
        <p:sp>
          <p:nvSpPr>
            <p:cNvPr name="Freeform 24" id="24"/>
            <p:cNvSpPr/>
            <p:nvPr/>
          </p:nvSpPr>
          <p:spPr>
            <a:xfrm flipH="false" flipV="false" rot="0">
              <a:off x="0" y="0"/>
              <a:ext cx="812800" cy="595849"/>
            </a:xfrm>
            <a:custGeom>
              <a:avLst/>
              <a:gdLst/>
              <a:ahLst/>
              <a:cxnLst/>
              <a:rect r="r" b="b" t="t" l="l"/>
              <a:pathLst>
                <a:path h="595849" w="812800">
                  <a:moveTo>
                    <a:pt x="406400" y="0"/>
                  </a:moveTo>
                  <a:cubicBezTo>
                    <a:pt x="181951" y="0"/>
                    <a:pt x="0" y="133385"/>
                    <a:pt x="0" y="297925"/>
                  </a:cubicBezTo>
                  <a:cubicBezTo>
                    <a:pt x="0" y="462464"/>
                    <a:pt x="181951" y="595849"/>
                    <a:pt x="406400" y="595849"/>
                  </a:cubicBezTo>
                  <a:cubicBezTo>
                    <a:pt x="630849" y="595849"/>
                    <a:pt x="812800" y="462464"/>
                    <a:pt x="812800" y="297925"/>
                  </a:cubicBezTo>
                  <a:cubicBezTo>
                    <a:pt x="812800" y="133385"/>
                    <a:pt x="630849" y="0"/>
                    <a:pt x="406400" y="0"/>
                  </a:cubicBezTo>
                  <a:close/>
                </a:path>
              </a:pathLst>
            </a:custGeom>
            <a:solidFill>
              <a:srgbClr val="194A8D"/>
            </a:solidFill>
          </p:spPr>
        </p:sp>
        <p:sp>
          <p:nvSpPr>
            <p:cNvPr name="TextBox 25" id="25"/>
            <p:cNvSpPr txBox="true"/>
            <p:nvPr/>
          </p:nvSpPr>
          <p:spPr>
            <a:xfrm>
              <a:off x="76200" y="8236"/>
              <a:ext cx="660400" cy="531752"/>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7364989" y="4927329"/>
            <a:ext cx="1679599" cy="740698"/>
          </a:xfrm>
          <a:prstGeom prst="rect">
            <a:avLst/>
          </a:prstGeom>
        </p:spPr>
        <p:txBody>
          <a:bodyPr anchor="t" rtlCol="false" tIns="0" lIns="0" bIns="0" rIns="0">
            <a:spAutoFit/>
          </a:bodyPr>
          <a:lstStyle/>
          <a:p>
            <a:pPr algn="ctr">
              <a:lnSpc>
                <a:spcPts val="5633"/>
              </a:lnSpc>
            </a:pPr>
            <a:r>
              <a:rPr lang="en-US" sz="5314" spc="531">
                <a:solidFill>
                  <a:srgbClr val="FFFFFF"/>
                </a:solidFill>
                <a:latin typeface="League Spartan"/>
                <a:ea typeface="League Spartan"/>
                <a:cs typeface="League Spartan"/>
                <a:sym typeface="League Spartan"/>
              </a:rPr>
              <a:t>M3</a:t>
            </a:r>
          </a:p>
        </p:txBody>
      </p:sp>
      <p:sp>
        <p:nvSpPr>
          <p:cNvPr name="TextBox 27" id="27"/>
          <p:cNvSpPr txBox="true"/>
          <p:nvPr/>
        </p:nvSpPr>
        <p:spPr>
          <a:xfrm rot="0">
            <a:off x="9498571" y="4838275"/>
            <a:ext cx="6522677" cy="711896"/>
          </a:xfrm>
          <a:prstGeom prst="rect">
            <a:avLst/>
          </a:prstGeom>
        </p:spPr>
        <p:txBody>
          <a:bodyPr anchor="t" rtlCol="false" tIns="0" lIns="0" bIns="0" rIns="0">
            <a:spAutoFit/>
          </a:bodyPr>
          <a:lstStyle/>
          <a:p>
            <a:pPr algn="l">
              <a:lnSpc>
                <a:spcPts val="2856"/>
              </a:lnSpc>
              <a:spcBef>
                <a:spcPct val="0"/>
              </a:spcBef>
            </a:pPr>
            <a:r>
              <a:rPr lang="en-US" sz="2040">
                <a:solidFill>
                  <a:srgbClr val="194A8D"/>
                </a:solidFill>
                <a:latin typeface="Arimo"/>
                <a:ea typeface="Arimo"/>
                <a:cs typeface="Arimo"/>
                <a:sym typeface="Arimo"/>
              </a:rPr>
              <a:t>Pooling hiệu quả, cấu hình auto failover kiểm nghiệm qua thử </a:t>
            </a:r>
            <a:r>
              <a:rPr lang="en-US" sz="2040">
                <a:solidFill>
                  <a:srgbClr val="194A8D"/>
                </a:solidFill>
                <a:latin typeface="Arimo"/>
                <a:ea typeface="Arimo"/>
                <a:cs typeface="Arimo"/>
                <a:sym typeface="Arimo"/>
              </a:rPr>
              <a:t>nghiệm thực tế</a:t>
            </a:r>
          </a:p>
        </p:txBody>
      </p:sp>
      <p:grpSp>
        <p:nvGrpSpPr>
          <p:cNvPr name="Group 28" id="28"/>
          <p:cNvGrpSpPr/>
          <p:nvPr/>
        </p:nvGrpSpPr>
        <p:grpSpPr>
          <a:xfrm rot="0">
            <a:off x="8257139" y="6106348"/>
            <a:ext cx="8709530" cy="1084959"/>
            <a:chOff x="0" y="0"/>
            <a:chExt cx="2644579" cy="329439"/>
          </a:xfrm>
        </p:grpSpPr>
        <p:sp>
          <p:nvSpPr>
            <p:cNvPr name="Freeform 29" id="29"/>
            <p:cNvSpPr/>
            <p:nvPr/>
          </p:nvSpPr>
          <p:spPr>
            <a:xfrm flipH="false" flipV="false" rot="0">
              <a:off x="0" y="0"/>
              <a:ext cx="2644579" cy="329439"/>
            </a:xfrm>
            <a:custGeom>
              <a:avLst/>
              <a:gdLst/>
              <a:ahLst/>
              <a:cxnLst/>
              <a:rect r="r" b="b" t="t" l="l"/>
              <a:pathLst>
                <a:path h="329439" w="2644579">
                  <a:moveTo>
                    <a:pt x="0" y="0"/>
                  </a:moveTo>
                  <a:lnTo>
                    <a:pt x="2644579" y="0"/>
                  </a:lnTo>
                  <a:lnTo>
                    <a:pt x="2644579" y="329439"/>
                  </a:lnTo>
                  <a:lnTo>
                    <a:pt x="0" y="329439"/>
                  </a:lnTo>
                  <a:close/>
                </a:path>
              </a:pathLst>
            </a:custGeom>
            <a:solidFill>
              <a:srgbClr val="FFFFFF"/>
            </a:solidFill>
          </p:spPr>
        </p:sp>
        <p:sp>
          <p:nvSpPr>
            <p:cNvPr name="TextBox 30" id="30"/>
            <p:cNvSpPr txBox="true"/>
            <p:nvPr/>
          </p:nvSpPr>
          <p:spPr>
            <a:xfrm>
              <a:off x="0" y="-47625"/>
              <a:ext cx="2644579" cy="377064"/>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7412050" y="6000823"/>
            <a:ext cx="1731950" cy="1269661"/>
            <a:chOff x="0" y="0"/>
            <a:chExt cx="812800" cy="595849"/>
          </a:xfrm>
        </p:grpSpPr>
        <p:sp>
          <p:nvSpPr>
            <p:cNvPr name="Freeform 32" id="32"/>
            <p:cNvSpPr/>
            <p:nvPr/>
          </p:nvSpPr>
          <p:spPr>
            <a:xfrm flipH="false" flipV="false" rot="0">
              <a:off x="0" y="0"/>
              <a:ext cx="812800" cy="595849"/>
            </a:xfrm>
            <a:custGeom>
              <a:avLst/>
              <a:gdLst/>
              <a:ahLst/>
              <a:cxnLst/>
              <a:rect r="r" b="b" t="t" l="l"/>
              <a:pathLst>
                <a:path h="595849" w="812800">
                  <a:moveTo>
                    <a:pt x="406400" y="0"/>
                  </a:moveTo>
                  <a:cubicBezTo>
                    <a:pt x="181951" y="0"/>
                    <a:pt x="0" y="133385"/>
                    <a:pt x="0" y="297925"/>
                  </a:cubicBezTo>
                  <a:cubicBezTo>
                    <a:pt x="0" y="462464"/>
                    <a:pt x="181951" y="595849"/>
                    <a:pt x="406400" y="595849"/>
                  </a:cubicBezTo>
                  <a:cubicBezTo>
                    <a:pt x="630849" y="595849"/>
                    <a:pt x="812800" y="462464"/>
                    <a:pt x="812800" y="297925"/>
                  </a:cubicBezTo>
                  <a:cubicBezTo>
                    <a:pt x="812800" y="133385"/>
                    <a:pt x="630849" y="0"/>
                    <a:pt x="406400" y="0"/>
                  </a:cubicBezTo>
                  <a:close/>
                </a:path>
              </a:pathLst>
            </a:custGeom>
            <a:solidFill>
              <a:srgbClr val="194A8D"/>
            </a:solidFill>
          </p:spPr>
        </p:sp>
        <p:sp>
          <p:nvSpPr>
            <p:cNvPr name="TextBox 33" id="33"/>
            <p:cNvSpPr txBox="true"/>
            <p:nvPr/>
          </p:nvSpPr>
          <p:spPr>
            <a:xfrm>
              <a:off x="76200" y="8236"/>
              <a:ext cx="660400" cy="531752"/>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7464401" y="6277798"/>
            <a:ext cx="1679599" cy="740698"/>
          </a:xfrm>
          <a:prstGeom prst="rect">
            <a:avLst/>
          </a:prstGeom>
        </p:spPr>
        <p:txBody>
          <a:bodyPr anchor="t" rtlCol="false" tIns="0" lIns="0" bIns="0" rIns="0">
            <a:spAutoFit/>
          </a:bodyPr>
          <a:lstStyle/>
          <a:p>
            <a:pPr algn="ctr">
              <a:lnSpc>
                <a:spcPts val="5633"/>
              </a:lnSpc>
            </a:pPr>
            <a:r>
              <a:rPr lang="en-US" sz="5314" spc="531">
                <a:solidFill>
                  <a:srgbClr val="FFFFFF"/>
                </a:solidFill>
                <a:latin typeface="League Spartan"/>
                <a:ea typeface="League Spartan"/>
                <a:cs typeface="League Spartan"/>
                <a:sym typeface="League Spartan"/>
              </a:rPr>
              <a:t>M4</a:t>
            </a:r>
          </a:p>
        </p:txBody>
      </p:sp>
      <p:sp>
        <p:nvSpPr>
          <p:cNvPr name="TextBox 35" id="35"/>
          <p:cNvSpPr txBox="true"/>
          <p:nvPr/>
        </p:nvSpPr>
        <p:spPr>
          <a:xfrm rot="0">
            <a:off x="9498571" y="6274469"/>
            <a:ext cx="6522677" cy="711896"/>
          </a:xfrm>
          <a:prstGeom prst="rect">
            <a:avLst/>
          </a:prstGeom>
        </p:spPr>
        <p:txBody>
          <a:bodyPr anchor="t" rtlCol="false" tIns="0" lIns="0" bIns="0" rIns="0">
            <a:spAutoFit/>
          </a:bodyPr>
          <a:lstStyle/>
          <a:p>
            <a:pPr algn="l">
              <a:lnSpc>
                <a:spcPts val="2856"/>
              </a:lnSpc>
              <a:spcBef>
                <a:spcPct val="0"/>
              </a:spcBef>
            </a:pPr>
            <a:r>
              <a:rPr lang="en-US" sz="2040">
                <a:solidFill>
                  <a:srgbClr val="194A8D"/>
                </a:solidFill>
                <a:latin typeface="Arimo"/>
                <a:ea typeface="Arimo"/>
                <a:cs typeface="Arimo"/>
                <a:sym typeface="Arimo"/>
              </a:rPr>
              <a:t>CloudWatch Alarm</a:t>
            </a:r>
            <a:r>
              <a:rPr lang="en-US" sz="2040">
                <a:solidFill>
                  <a:srgbClr val="194A8D"/>
                </a:solidFill>
                <a:latin typeface="Arimo"/>
                <a:ea typeface="Arimo"/>
                <a:cs typeface="Arimo"/>
                <a:sym typeface="Arimo"/>
              </a:rPr>
              <a:t> alert khi kết nối &gt; ngưỡng, tài liệu dashboard giám sát</a:t>
            </a:r>
          </a:p>
        </p:txBody>
      </p:sp>
      <p:grpSp>
        <p:nvGrpSpPr>
          <p:cNvPr name="Group 36" id="36"/>
          <p:cNvGrpSpPr/>
          <p:nvPr/>
        </p:nvGrpSpPr>
        <p:grpSpPr>
          <a:xfrm rot="0">
            <a:off x="8283315" y="7537935"/>
            <a:ext cx="8709530" cy="1084959"/>
            <a:chOff x="0" y="0"/>
            <a:chExt cx="2644579" cy="329439"/>
          </a:xfrm>
        </p:grpSpPr>
        <p:sp>
          <p:nvSpPr>
            <p:cNvPr name="Freeform 37" id="37"/>
            <p:cNvSpPr/>
            <p:nvPr/>
          </p:nvSpPr>
          <p:spPr>
            <a:xfrm flipH="false" flipV="false" rot="0">
              <a:off x="0" y="0"/>
              <a:ext cx="2644579" cy="329439"/>
            </a:xfrm>
            <a:custGeom>
              <a:avLst/>
              <a:gdLst/>
              <a:ahLst/>
              <a:cxnLst/>
              <a:rect r="r" b="b" t="t" l="l"/>
              <a:pathLst>
                <a:path h="329439" w="2644579">
                  <a:moveTo>
                    <a:pt x="0" y="0"/>
                  </a:moveTo>
                  <a:lnTo>
                    <a:pt x="2644579" y="0"/>
                  </a:lnTo>
                  <a:lnTo>
                    <a:pt x="2644579" y="329439"/>
                  </a:lnTo>
                  <a:lnTo>
                    <a:pt x="0" y="329439"/>
                  </a:lnTo>
                  <a:close/>
                </a:path>
              </a:pathLst>
            </a:custGeom>
            <a:solidFill>
              <a:srgbClr val="FFFFFF"/>
            </a:solidFill>
          </p:spPr>
        </p:sp>
        <p:sp>
          <p:nvSpPr>
            <p:cNvPr name="TextBox 38" id="38"/>
            <p:cNvSpPr txBox="true"/>
            <p:nvPr/>
          </p:nvSpPr>
          <p:spPr>
            <a:xfrm>
              <a:off x="0" y="-47625"/>
              <a:ext cx="2644579" cy="377064"/>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7438226" y="7445583"/>
            <a:ext cx="1731950" cy="1269661"/>
            <a:chOff x="0" y="0"/>
            <a:chExt cx="812800" cy="595849"/>
          </a:xfrm>
        </p:grpSpPr>
        <p:sp>
          <p:nvSpPr>
            <p:cNvPr name="Freeform 40" id="40"/>
            <p:cNvSpPr/>
            <p:nvPr/>
          </p:nvSpPr>
          <p:spPr>
            <a:xfrm flipH="false" flipV="false" rot="0">
              <a:off x="0" y="0"/>
              <a:ext cx="812800" cy="595849"/>
            </a:xfrm>
            <a:custGeom>
              <a:avLst/>
              <a:gdLst/>
              <a:ahLst/>
              <a:cxnLst/>
              <a:rect r="r" b="b" t="t" l="l"/>
              <a:pathLst>
                <a:path h="595849" w="812800">
                  <a:moveTo>
                    <a:pt x="406400" y="0"/>
                  </a:moveTo>
                  <a:cubicBezTo>
                    <a:pt x="181951" y="0"/>
                    <a:pt x="0" y="133385"/>
                    <a:pt x="0" y="297925"/>
                  </a:cubicBezTo>
                  <a:cubicBezTo>
                    <a:pt x="0" y="462464"/>
                    <a:pt x="181951" y="595849"/>
                    <a:pt x="406400" y="595849"/>
                  </a:cubicBezTo>
                  <a:cubicBezTo>
                    <a:pt x="630849" y="595849"/>
                    <a:pt x="812800" y="462464"/>
                    <a:pt x="812800" y="297925"/>
                  </a:cubicBezTo>
                  <a:cubicBezTo>
                    <a:pt x="812800" y="133385"/>
                    <a:pt x="630849" y="0"/>
                    <a:pt x="406400" y="0"/>
                  </a:cubicBezTo>
                  <a:close/>
                </a:path>
              </a:pathLst>
            </a:custGeom>
            <a:solidFill>
              <a:srgbClr val="194A8D"/>
            </a:solidFill>
          </p:spPr>
        </p:sp>
        <p:sp>
          <p:nvSpPr>
            <p:cNvPr name="TextBox 41" id="41"/>
            <p:cNvSpPr txBox="true"/>
            <p:nvPr/>
          </p:nvSpPr>
          <p:spPr>
            <a:xfrm>
              <a:off x="76200" y="8236"/>
              <a:ext cx="660400" cy="531752"/>
            </a:xfrm>
            <a:prstGeom prst="rect">
              <a:avLst/>
            </a:prstGeom>
          </p:spPr>
          <p:txBody>
            <a:bodyPr anchor="ctr" rtlCol="false" tIns="50800" lIns="50800" bIns="50800" rIns="50800"/>
            <a:lstStyle/>
            <a:p>
              <a:pPr algn="ctr">
                <a:lnSpc>
                  <a:spcPts val="2659"/>
                </a:lnSpc>
              </a:pPr>
            </a:p>
          </p:txBody>
        </p:sp>
      </p:grpSp>
      <p:sp>
        <p:nvSpPr>
          <p:cNvPr name="TextBox 42" id="42"/>
          <p:cNvSpPr txBox="true"/>
          <p:nvPr/>
        </p:nvSpPr>
        <p:spPr>
          <a:xfrm rot="0">
            <a:off x="7490576" y="7822935"/>
            <a:ext cx="1679599" cy="740698"/>
          </a:xfrm>
          <a:prstGeom prst="rect">
            <a:avLst/>
          </a:prstGeom>
        </p:spPr>
        <p:txBody>
          <a:bodyPr anchor="t" rtlCol="false" tIns="0" lIns="0" bIns="0" rIns="0">
            <a:spAutoFit/>
          </a:bodyPr>
          <a:lstStyle/>
          <a:p>
            <a:pPr algn="ctr">
              <a:lnSpc>
                <a:spcPts val="5633"/>
              </a:lnSpc>
            </a:pPr>
            <a:r>
              <a:rPr lang="en-US" sz="5314" spc="531">
                <a:solidFill>
                  <a:srgbClr val="FFFFFF"/>
                </a:solidFill>
                <a:latin typeface="League Spartan"/>
                <a:ea typeface="League Spartan"/>
                <a:cs typeface="League Spartan"/>
                <a:sym typeface="League Spartan"/>
              </a:rPr>
              <a:t>M5</a:t>
            </a:r>
          </a:p>
        </p:txBody>
      </p:sp>
      <p:sp>
        <p:nvSpPr>
          <p:cNvPr name="TextBox 43" id="43"/>
          <p:cNvSpPr txBox="true"/>
          <p:nvPr/>
        </p:nvSpPr>
        <p:spPr>
          <a:xfrm rot="0">
            <a:off x="9524746" y="7706055"/>
            <a:ext cx="6522677" cy="711896"/>
          </a:xfrm>
          <a:prstGeom prst="rect">
            <a:avLst/>
          </a:prstGeom>
        </p:spPr>
        <p:txBody>
          <a:bodyPr anchor="t" rtlCol="false" tIns="0" lIns="0" bIns="0" rIns="0">
            <a:spAutoFit/>
          </a:bodyPr>
          <a:lstStyle/>
          <a:p>
            <a:pPr algn="l">
              <a:lnSpc>
                <a:spcPts val="2856"/>
              </a:lnSpc>
              <a:spcBef>
                <a:spcPct val="0"/>
              </a:spcBef>
            </a:pPr>
            <a:r>
              <a:rPr lang="en-US" sz="2040">
                <a:solidFill>
                  <a:srgbClr val="194A8D"/>
                </a:solidFill>
                <a:latin typeface="Arimo"/>
                <a:ea typeface="Arimo"/>
                <a:cs typeface="Arimo"/>
                <a:sym typeface="Arimo"/>
              </a:rPr>
              <a:t>Bộ báo cáo thử nghiệm đầy đủ</a:t>
            </a:r>
            <a:r>
              <a:rPr lang="en-US" sz="2040">
                <a:solidFill>
                  <a:srgbClr val="194A8D"/>
                </a:solidFill>
                <a:latin typeface="Arimo"/>
                <a:ea typeface="Arimo"/>
                <a:cs typeface="Arimo"/>
                <a:sym typeface="Arimo"/>
              </a:rPr>
              <a:t>, guide vận hành + cấu hình được bàn giao</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5852299" y="351420"/>
            <a:ext cx="7563890" cy="1021184"/>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Phân Bổ Nguồn Lực</a:t>
            </a:r>
          </a:p>
        </p:txBody>
      </p:sp>
      <p:graphicFrame>
        <p:nvGraphicFramePr>
          <p:cNvPr name="Object 3" id="3"/>
          <p:cNvGraphicFramePr/>
          <p:nvPr/>
        </p:nvGraphicFramePr>
        <p:xfrm>
          <a:off x="1028700" y="1890843"/>
          <a:ext cx="2514600" cy="2095500"/>
        </p:xfrm>
        <a:graphic>
          <a:graphicData uri="http://schemas.openxmlformats.org/presentationml/2006/ole">
            <p:oleObj imgW="3009900" imgH="25908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23.xml><?xml version="1.0" encoding="utf-8"?>
<p:sld xmlns:p="http://schemas.openxmlformats.org/presentationml/2006/main" xmlns:a="http://schemas.openxmlformats.org/drawingml/2006/main">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1329961" y="793052"/>
            <a:ext cx="7621232" cy="9150086"/>
            <a:chOff x="0" y="0"/>
            <a:chExt cx="2007238" cy="2409899"/>
          </a:xfrm>
        </p:grpSpPr>
        <p:sp>
          <p:nvSpPr>
            <p:cNvPr name="Freeform 3" id="3"/>
            <p:cNvSpPr/>
            <p:nvPr/>
          </p:nvSpPr>
          <p:spPr>
            <a:xfrm flipH="false" flipV="false" rot="0">
              <a:off x="0" y="0"/>
              <a:ext cx="2007238" cy="2409899"/>
            </a:xfrm>
            <a:custGeom>
              <a:avLst/>
              <a:gdLst/>
              <a:ahLst/>
              <a:cxnLst/>
              <a:rect r="r" b="b" t="t" l="l"/>
              <a:pathLst>
                <a:path h="2409899" w="2007238">
                  <a:moveTo>
                    <a:pt x="0" y="0"/>
                  </a:moveTo>
                  <a:lnTo>
                    <a:pt x="2007238" y="0"/>
                  </a:lnTo>
                  <a:lnTo>
                    <a:pt x="2007238" y="2409899"/>
                  </a:lnTo>
                  <a:lnTo>
                    <a:pt x="0" y="2409899"/>
                  </a:lnTo>
                  <a:close/>
                </a:path>
              </a:pathLst>
            </a:custGeom>
            <a:solidFill>
              <a:srgbClr val="FFFFFF"/>
            </a:solidFill>
          </p:spPr>
        </p:sp>
        <p:sp>
          <p:nvSpPr>
            <p:cNvPr name="TextBox 4" id="4"/>
            <p:cNvSpPr txBox="true"/>
            <p:nvPr/>
          </p:nvSpPr>
          <p:spPr>
            <a:xfrm>
              <a:off x="0" y="-47625"/>
              <a:ext cx="2007238" cy="2457524"/>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763813" y="932388"/>
            <a:ext cx="6978629" cy="1021184"/>
          </a:xfrm>
          <a:prstGeom prst="rect">
            <a:avLst/>
          </a:prstGeom>
        </p:spPr>
        <p:txBody>
          <a:bodyPr anchor="t" rtlCol="false" tIns="0" lIns="0" bIns="0" rIns="0">
            <a:spAutoFit/>
          </a:bodyPr>
          <a:lstStyle/>
          <a:p>
            <a:pPr algn="ctr">
              <a:lnSpc>
                <a:spcPts val="8633"/>
              </a:lnSpc>
              <a:spcBef>
                <a:spcPct val="0"/>
              </a:spcBef>
            </a:pPr>
            <a:r>
              <a:rPr lang="en-US" b="true" sz="4519" spc="451">
                <a:solidFill>
                  <a:srgbClr val="194A8D"/>
                </a:solidFill>
                <a:latin typeface="Arimo Bold"/>
                <a:ea typeface="Arimo Bold"/>
                <a:cs typeface="Arimo Bold"/>
                <a:sym typeface="Arimo Bold"/>
              </a:rPr>
              <a:t>Phân Tích Phụ Thuộc</a:t>
            </a:r>
          </a:p>
        </p:txBody>
      </p:sp>
      <p:grpSp>
        <p:nvGrpSpPr>
          <p:cNvPr name="Group 6" id="6"/>
          <p:cNvGrpSpPr/>
          <p:nvPr/>
        </p:nvGrpSpPr>
        <p:grpSpPr>
          <a:xfrm rot="0">
            <a:off x="9336807" y="793052"/>
            <a:ext cx="7598722" cy="9150086"/>
            <a:chOff x="0" y="0"/>
            <a:chExt cx="2001310" cy="2409899"/>
          </a:xfrm>
        </p:grpSpPr>
        <p:sp>
          <p:nvSpPr>
            <p:cNvPr name="Freeform 7" id="7"/>
            <p:cNvSpPr/>
            <p:nvPr/>
          </p:nvSpPr>
          <p:spPr>
            <a:xfrm flipH="false" flipV="false" rot="0">
              <a:off x="0" y="0"/>
              <a:ext cx="2001310" cy="2409899"/>
            </a:xfrm>
            <a:custGeom>
              <a:avLst/>
              <a:gdLst/>
              <a:ahLst/>
              <a:cxnLst/>
              <a:rect r="r" b="b" t="t" l="l"/>
              <a:pathLst>
                <a:path h="2409899" w="2001310">
                  <a:moveTo>
                    <a:pt x="0" y="0"/>
                  </a:moveTo>
                  <a:lnTo>
                    <a:pt x="2001310" y="0"/>
                  </a:lnTo>
                  <a:lnTo>
                    <a:pt x="2001310" y="2409899"/>
                  </a:lnTo>
                  <a:lnTo>
                    <a:pt x="0" y="2409899"/>
                  </a:lnTo>
                  <a:close/>
                </a:path>
              </a:pathLst>
            </a:custGeom>
            <a:solidFill>
              <a:srgbClr val="FFFFFF"/>
            </a:solidFill>
          </p:spPr>
        </p:sp>
        <p:sp>
          <p:nvSpPr>
            <p:cNvPr name="TextBox 8" id="8"/>
            <p:cNvSpPr txBox="true"/>
            <p:nvPr/>
          </p:nvSpPr>
          <p:spPr>
            <a:xfrm>
              <a:off x="0" y="-47625"/>
              <a:ext cx="2001310" cy="2457524"/>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9336807" y="932388"/>
            <a:ext cx="7598722" cy="1020316"/>
          </a:xfrm>
          <a:prstGeom prst="rect">
            <a:avLst/>
          </a:prstGeom>
        </p:spPr>
        <p:txBody>
          <a:bodyPr anchor="t" rtlCol="false" tIns="0" lIns="0" bIns="0" rIns="0">
            <a:spAutoFit/>
          </a:bodyPr>
          <a:lstStyle/>
          <a:p>
            <a:pPr algn="ctr" marL="0" indent="0" lvl="0">
              <a:lnSpc>
                <a:spcPts val="8633"/>
              </a:lnSpc>
              <a:spcBef>
                <a:spcPct val="0"/>
              </a:spcBef>
            </a:pPr>
            <a:r>
              <a:rPr lang="en-US" b="true" sz="4519" spc="451">
                <a:solidFill>
                  <a:srgbClr val="194A8D"/>
                </a:solidFill>
                <a:latin typeface="Arimo Bold"/>
                <a:ea typeface="Arimo Bold"/>
                <a:cs typeface="Arimo Bold"/>
                <a:sym typeface="Arimo Bold"/>
              </a:rPr>
              <a:t>Dự</a:t>
            </a:r>
            <a:r>
              <a:rPr lang="en-US" b="true" sz="4519" spc="451" strike="noStrike" u="none">
                <a:solidFill>
                  <a:srgbClr val="194A8D"/>
                </a:solidFill>
                <a:latin typeface="Arimo Bold"/>
                <a:ea typeface="Arimo Bold"/>
                <a:cs typeface="Arimo Bold"/>
                <a:sym typeface="Arimo Bold"/>
              </a:rPr>
              <a:t> </a:t>
            </a:r>
            <a:r>
              <a:rPr lang="en-US" b="true" sz="4519" spc="451" strike="noStrike" u="none">
                <a:solidFill>
                  <a:srgbClr val="194A8D"/>
                </a:solidFill>
                <a:latin typeface="Arimo Bold"/>
                <a:ea typeface="Arimo Bold"/>
                <a:cs typeface="Arimo Bold"/>
                <a:sym typeface="Arimo Bold"/>
              </a:rPr>
              <a:t>P</a:t>
            </a:r>
            <a:r>
              <a:rPr lang="en-US" b="true" sz="4519" spc="451" strike="noStrike" u="none">
                <a:solidFill>
                  <a:srgbClr val="194A8D"/>
                </a:solidFill>
                <a:latin typeface="Arimo Bold"/>
                <a:ea typeface="Arimo Bold"/>
                <a:cs typeface="Arimo Bold"/>
                <a:sym typeface="Arimo Bold"/>
              </a:rPr>
              <a:t>h</a:t>
            </a:r>
            <a:r>
              <a:rPr lang="en-US" b="true" sz="4519" spc="451" strike="noStrike" u="none">
                <a:solidFill>
                  <a:srgbClr val="194A8D"/>
                </a:solidFill>
                <a:latin typeface="Arimo Bold"/>
                <a:ea typeface="Arimo Bold"/>
                <a:cs typeface="Arimo Bold"/>
                <a:sym typeface="Arimo Bold"/>
              </a:rPr>
              <a:t>òng</a:t>
            </a:r>
            <a:r>
              <a:rPr lang="en-US" b="true" sz="4519" spc="451" strike="noStrike" u="none">
                <a:solidFill>
                  <a:srgbClr val="194A8D"/>
                </a:solidFill>
                <a:latin typeface="Arimo Bold"/>
                <a:ea typeface="Arimo Bold"/>
                <a:cs typeface="Arimo Bold"/>
                <a:sym typeface="Arimo Bold"/>
              </a:rPr>
              <a:t> </a:t>
            </a:r>
            <a:r>
              <a:rPr lang="en-US" b="true" sz="4519" spc="451" strike="noStrike" u="none">
                <a:solidFill>
                  <a:srgbClr val="194A8D"/>
                </a:solidFill>
                <a:latin typeface="Arimo Bold"/>
                <a:ea typeface="Arimo Bold"/>
                <a:cs typeface="Arimo Bold"/>
                <a:sym typeface="Arimo Bold"/>
              </a:rPr>
              <a:t>Rủ</a:t>
            </a:r>
            <a:r>
              <a:rPr lang="en-US" b="true" sz="4519" spc="451" strike="noStrike" u="none">
                <a:solidFill>
                  <a:srgbClr val="194A8D"/>
                </a:solidFill>
                <a:latin typeface="Arimo Bold"/>
                <a:ea typeface="Arimo Bold"/>
                <a:cs typeface="Arimo Bold"/>
                <a:sym typeface="Arimo Bold"/>
              </a:rPr>
              <a:t>i </a:t>
            </a:r>
            <a:r>
              <a:rPr lang="en-US" b="true" sz="4519" spc="451" strike="noStrike" u="none">
                <a:solidFill>
                  <a:srgbClr val="194A8D"/>
                </a:solidFill>
                <a:latin typeface="Arimo Bold"/>
                <a:ea typeface="Arimo Bold"/>
                <a:cs typeface="Arimo Bold"/>
                <a:sym typeface="Arimo Bold"/>
              </a:rPr>
              <a:t>R</a:t>
            </a:r>
            <a:r>
              <a:rPr lang="en-US" b="true" sz="4519" spc="451" strike="noStrike" u="none">
                <a:solidFill>
                  <a:srgbClr val="194A8D"/>
                </a:solidFill>
                <a:latin typeface="Arimo Bold"/>
                <a:ea typeface="Arimo Bold"/>
                <a:cs typeface="Arimo Bold"/>
                <a:sym typeface="Arimo Bold"/>
              </a:rPr>
              <a:t>o</a:t>
            </a:r>
          </a:p>
        </p:txBody>
      </p:sp>
      <p:sp>
        <p:nvSpPr>
          <p:cNvPr name="TextBox 10" id="10"/>
          <p:cNvSpPr txBox="true"/>
          <p:nvPr/>
        </p:nvSpPr>
        <p:spPr>
          <a:xfrm rot="0">
            <a:off x="1763813" y="1877372"/>
            <a:ext cx="6508797" cy="7334803"/>
          </a:xfrm>
          <a:prstGeom prst="rect">
            <a:avLst/>
          </a:prstGeom>
        </p:spPr>
        <p:txBody>
          <a:bodyPr anchor="t" rtlCol="false" tIns="0" lIns="0" bIns="0" rIns="0">
            <a:spAutoFit/>
          </a:bodyPr>
          <a:lstStyle/>
          <a:p>
            <a:pPr algn="l" marL="642996" indent="-321498" lvl="1">
              <a:lnSpc>
                <a:spcPts val="4169"/>
              </a:lnSpc>
              <a:spcBef>
                <a:spcPct val="0"/>
              </a:spcBef>
              <a:buFont typeface="Arial"/>
              <a:buChar char="•"/>
            </a:pPr>
            <a:r>
              <a:rPr lang="en-US" sz="2978" strike="noStrike" u="none">
                <a:solidFill>
                  <a:srgbClr val="194A8D"/>
                </a:solidFill>
                <a:latin typeface="Arimo"/>
                <a:ea typeface="Arimo"/>
                <a:cs typeface="Arimo"/>
                <a:sym typeface="Arimo"/>
              </a:rPr>
              <a:t>·ECS + Proxy cần RDS instance có sẵn (Giai đoạn 1) để test kết nối và failover.</a:t>
            </a:r>
          </a:p>
          <a:p>
            <a:pPr algn="l" marL="642996" indent="-321498" lvl="1">
              <a:lnSpc>
                <a:spcPts val="4169"/>
              </a:lnSpc>
              <a:spcBef>
                <a:spcPct val="0"/>
              </a:spcBef>
              <a:buFont typeface="Arial"/>
              <a:buChar char="•"/>
            </a:pPr>
            <a:r>
              <a:rPr lang="en-US" sz="2978" strike="noStrike" u="none">
                <a:solidFill>
                  <a:srgbClr val="194A8D"/>
                </a:solidFill>
                <a:latin typeface="Arimo"/>
                <a:ea typeface="Arimo"/>
                <a:cs typeface="Arimo"/>
                <a:sym typeface="Arimo"/>
              </a:rPr>
              <a:t>·IAM policy và Secrets Manager cần được định nghĩa từ đầu để hỗ trợ rotate credentials và least privilege.</a:t>
            </a:r>
          </a:p>
          <a:p>
            <a:pPr algn="l" marL="642996" indent="-321498" lvl="1">
              <a:lnSpc>
                <a:spcPts val="4169"/>
              </a:lnSpc>
              <a:spcBef>
                <a:spcPct val="0"/>
              </a:spcBef>
              <a:buFont typeface="Arial"/>
              <a:buChar char="•"/>
            </a:pPr>
            <a:r>
              <a:rPr lang="en-US" sz="2978" strike="noStrike" u="none">
                <a:solidFill>
                  <a:srgbClr val="194A8D"/>
                </a:solidFill>
                <a:latin typeface="Arimo"/>
                <a:ea typeface="Arimo"/>
                <a:cs typeface="Arimo"/>
                <a:sym typeface="Arimo"/>
              </a:rPr>
              <a:t>·Giám sát phụ thuộc metric từ ECS task và RDS Proxy → yêu cầu hệ thống hoạt động liên tục từ tuần 3.</a:t>
            </a:r>
          </a:p>
          <a:p>
            <a:pPr algn="l" marL="642996" indent="-321498" lvl="1">
              <a:lnSpc>
                <a:spcPts val="4169"/>
              </a:lnSpc>
              <a:spcBef>
                <a:spcPct val="0"/>
              </a:spcBef>
              <a:buFont typeface="Arial"/>
              <a:buChar char="•"/>
            </a:pPr>
            <a:r>
              <a:rPr lang="en-US" sz="2978" strike="noStrike" u="none">
                <a:solidFill>
                  <a:srgbClr val="194A8D"/>
                </a:solidFill>
                <a:latin typeface="Arimo"/>
                <a:ea typeface="Arimo"/>
                <a:cs typeface="Arimo"/>
                <a:sym typeface="Arimo"/>
              </a:rPr>
              <a:t>·Báo cáo thử nghiệm cần hoàn thiện giám sát, kết nối và hiệu năng từ 4 tuần trước.</a:t>
            </a:r>
          </a:p>
        </p:txBody>
      </p:sp>
      <p:sp>
        <p:nvSpPr>
          <p:cNvPr name="TextBox 11" id="11"/>
          <p:cNvSpPr txBox="true"/>
          <p:nvPr/>
        </p:nvSpPr>
        <p:spPr>
          <a:xfrm rot="0">
            <a:off x="9804424" y="2061757"/>
            <a:ext cx="6663489" cy="5239303"/>
          </a:xfrm>
          <a:prstGeom prst="rect">
            <a:avLst/>
          </a:prstGeom>
        </p:spPr>
        <p:txBody>
          <a:bodyPr anchor="t" rtlCol="false" tIns="0" lIns="0" bIns="0" rIns="0">
            <a:spAutoFit/>
          </a:bodyPr>
          <a:lstStyle/>
          <a:p>
            <a:pPr algn="l" marL="642996" indent="-321498" lvl="1">
              <a:lnSpc>
                <a:spcPts val="4169"/>
              </a:lnSpc>
              <a:spcBef>
                <a:spcPct val="0"/>
              </a:spcBef>
              <a:buFont typeface="Arial"/>
              <a:buChar char="•"/>
            </a:pPr>
            <a:r>
              <a:rPr lang="en-US" sz="2978" strike="noStrike" u="none">
                <a:solidFill>
                  <a:srgbClr val="194A8D"/>
                </a:solidFill>
                <a:latin typeface="Arimo"/>
                <a:ea typeface="Arimo"/>
                <a:cs typeface="Arimo"/>
                <a:sym typeface="Arimo"/>
              </a:rPr>
              <a:t>·</a:t>
            </a:r>
            <a:r>
              <a:rPr lang="en-US" sz="2978" strike="noStrike" u="none">
                <a:solidFill>
                  <a:srgbClr val="194A8D"/>
                </a:solidFill>
                <a:latin typeface="Arimo"/>
                <a:ea typeface="Arimo"/>
                <a:cs typeface="Arimo"/>
                <a:sym typeface="Arimo"/>
              </a:rPr>
              <a:t>Buffer:</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1–2 </a:t>
            </a:r>
            <a:r>
              <a:rPr lang="en-US" sz="2978" strike="noStrike" u="none">
                <a:solidFill>
                  <a:srgbClr val="194A8D"/>
                </a:solidFill>
                <a:latin typeface="Arimo"/>
                <a:ea typeface="Arimo"/>
                <a:cs typeface="Arimo"/>
                <a:sym typeface="Arimo"/>
              </a:rPr>
              <a:t>ng</a:t>
            </a:r>
            <a:r>
              <a:rPr lang="en-US" sz="2978" strike="noStrike" u="none">
                <a:solidFill>
                  <a:srgbClr val="194A8D"/>
                </a:solidFill>
                <a:latin typeface="Arimo"/>
                <a:ea typeface="Arimo"/>
                <a:cs typeface="Arimo"/>
                <a:sym typeface="Arimo"/>
              </a:rPr>
              <a:t>ày</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c</a:t>
            </a:r>
            <a:r>
              <a:rPr lang="en-US" sz="2978" strike="noStrike" u="none">
                <a:solidFill>
                  <a:srgbClr val="194A8D"/>
                </a:solidFill>
                <a:latin typeface="Arimo"/>
                <a:ea typeface="Arimo"/>
                <a:cs typeface="Arimo"/>
                <a:sym typeface="Arimo"/>
              </a:rPr>
              <a:t>u</a:t>
            </a:r>
            <a:r>
              <a:rPr lang="en-US" sz="2978" strike="noStrike" u="none">
                <a:solidFill>
                  <a:srgbClr val="194A8D"/>
                </a:solidFill>
                <a:latin typeface="Arimo"/>
                <a:ea typeface="Arimo"/>
                <a:cs typeface="Arimo"/>
                <a:sym typeface="Arimo"/>
              </a:rPr>
              <a:t>ối</a:t>
            </a:r>
            <a:r>
              <a:rPr lang="en-US" sz="2978" strike="noStrike" u="none">
                <a:solidFill>
                  <a:srgbClr val="194A8D"/>
                </a:solidFill>
                <a:latin typeface="Arimo"/>
                <a:ea typeface="Arimo"/>
                <a:cs typeface="Arimo"/>
                <a:sym typeface="Arimo"/>
              </a:rPr>
              <a:t> tu</a:t>
            </a:r>
            <a:r>
              <a:rPr lang="en-US" sz="2978" strike="noStrike" u="none">
                <a:solidFill>
                  <a:srgbClr val="194A8D"/>
                </a:solidFill>
                <a:latin typeface="Arimo"/>
                <a:ea typeface="Arimo"/>
                <a:cs typeface="Arimo"/>
                <a:sym typeface="Arimo"/>
              </a:rPr>
              <a:t>ầ</a:t>
            </a:r>
            <a:r>
              <a:rPr lang="en-US" sz="2978" strike="noStrike" u="none">
                <a:solidFill>
                  <a:srgbClr val="194A8D"/>
                </a:solidFill>
                <a:latin typeface="Arimo"/>
                <a:ea typeface="Arimo"/>
                <a:cs typeface="Arimo"/>
                <a:sym typeface="Arimo"/>
              </a:rPr>
              <a:t>n </a:t>
            </a:r>
            <a:r>
              <a:rPr lang="en-US" sz="2978" strike="noStrike" u="none">
                <a:solidFill>
                  <a:srgbClr val="194A8D"/>
                </a:solidFill>
                <a:latin typeface="Arimo"/>
                <a:ea typeface="Arimo"/>
                <a:cs typeface="Arimo"/>
                <a:sym typeface="Arimo"/>
              </a:rPr>
              <a:t>5</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để</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xử</a:t>
            </a:r>
            <a:r>
              <a:rPr lang="en-US" sz="2978" strike="noStrike" u="none">
                <a:solidFill>
                  <a:srgbClr val="194A8D"/>
                </a:solidFill>
                <a:latin typeface="Arimo"/>
                <a:ea typeface="Arimo"/>
                <a:cs typeface="Arimo"/>
                <a:sym typeface="Arimo"/>
              </a:rPr>
              <a:t> l</a:t>
            </a:r>
            <a:r>
              <a:rPr lang="en-US" sz="2978" strike="noStrike" u="none">
                <a:solidFill>
                  <a:srgbClr val="194A8D"/>
                </a:solidFill>
                <a:latin typeface="Arimo"/>
                <a:ea typeface="Arimo"/>
                <a:cs typeface="Arimo"/>
                <a:sym typeface="Arimo"/>
              </a:rPr>
              <a:t>ý</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c</a:t>
            </a:r>
            <a:r>
              <a:rPr lang="en-US" sz="2978" strike="noStrike" u="none">
                <a:solidFill>
                  <a:srgbClr val="194A8D"/>
                </a:solidFill>
                <a:latin typeface="Arimo"/>
                <a:ea typeface="Arimo"/>
                <a:cs typeface="Arimo"/>
                <a:sym typeface="Arimo"/>
              </a:rPr>
              <a:t>á</a:t>
            </a:r>
            <a:r>
              <a:rPr lang="en-US" sz="2978" strike="noStrike" u="none">
                <a:solidFill>
                  <a:srgbClr val="194A8D"/>
                </a:solidFill>
                <a:latin typeface="Arimo"/>
                <a:ea typeface="Arimo"/>
                <a:cs typeface="Arimo"/>
                <a:sym typeface="Arimo"/>
              </a:rPr>
              <a:t>c</a:t>
            </a:r>
            <a:r>
              <a:rPr lang="en-US" sz="2978" strike="noStrike" u="none">
                <a:solidFill>
                  <a:srgbClr val="194A8D"/>
                </a:solidFill>
                <a:latin typeface="Arimo"/>
                <a:ea typeface="Arimo"/>
                <a:cs typeface="Arimo"/>
                <a:sym typeface="Arimo"/>
              </a:rPr>
              <a:t> lỗi </a:t>
            </a:r>
            <a:r>
              <a:rPr lang="en-US" sz="2978" strike="noStrike" u="none">
                <a:solidFill>
                  <a:srgbClr val="194A8D"/>
                </a:solidFill>
                <a:latin typeface="Arimo"/>
                <a:ea typeface="Arimo"/>
                <a:cs typeface="Arimo"/>
                <a:sym typeface="Arimo"/>
              </a:rPr>
              <a:t>phá</a:t>
            </a:r>
            <a:r>
              <a:rPr lang="en-US" sz="2978" strike="noStrike" u="none">
                <a:solidFill>
                  <a:srgbClr val="194A8D"/>
                </a:solidFill>
                <a:latin typeface="Arimo"/>
                <a:ea typeface="Arimo"/>
                <a:cs typeface="Arimo"/>
                <a:sym typeface="Arimo"/>
              </a:rPr>
              <a:t>t </a:t>
            </a:r>
            <a:r>
              <a:rPr lang="en-US" sz="2978" strike="noStrike" u="none">
                <a:solidFill>
                  <a:srgbClr val="194A8D"/>
                </a:solidFill>
                <a:latin typeface="Arimo"/>
                <a:ea typeface="Arimo"/>
                <a:cs typeface="Arimo"/>
                <a:sym typeface="Arimo"/>
              </a:rPr>
              <a:t>s</a:t>
            </a:r>
            <a:r>
              <a:rPr lang="en-US" sz="2978" strike="noStrike" u="none">
                <a:solidFill>
                  <a:srgbClr val="194A8D"/>
                </a:solidFill>
                <a:latin typeface="Arimo"/>
                <a:ea typeface="Arimo"/>
                <a:cs typeface="Arimo"/>
                <a:sym typeface="Arimo"/>
              </a:rPr>
              <a:t>i</a:t>
            </a:r>
            <a:r>
              <a:rPr lang="en-US" sz="2978" strike="noStrike" u="none">
                <a:solidFill>
                  <a:srgbClr val="194A8D"/>
                </a:solidFill>
                <a:latin typeface="Arimo"/>
                <a:ea typeface="Arimo"/>
                <a:cs typeface="Arimo"/>
                <a:sym typeface="Arimo"/>
              </a:rPr>
              <a:t>nh</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tr</a:t>
            </a:r>
            <a:r>
              <a:rPr lang="en-US" sz="2978" strike="noStrike" u="none">
                <a:solidFill>
                  <a:srgbClr val="194A8D"/>
                </a:solidFill>
                <a:latin typeface="Arimo"/>
                <a:ea typeface="Arimo"/>
                <a:cs typeface="Arimo"/>
                <a:sym typeface="Arimo"/>
              </a:rPr>
              <a:t>on</a:t>
            </a:r>
            <a:r>
              <a:rPr lang="en-US" sz="2978" strike="noStrike" u="none">
                <a:solidFill>
                  <a:srgbClr val="194A8D"/>
                </a:solidFill>
                <a:latin typeface="Arimo"/>
                <a:ea typeface="Arimo"/>
                <a:cs typeface="Arimo"/>
                <a:sym typeface="Arimo"/>
              </a:rPr>
              <a:t>g </a:t>
            </a:r>
            <a:r>
              <a:rPr lang="en-US" sz="2978" strike="noStrike" u="none">
                <a:solidFill>
                  <a:srgbClr val="194A8D"/>
                </a:solidFill>
                <a:latin typeface="Arimo"/>
                <a:ea typeface="Arimo"/>
                <a:cs typeface="Arimo"/>
                <a:sym typeface="Arimo"/>
              </a:rPr>
              <a:t>t</a:t>
            </a:r>
            <a:r>
              <a:rPr lang="en-US" sz="2978" strike="noStrike" u="none">
                <a:solidFill>
                  <a:srgbClr val="194A8D"/>
                </a:solidFill>
                <a:latin typeface="Arimo"/>
                <a:ea typeface="Arimo"/>
                <a:cs typeface="Arimo"/>
                <a:sym typeface="Arimo"/>
              </a:rPr>
              <a:t>hử ngh</a:t>
            </a:r>
            <a:r>
              <a:rPr lang="en-US" sz="2978" strike="noStrike" u="none">
                <a:solidFill>
                  <a:srgbClr val="194A8D"/>
                </a:solidFill>
                <a:latin typeface="Arimo"/>
                <a:ea typeface="Arimo"/>
                <a:cs typeface="Arimo"/>
                <a:sym typeface="Arimo"/>
              </a:rPr>
              <a:t>i</a:t>
            </a:r>
            <a:r>
              <a:rPr lang="en-US" sz="2978" strike="noStrike" u="none">
                <a:solidFill>
                  <a:srgbClr val="194A8D"/>
                </a:solidFill>
                <a:latin typeface="Arimo"/>
                <a:ea typeface="Arimo"/>
                <a:cs typeface="Arimo"/>
                <a:sym typeface="Arimo"/>
              </a:rPr>
              <a:t>ệ</a:t>
            </a:r>
            <a:r>
              <a:rPr lang="en-US" sz="2978" strike="noStrike" u="none">
                <a:solidFill>
                  <a:srgbClr val="194A8D"/>
                </a:solidFill>
                <a:latin typeface="Arimo"/>
                <a:ea typeface="Arimo"/>
                <a:cs typeface="Arimo"/>
                <a:sym typeface="Arimo"/>
              </a:rPr>
              <a:t>m </a:t>
            </a:r>
            <a:r>
              <a:rPr lang="en-US" sz="2978" strike="noStrike" u="none">
                <a:solidFill>
                  <a:srgbClr val="194A8D"/>
                </a:solidFill>
                <a:latin typeface="Arimo"/>
                <a:ea typeface="Arimo"/>
                <a:cs typeface="Arimo"/>
                <a:sym typeface="Arimo"/>
              </a:rPr>
              <a:t>h</a:t>
            </a:r>
            <a:r>
              <a:rPr lang="en-US" sz="2978" strike="noStrike" u="none">
                <a:solidFill>
                  <a:srgbClr val="194A8D"/>
                </a:solidFill>
                <a:latin typeface="Arimo"/>
                <a:ea typeface="Arimo"/>
                <a:cs typeface="Arimo"/>
                <a:sym typeface="Arimo"/>
              </a:rPr>
              <a:t>i</a:t>
            </a:r>
            <a:r>
              <a:rPr lang="en-US" sz="2978" strike="noStrike" u="none">
                <a:solidFill>
                  <a:srgbClr val="194A8D"/>
                </a:solidFill>
                <a:latin typeface="Arimo"/>
                <a:ea typeface="Arimo"/>
                <a:cs typeface="Arimo"/>
                <a:sym typeface="Arimo"/>
              </a:rPr>
              <a:t>ệu</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s</a:t>
            </a:r>
            <a:r>
              <a:rPr lang="en-US" sz="2978" strike="noStrike" u="none">
                <a:solidFill>
                  <a:srgbClr val="194A8D"/>
                </a:solidFill>
                <a:latin typeface="Arimo"/>
                <a:ea typeface="Arimo"/>
                <a:cs typeface="Arimo"/>
                <a:sym typeface="Arimo"/>
              </a:rPr>
              <a:t>u</a:t>
            </a:r>
            <a:r>
              <a:rPr lang="en-US" sz="2978" strike="noStrike" u="none">
                <a:solidFill>
                  <a:srgbClr val="194A8D"/>
                </a:solidFill>
                <a:latin typeface="Arimo"/>
                <a:ea typeface="Arimo"/>
                <a:cs typeface="Arimo"/>
                <a:sym typeface="Arimo"/>
              </a:rPr>
              <a:t>ất</a:t>
            </a:r>
            <a:r>
              <a:rPr lang="en-US" sz="2978" strike="noStrike" u="none">
                <a:solidFill>
                  <a:srgbClr val="194A8D"/>
                </a:solidFill>
                <a:latin typeface="Arimo"/>
                <a:ea typeface="Arimo"/>
                <a:cs typeface="Arimo"/>
                <a:sym typeface="Arimo"/>
              </a:rPr>
              <a:t> h</a:t>
            </a:r>
            <a:r>
              <a:rPr lang="en-US" sz="2978" strike="noStrike" u="none">
                <a:solidFill>
                  <a:srgbClr val="194A8D"/>
                </a:solidFill>
                <a:latin typeface="Arimo"/>
                <a:ea typeface="Arimo"/>
                <a:cs typeface="Arimo"/>
                <a:sym typeface="Arimo"/>
              </a:rPr>
              <a:t>oặc fa</a:t>
            </a:r>
            <a:r>
              <a:rPr lang="en-US" sz="2978" strike="noStrike" u="none">
                <a:solidFill>
                  <a:srgbClr val="194A8D"/>
                </a:solidFill>
                <a:latin typeface="Arimo"/>
                <a:ea typeface="Arimo"/>
                <a:cs typeface="Arimo"/>
                <a:sym typeface="Arimo"/>
              </a:rPr>
              <a:t>i</a:t>
            </a:r>
            <a:r>
              <a:rPr lang="en-US" sz="2978" strike="noStrike" u="none">
                <a:solidFill>
                  <a:srgbClr val="194A8D"/>
                </a:solidFill>
                <a:latin typeface="Arimo"/>
                <a:ea typeface="Arimo"/>
                <a:cs typeface="Arimo"/>
                <a:sym typeface="Arimo"/>
              </a:rPr>
              <a:t>lover.</a:t>
            </a:r>
          </a:p>
          <a:p>
            <a:pPr algn="l" marL="642996" indent="-321498" lvl="1">
              <a:lnSpc>
                <a:spcPts val="4169"/>
              </a:lnSpc>
              <a:spcBef>
                <a:spcPct val="0"/>
              </a:spcBef>
              <a:buFont typeface="Arial"/>
              <a:buChar char="•"/>
            </a:pPr>
            <a:r>
              <a:rPr lang="en-US" sz="2978" strike="noStrike" u="none">
                <a:solidFill>
                  <a:srgbClr val="194A8D"/>
                </a:solidFill>
                <a:latin typeface="Arimo"/>
                <a:ea typeface="Arimo"/>
                <a:cs typeface="Arimo"/>
                <a:sym typeface="Arimo"/>
              </a:rPr>
              <a:t>·Fallback:</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ECS sử</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dụ</a:t>
            </a:r>
            <a:r>
              <a:rPr lang="en-US" sz="2978" strike="noStrike" u="none">
                <a:solidFill>
                  <a:srgbClr val="194A8D"/>
                </a:solidFill>
                <a:latin typeface="Arimo"/>
                <a:ea typeface="Arimo"/>
                <a:cs typeface="Arimo"/>
                <a:sym typeface="Arimo"/>
              </a:rPr>
              <a:t>n</a:t>
            </a:r>
            <a:r>
              <a:rPr lang="en-US" sz="2978" strike="noStrike" u="none">
                <a:solidFill>
                  <a:srgbClr val="194A8D"/>
                </a:solidFill>
                <a:latin typeface="Arimo"/>
                <a:ea typeface="Arimo"/>
                <a:cs typeface="Arimo"/>
                <a:sym typeface="Arimo"/>
              </a:rPr>
              <a:t>g</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p</a:t>
            </a:r>
            <a:r>
              <a:rPr lang="en-US" sz="2978" strike="noStrike" u="none">
                <a:solidFill>
                  <a:srgbClr val="194A8D"/>
                </a:solidFill>
                <a:latin typeface="Arimo"/>
                <a:ea typeface="Arimo"/>
                <a:cs typeface="Arimo"/>
                <a:sym typeface="Arimo"/>
              </a:rPr>
              <a:t>h</a:t>
            </a:r>
            <a:r>
              <a:rPr lang="en-US" sz="2978" strike="noStrike" u="none">
                <a:solidFill>
                  <a:srgbClr val="194A8D"/>
                </a:solidFill>
                <a:latin typeface="Arimo"/>
                <a:ea typeface="Arimo"/>
                <a:cs typeface="Arimo"/>
                <a:sym typeface="Arimo"/>
              </a:rPr>
              <a:t>iê</a:t>
            </a:r>
            <a:r>
              <a:rPr lang="en-US" sz="2978" strike="noStrike" u="none">
                <a:solidFill>
                  <a:srgbClr val="194A8D"/>
                </a:solidFill>
                <a:latin typeface="Arimo"/>
                <a:ea typeface="Arimo"/>
                <a:cs typeface="Arimo"/>
                <a:sym typeface="Arimo"/>
              </a:rPr>
              <a:t>n </a:t>
            </a:r>
            <a:r>
              <a:rPr lang="en-US" sz="2978" strike="noStrike" u="none">
                <a:solidFill>
                  <a:srgbClr val="194A8D"/>
                </a:solidFill>
                <a:latin typeface="Arimo"/>
                <a:ea typeface="Arimo"/>
                <a:cs typeface="Arimo"/>
                <a:sym typeface="Arimo"/>
              </a:rPr>
              <a:t>bả</a:t>
            </a:r>
            <a:r>
              <a:rPr lang="en-US" sz="2978" strike="noStrike" u="none">
                <a:solidFill>
                  <a:srgbClr val="194A8D"/>
                </a:solidFill>
                <a:latin typeface="Arimo"/>
                <a:ea typeface="Arimo"/>
                <a:cs typeface="Arimo"/>
                <a:sym typeface="Arimo"/>
              </a:rPr>
              <a:t>n </a:t>
            </a:r>
            <a:r>
              <a:rPr lang="en-US" sz="2978" strike="noStrike" u="none">
                <a:solidFill>
                  <a:srgbClr val="194A8D"/>
                </a:solidFill>
                <a:latin typeface="Arimo"/>
                <a:ea typeface="Arimo"/>
                <a:cs typeface="Arimo"/>
                <a:sym typeface="Arimo"/>
              </a:rPr>
              <a:t>task stable; RDS Pr</a:t>
            </a:r>
            <a:r>
              <a:rPr lang="en-US" sz="2978" strike="noStrike" u="none">
                <a:solidFill>
                  <a:srgbClr val="194A8D"/>
                </a:solidFill>
                <a:latin typeface="Arimo"/>
                <a:ea typeface="Arimo"/>
                <a:cs typeface="Arimo"/>
                <a:sym typeface="Arimo"/>
              </a:rPr>
              <a:t>o</a:t>
            </a:r>
            <a:r>
              <a:rPr lang="en-US" sz="2978" strike="noStrike" u="none">
                <a:solidFill>
                  <a:srgbClr val="194A8D"/>
                </a:solidFill>
                <a:latin typeface="Arimo"/>
                <a:ea typeface="Arimo"/>
                <a:cs typeface="Arimo"/>
                <a:sym typeface="Arimo"/>
              </a:rPr>
              <a:t>xy</a:t>
            </a:r>
            <a:r>
              <a:rPr lang="en-US" sz="2978" strike="noStrike" u="none">
                <a:solidFill>
                  <a:srgbClr val="194A8D"/>
                </a:solidFill>
                <a:latin typeface="Arimo"/>
                <a:ea typeface="Arimo"/>
                <a:cs typeface="Arimo"/>
                <a:sym typeface="Arimo"/>
              </a:rPr>
              <a:t> c</a:t>
            </a:r>
            <a:r>
              <a:rPr lang="en-US" sz="2978" strike="noStrike" u="none">
                <a:solidFill>
                  <a:srgbClr val="194A8D"/>
                </a:solidFill>
                <a:latin typeface="Arimo"/>
                <a:ea typeface="Arimo"/>
                <a:cs typeface="Arimo"/>
                <a:sym typeface="Arimo"/>
              </a:rPr>
              <a:t>ó</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backup</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en</a:t>
            </a:r>
            <a:r>
              <a:rPr lang="en-US" sz="2978" strike="noStrike" u="none">
                <a:solidFill>
                  <a:srgbClr val="194A8D"/>
                </a:solidFill>
                <a:latin typeface="Arimo"/>
                <a:ea typeface="Arimo"/>
                <a:cs typeface="Arimo"/>
                <a:sym typeface="Arimo"/>
              </a:rPr>
              <a:t>d</a:t>
            </a:r>
            <a:r>
              <a:rPr lang="en-US" sz="2978" strike="noStrike" u="none">
                <a:solidFill>
                  <a:srgbClr val="194A8D"/>
                </a:solidFill>
                <a:latin typeface="Arimo"/>
                <a:ea typeface="Arimo"/>
                <a:cs typeface="Arimo"/>
                <a:sym typeface="Arimo"/>
              </a:rPr>
              <a:t>poi</a:t>
            </a:r>
            <a:r>
              <a:rPr lang="en-US" sz="2978" strike="noStrike" u="none">
                <a:solidFill>
                  <a:srgbClr val="194A8D"/>
                </a:solidFill>
                <a:latin typeface="Arimo"/>
                <a:ea typeface="Arimo"/>
                <a:cs typeface="Arimo"/>
                <a:sym typeface="Arimo"/>
              </a:rPr>
              <a:t>nt</a:t>
            </a:r>
            <a:r>
              <a:rPr lang="en-US" sz="2978" strike="noStrike" u="none">
                <a:solidFill>
                  <a:srgbClr val="194A8D"/>
                </a:solidFill>
                <a:latin typeface="Arimo"/>
                <a:ea typeface="Arimo"/>
                <a:cs typeface="Arimo"/>
                <a:sym typeface="Arimo"/>
              </a:rPr>
              <a:t>;</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s</a:t>
            </a:r>
            <a:r>
              <a:rPr lang="en-US" sz="2978" strike="noStrike" u="none">
                <a:solidFill>
                  <a:srgbClr val="194A8D"/>
                </a:solidFill>
                <a:latin typeface="Arimo"/>
                <a:ea typeface="Arimo"/>
                <a:cs typeface="Arimo"/>
                <a:sym typeface="Arimo"/>
              </a:rPr>
              <a:t>n</a:t>
            </a:r>
            <a:r>
              <a:rPr lang="en-US" sz="2978" strike="noStrike" u="none">
                <a:solidFill>
                  <a:srgbClr val="194A8D"/>
                </a:solidFill>
                <a:latin typeface="Arimo"/>
                <a:ea typeface="Arimo"/>
                <a:cs typeface="Arimo"/>
                <a:sym typeface="Arimo"/>
              </a:rPr>
              <a:t>aps</a:t>
            </a:r>
            <a:r>
              <a:rPr lang="en-US" sz="2978" strike="noStrike" u="none">
                <a:solidFill>
                  <a:srgbClr val="194A8D"/>
                </a:solidFill>
                <a:latin typeface="Arimo"/>
                <a:ea typeface="Arimo"/>
                <a:cs typeface="Arimo"/>
                <a:sym typeface="Arimo"/>
              </a:rPr>
              <a:t>h</a:t>
            </a:r>
            <a:r>
              <a:rPr lang="en-US" sz="2978" strike="noStrike" u="none">
                <a:solidFill>
                  <a:srgbClr val="194A8D"/>
                </a:solidFill>
                <a:latin typeface="Arimo"/>
                <a:ea typeface="Arimo"/>
                <a:cs typeface="Arimo"/>
                <a:sym typeface="Arimo"/>
              </a:rPr>
              <a:t>ot</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mỗi</a:t>
            </a:r>
            <a:r>
              <a:rPr lang="en-US" sz="2978" strike="noStrike" u="none">
                <a:solidFill>
                  <a:srgbClr val="194A8D"/>
                </a:solidFill>
                <a:latin typeface="Arimo"/>
                <a:ea typeface="Arimo"/>
                <a:cs typeface="Arimo"/>
                <a:sym typeface="Arimo"/>
              </a:rPr>
              <a:t> ng</a:t>
            </a:r>
            <a:r>
              <a:rPr lang="en-US" sz="2978" strike="noStrike" u="none">
                <a:solidFill>
                  <a:srgbClr val="194A8D"/>
                </a:solidFill>
                <a:latin typeface="Arimo"/>
                <a:ea typeface="Arimo"/>
                <a:cs typeface="Arimo"/>
                <a:sym typeface="Arimo"/>
              </a:rPr>
              <a:t>à</a:t>
            </a:r>
            <a:r>
              <a:rPr lang="en-US" sz="2978" strike="noStrike" u="none">
                <a:solidFill>
                  <a:srgbClr val="194A8D"/>
                </a:solidFill>
                <a:latin typeface="Arimo"/>
                <a:ea typeface="Arimo"/>
                <a:cs typeface="Arimo"/>
                <a:sym typeface="Arimo"/>
              </a:rPr>
              <a:t>y </a:t>
            </a:r>
            <a:r>
              <a:rPr lang="en-US" sz="2978" strike="noStrike" u="none">
                <a:solidFill>
                  <a:srgbClr val="194A8D"/>
                </a:solidFill>
                <a:latin typeface="Arimo"/>
                <a:ea typeface="Arimo"/>
                <a:cs typeface="Arimo"/>
                <a:sym typeface="Arimo"/>
              </a:rPr>
              <a:t>để</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res</a:t>
            </a:r>
            <a:r>
              <a:rPr lang="en-US" sz="2978" strike="noStrike" u="none">
                <a:solidFill>
                  <a:srgbClr val="194A8D"/>
                </a:solidFill>
                <a:latin typeface="Arimo"/>
                <a:ea typeface="Arimo"/>
                <a:cs typeface="Arimo"/>
                <a:sym typeface="Arimo"/>
              </a:rPr>
              <a:t>t</a:t>
            </a:r>
            <a:r>
              <a:rPr lang="en-US" sz="2978" strike="noStrike" u="none">
                <a:solidFill>
                  <a:srgbClr val="194A8D"/>
                </a:solidFill>
                <a:latin typeface="Arimo"/>
                <a:ea typeface="Arimo"/>
                <a:cs typeface="Arimo"/>
                <a:sym typeface="Arimo"/>
              </a:rPr>
              <a:t>ore</a:t>
            </a:r>
            <a:r>
              <a:rPr lang="en-US" sz="2978" strike="noStrike" u="none">
                <a:solidFill>
                  <a:srgbClr val="194A8D"/>
                </a:solidFill>
                <a:latin typeface="Arimo"/>
                <a:ea typeface="Arimo"/>
                <a:cs typeface="Arimo"/>
                <a:sym typeface="Arimo"/>
              </a:rPr>
              <a:t> n</a:t>
            </a:r>
            <a:r>
              <a:rPr lang="en-US" sz="2978" strike="noStrike" u="none">
                <a:solidFill>
                  <a:srgbClr val="194A8D"/>
                </a:solidFill>
                <a:latin typeface="Arimo"/>
                <a:ea typeface="Arimo"/>
                <a:cs typeface="Arimo"/>
                <a:sym typeface="Arimo"/>
              </a:rPr>
              <a:t>ha</a:t>
            </a:r>
            <a:r>
              <a:rPr lang="en-US" sz="2978" strike="noStrike" u="none">
                <a:solidFill>
                  <a:srgbClr val="194A8D"/>
                </a:solidFill>
                <a:latin typeface="Arimo"/>
                <a:ea typeface="Arimo"/>
                <a:cs typeface="Arimo"/>
                <a:sym typeface="Arimo"/>
              </a:rPr>
              <a:t>n</a:t>
            </a:r>
            <a:r>
              <a:rPr lang="en-US" sz="2978" strike="noStrike" u="none">
                <a:solidFill>
                  <a:srgbClr val="194A8D"/>
                </a:solidFill>
                <a:latin typeface="Arimo"/>
                <a:ea typeface="Arimo"/>
                <a:cs typeface="Arimo"/>
                <a:sym typeface="Arimo"/>
              </a:rPr>
              <a:t>h</a:t>
            </a:r>
            <a:r>
              <a:rPr lang="en-US" sz="2978" strike="noStrike" u="none">
                <a:solidFill>
                  <a:srgbClr val="194A8D"/>
                </a:solidFill>
                <a:latin typeface="Arimo"/>
                <a:ea typeface="Arimo"/>
                <a:cs typeface="Arimo"/>
                <a:sym typeface="Arimo"/>
              </a:rPr>
              <a:t>.</a:t>
            </a:r>
          </a:p>
          <a:p>
            <a:pPr algn="l" marL="642996" indent="-321498" lvl="1">
              <a:lnSpc>
                <a:spcPts val="4169"/>
              </a:lnSpc>
              <a:spcBef>
                <a:spcPct val="0"/>
              </a:spcBef>
              <a:buFont typeface="Arial"/>
              <a:buChar char="•"/>
            </a:pPr>
            <a:r>
              <a:rPr lang="en-US" sz="2978" strike="noStrike" u="none">
                <a:solidFill>
                  <a:srgbClr val="194A8D"/>
                </a:solidFill>
                <a:latin typeface="Arimo"/>
                <a:ea typeface="Arimo"/>
                <a:cs typeface="Arimo"/>
                <a:sym typeface="Arimo"/>
              </a:rPr>
              <a:t>·</a:t>
            </a:r>
            <a:r>
              <a:rPr lang="en-US" sz="2978" strike="noStrike" u="none">
                <a:solidFill>
                  <a:srgbClr val="194A8D"/>
                </a:solidFill>
                <a:latin typeface="Arimo"/>
                <a:ea typeface="Arimo"/>
                <a:cs typeface="Arimo"/>
                <a:sym typeface="Arimo"/>
              </a:rPr>
              <a:t>Risk</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mitigatio</a:t>
            </a:r>
            <a:r>
              <a:rPr lang="en-US" sz="2978" strike="noStrike" u="none">
                <a:solidFill>
                  <a:srgbClr val="194A8D"/>
                </a:solidFill>
                <a:latin typeface="Arimo"/>
                <a:ea typeface="Arimo"/>
                <a:cs typeface="Arimo"/>
                <a:sym typeface="Arimo"/>
              </a:rPr>
              <a:t>n</a:t>
            </a:r>
            <a:r>
              <a:rPr lang="en-US" sz="2978" strike="noStrike" u="none">
                <a:solidFill>
                  <a:srgbClr val="194A8D"/>
                </a:solidFill>
                <a:latin typeface="Arimo"/>
                <a:ea typeface="Arimo"/>
                <a:cs typeface="Arimo"/>
                <a:sym typeface="Arimo"/>
              </a:rPr>
              <a:t>:</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Cảnh</a:t>
            </a:r>
            <a:r>
              <a:rPr lang="en-US" sz="2978" strike="noStrike" u="none">
                <a:solidFill>
                  <a:srgbClr val="194A8D"/>
                </a:solidFill>
                <a:latin typeface="Arimo"/>
                <a:ea typeface="Arimo"/>
                <a:cs typeface="Arimo"/>
                <a:sym typeface="Arimo"/>
              </a:rPr>
              <a:t> b</a:t>
            </a:r>
            <a:r>
              <a:rPr lang="en-US" sz="2978" strike="noStrike" u="none">
                <a:solidFill>
                  <a:srgbClr val="194A8D"/>
                </a:solidFill>
                <a:latin typeface="Arimo"/>
                <a:ea typeface="Arimo"/>
                <a:cs typeface="Arimo"/>
                <a:sym typeface="Arimo"/>
              </a:rPr>
              <a:t>á</a:t>
            </a:r>
            <a:r>
              <a:rPr lang="en-US" sz="2978" strike="noStrike" u="none">
                <a:solidFill>
                  <a:srgbClr val="194A8D"/>
                </a:solidFill>
                <a:latin typeface="Arimo"/>
                <a:ea typeface="Arimo"/>
                <a:cs typeface="Arimo"/>
                <a:sym typeface="Arimo"/>
              </a:rPr>
              <a:t>o </a:t>
            </a:r>
            <a:r>
              <a:rPr lang="en-US" sz="2978" strike="noStrike" u="none">
                <a:solidFill>
                  <a:srgbClr val="194A8D"/>
                </a:solidFill>
                <a:latin typeface="Arimo"/>
                <a:ea typeface="Arimo"/>
                <a:cs typeface="Arimo"/>
                <a:sym typeface="Arimo"/>
              </a:rPr>
              <a:t>lỗi gửi</a:t>
            </a:r>
            <a:r>
              <a:rPr lang="en-US" sz="2978" strike="noStrike" u="none">
                <a:solidFill>
                  <a:srgbClr val="194A8D"/>
                </a:solidFill>
                <a:latin typeface="Arimo"/>
                <a:ea typeface="Arimo"/>
                <a:cs typeface="Arimo"/>
                <a:sym typeface="Arimo"/>
              </a:rPr>
              <a:t> v</a:t>
            </a:r>
            <a:r>
              <a:rPr lang="en-US" sz="2978" strike="noStrike" u="none">
                <a:solidFill>
                  <a:srgbClr val="194A8D"/>
                </a:solidFill>
                <a:latin typeface="Arimo"/>
                <a:ea typeface="Arimo"/>
                <a:cs typeface="Arimo"/>
                <a:sym typeface="Arimo"/>
              </a:rPr>
              <a:t>ề</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Slack k</a:t>
            </a:r>
            <a:r>
              <a:rPr lang="en-US" sz="2978" strike="noStrike" u="none">
                <a:solidFill>
                  <a:srgbClr val="194A8D"/>
                </a:solidFill>
                <a:latin typeface="Arimo"/>
                <a:ea typeface="Arimo"/>
                <a:cs typeface="Arimo"/>
                <a:sym typeface="Arimo"/>
              </a:rPr>
              <a:t>h</a:t>
            </a:r>
            <a:r>
              <a:rPr lang="en-US" sz="2978" strike="noStrike" u="none">
                <a:solidFill>
                  <a:srgbClr val="194A8D"/>
                </a:solidFill>
                <a:latin typeface="Arimo"/>
                <a:ea typeface="Arimo"/>
                <a:cs typeface="Arimo"/>
                <a:sym typeface="Arimo"/>
              </a:rPr>
              <a:t>i</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ECS ta</a:t>
            </a:r>
            <a:r>
              <a:rPr lang="en-US" sz="2978" strike="noStrike" u="none">
                <a:solidFill>
                  <a:srgbClr val="194A8D"/>
                </a:solidFill>
                <a:latin typeface="Arimo"/>
                <a:ea typeface="Arimo"/>
                <a:cs typeface="Arimo"/>
                <a:sym typeface="Arimo"/>
              </a:rPr>
              <a:t>s</a:t>
            </a:r>
            <a:r>
              <a:rPr lang="en-US" sz="2978" strike="noStrike" u="none">
                <a:solidFill>
                  <a:srgbClr val="194A8D"/>
                </a:solidFill>
                <a:latin typeface="Arimo"/>
                <a:ea typeface="Arimo"/>
                <a:cs typeface="Arimo"/>
                <a:sym typeface="Arimo"/>
              </a:rPr>
              <a:t>k</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thất</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bại</a:t>
            </a:r>
            <a:r>
              <a:rPr lang="en-US" sz="2978" strike="noStrike" u="none">
                <a:solidFill>
                  <a:srgbClr val="194A8D"/>
                </a:solidFill>
                <a:latin typeface="Arimo"/>
                <a:ea typeface="Arimo"/>
                <a:cs typeface="Arimo"/>
                <a:sym typeface="Arimo"/>
              </a:rPr>
              <a:t> h</a:t>
            </a:r>
            <a:r>
              <a:rPr lang="en-US" sz="2978" strike="noStrike" u="none">
                <a:solidFill>
                  <a:srgbClr val="194A8D"/>
                </a:solidFill>
                <a:latin typeface="Arimo"/>
                <a:ea typeface="Arimo"/>
                <a:cs typeface="Arimo"/>
                <a:sym typeface="Arimo"/>
              </a:rPr>
              <a:t>oặc</a:t>
            </a:r>
            <a:r>
              <a:rPr lang="en-US" sz="2978" strike="noStrike" u="none">
                <a:solidFill>
                  <a:srgbClr val="194A8D"/>
                </a:solidFill>
                <a:latin typeface="Arimo"/>
                <a:ea typeface="Arimo"/>
                <a:cs typeface="Arimo"/>
                <a:sym typeface="Arimo"/>
              </a:rPr>
              <a:t> </a:t>
            </a:r>
            <a:r>
              <a:rPr lang="en-US" sz="2978" strike="noStrike" u="none">
                <a:solidFill>
                  <a:srgbClr val="194A8D"/>
                </a:solidFill>
                <a:latin typeface="Arimo"/>
                <a:ea typeface="Arimo"/>
                <a:cs typeface="Arimo"/>
                <a:sym typeface="Arimo"/>
              </a:rPr>
              <a:t>kế</a:t>
            </a:r>
            <a:r>
              <a:rPr lang="en-US" sz="2978" strike="noStrike" u="none">
                <a:solidFill>
                  <a:srgbClr val="194A8D"/>
                </a:solidFill>
                <a:latin typeface="Arimo"/>
                <a:ea typeface="Arimo"/>
                <a:cs typeface="Arimo"/>
                <a:sym typeface="Arimo"/>
              </a:rPr>
              <a:t>t</a:t>
            </a:r>
            <a:r>
              <a:rPr lang="en-US" sz="2978" strike="noStrike" u="none">
                <a:solidFill>
                  <a:srgbClr val="194A8D"/>
                </a:solidFill>
                <a:latin typeface="Arimo"/>
                <a:ea typeface="Arimo"/>
                <a:cs typeface="Arimo"/>
                <a:sym typeface="Arimo"/>
              </a:rPr>
              <a:t> n</a:t>
            </a:r>
            <a:r>
              <a:rPr lang="en-US" sz="2978" strike="noStrike" u="none">
                <a:solidFill>
                  <a:srgbClr val="194A8D"/>
                </a:solidFill>
                <a:latin typeface="Arimo"/>
                <a:ea typeface="Arimo"/>
                <a:cs typeface="Arimo"/>
                <a:sym typeface="Arimo"/>
              </a:rPr>
              <a:t>ố</a:t>
            </a:r>
            <a:r>
              <a:rPr lang="en-US" sz="2978" strike="noStrike" u="none">
                <a:solidFill>
                  <a:srgbClr val="194A8D"/>
                </a:solidFill>
                <a:latin typeface="Arimo"/>
                <a:ea typeface="Arimo"/>
                <a:cs typeface="Arimo"/>
                <a:sym typeface="Arimo"/>
              </a:rPr>
              <a:t>i RDS vượt </a:t>
            </a:r>
            <a:r>
              <a:rPr lang="en-US" sz="2978" strike="noStrike" u="none">
                <a:solidFill>
                  <a:srgbClr val="194A8D"/>
                </a:solidFill>
                <a:latin typeface="Arimo"/>
                <a:ea typeface="Arimo"/>
                <a:cs typeface="Arimo"/>
                <a:sym typeface="Arimo"/>
              </a:rPr>
              <a:t>ng</a:t>
            </a:r>
            <a:r>
              <a:rPr lang="en-US" sz="2978" strike="noStrike" u="none">
                <a:solidFill>
                  <a:srgbClr val="194A8D"/>
                </a:solidFill>
                <a:latin typeface="Arimo"/>
                <a:ea typeface="Arimo"/>
                <a:cs typeface="Arimo"/>
                <a:sym typeface="Arimo"/>
              </a:rPr>
              <a:t>ưỡng.</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228251" y="513196"/>
            <a:ext cx="18059749" cy="1135783"/>
          </a:xfrm>
          <a:prstGeom prst="rect">
            <a:avLst/>
          </a:prstGeom>
        </p:spPr>
        <p:txBody>
          <a:bodyPr anchor="t" rtlCol="false" tIns="0" lIns="0" bIns="0" rIns="0">
            <a:spAutoFit/>
          </a:bodyPr>
          <a:lstStyle/>
          <a:p>
            <a:pPr algn="ctr">
              <a:lnSpc>
                <a:spcPts val="8655"/>
              </a:lnSpc>
            </a:pPr>
            <a:r>
              <a:rPr lang="en-US" sz="8165" spc="816">
                <a:solidFill>
                  <a:srgbClr val="FFFFFF"/>
                </a:solidFill>
                <a:latin typeface="League Spartan"/>
                <a:ea typeface="League Spartan"/>
                <a:cs typeface="League Spartan"/>
                <a:sym typeface="League Spartan"/>
              </a:rPr>
              <a:t>DỰ TOÁN NGÂN SÁCH </a:t>
            </a:r>
          </a:p>
        </p:txBody>
      </p:sp>
      <p:sp>
        <p:nvSpPr>
          <p:cNvPr name="TextBox 3" id="3"/>
          <p:cNvSpPr txBox="true"/>
          <p:nvPr/>
        </p:nvSpPr>
        <p:spPr>
          <a:xfrm rot="0">
            <a:off x="1028700" y="1315604"/>
            <a:ext cx="5132806" cy="1021184"/>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Chi phí hạ tầng</a:t>
            </a:r>
          </a:p>
        </p:txBody>
      </p:sp>
      <p:graphicFrame>
        <p:nvGraphicFramePr>
          <p:cNvPr name="Object 4" id="4"/>
          <p:cNvGraphicFramePr/>
          <p:nvPr/>
        </p:nvGraphicFramePr>
        <p:xfrm>
          <a:off x="1028700" y="2336788"/>
          <a:ext cx="3771900" cy="4191000"/>
        </p:xfrm>
        <a:graphic>
          <a:graphicData uri="http://schemas.openxmlformats.org/presentationml/2006/ole">
            <p:oleObj imgW="4610100" imgH="5029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1028700" y="351420"/>
            <a:ext cx="5898147" cy="1021184"/>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Chi phí phát triển</a:t>
            </a:r>
          </a:p>
        </p:txBody>
      </p:sp>
      <p:graphicFrame>
        <p:nvGraphicFramePr>
          <p:cNvPr name="Object 3" id="3"/>
          <p:cNvGraphicFramePr/>
          <p:nvPr/>
        </p:nvGraphicFramePr>
        <p:xfrm>
          <a:off x="1028700" y="1608391"/>
          <a:ext cx="3771900" cy="2095500"/>
        </p:xfrm>
        <a:graphic>
          <a:graphicData uri="http://schemas.openxmlformats.org/presentationml/2006/ole">
            <p:oleObj imgW="4521200" imgH="28448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1028700" y="351420"/>
            <a:ext cx="10512705" cy="1021184"/>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Dịch vụ bên thứ ba &amp; giấy phép</a:t>
            </a:r>
          </a:p>
        </p:txBody>
      </p:sp>
      <p:graphicFrame>
        <p:nvGraphicFramePr>
          <p:cNvPr name="Object 3" id="3"/>
          <p:cNvGraphicFramePr/>
          <p:nvPr/>
        </p:nvGraphicFramePr>
        <p:xfrm>
          <a:off x="1028700" y="1872941"/>
          <a:ext cx="3771900" cy="2095500"/>
        </p:xfrm>
        <a:graphic>
          <a:graphicData uri="http://schemas.openxmlformats.org/presentationml/2006/ole">
            <p:oleObj imgW="4521200" imgH="28448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1028700" y="351420"/>
            <a:ext cx="5673047" cy="1021184"/>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Chi phí vận hành </a:t>
            </a:r>
          </a:p>
        </p:txBody>
      </p:sp>
      <p:graphicFrame>
        <p:nvGraphicFramePr>
          <p:cNvPr name="Object 3" id="3"/>
          <p:cNvGraphicFramePr/>
          <p:nvPr/>
        </p:nvGraphicFramePr>
        <p:xfrm>
          <a:off x="1028700" y="2273514"/>
          <a:ext cx="3771900" cy="1676400"/>
        </p:xfrm>
        <a:graphic>
          <a:graphicData uri="http://schemas.openxmlformats.org/presentationml/2006/ole">
            <p:oleObj imgW="4521200" imgH="24257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1028700" y="351420"/>
            <a:ext cx="8914493" cy="1021184"/>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Phân tích lợi nhuận đầu tư </a:t>
            </a:r>
          </a:p>
        </p:txBody>
      </p:sp>
      <p:graphicFrame>
        <p:nvGraphicFramePr>
          <p:cNvPr name="Object 3" id="3"/>
          <p:cNvGraphicFramePr/>
          <p:nvPr/>
        </p:nvGraphicFramePr>
        <p:xfrm>
          <a:off x="1028700" y="2228494"/>
          <a:ext cx="2514600" cy="2514600"/>
        </p:xfrm>
        <a:graphic>
          <a:graphicData uri="http://schemas.openxmlformats.org/presentationml/2006/ole">
            <p:oleObj imgW="3009900" imgH="3009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1028700" y="7516"/>
            <a:ext cx="8869472" cy="1021184"/>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Chiến lược tối ưu chi phí</a:t>
            </a:r>
          </a:p>
        </p:txBody>
      </p:sp>
      <p:graphicFrame>
        <p:nvGraphicFramePr>
          <p:cNvPr name="Object 3" id="3"/>
          <p:cNvGraphicFramePr/>
          <p:nvPr/>
        </p:nvGraphicFramePr>
        <p:xfrm>
          <a:off x="691049" y="1193032"/>
          <a:ext cx="3771900" cy="4610100"/>
        </p:xfrm>
        <a:graphic>
          <a:graphicData uri="http://schemas.openxmlformats.org/presentationml/2006/ole">
            <p:oleObj imgW="4686300" imgH="5524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228251" y="513196"/>
            <a:ext cx="18059749" cy="1135783"/>
          </a:xfrm>
          <a:prstGeom prst="rect">
            <a:avLst/>
          </a:prstGeom>
        </p:spPr>
        <p:txBody>
          <a:bodyPr anchor="t" rtlCol="false" tIns="0" lIns="0" bIns="0" rIns="0">
            <a:spAutoFit/>
          </a:bodyPr>
          <a:lstStyle/>
          <a:p>
            <a:pPr algn="ctr">
              <a:lnSpc>
                <a:spcPts val="8655"/>
              </a:lnSpc>
            </a:pPr>
            <a:r>
              <a:rPr lang="en-US" sz="8165" spc="816">
                <a:solidFill>
                  <a:srgbClr val="FFFFFF"/>
                </a:solidFill>
                <a:latin typeface="League Spartan"/>
                <a:ea typeface="League Spartan"/>
                <a:cs typeface="League Spartan"/>
                <a:sym typeface="League Spartan"/>
              </a:rPr>
              <a:t>ĐÁNH GIÁ RỦI RO </a:t>
            </a:r>
          </a:p>
        </p:txBody>
      </p:sp>
      <p:sp>
        <p:nvSpPr>
          <p:cNvPr name="TextBox 3" id="3"/>
          <p:cNvSpPr txBox="true"/>
          <p:nvPr/>
        </p:nvSpPr>
        <p:spPr>
          <a:xfrm rot="0">
            <a:off x="1028700" y="1315604"/>
            <a:ext cx="5132806" cy="1021184"/>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Xác định rủi ro</a:t>
            </a:r>
          </a:p>
        </p:txBody>
      </p:sp>
      <p:graphicFrame>
        <p:nvGraphicFramePr>
          <p:cNvPr name="Object 4" id="4"/>
          <p:cNvGraphicFramePr/>
          <p:nvPr/>
        </p:nvGraphicFramePr>
        <p:xfrm>
          <a:off x="1028700" y="2746225"/>
          <a:ext cx="2514600" cy="2514600"/>
        </p:xfrm>
        <a:graphic>
          <a:graphicData uri="http://schemas.openxmlformats.org/presentationml/2006/ole">
            <p:oleObj imgW="3009900" imgH="3009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871130" y="212612"/>
            <a:ext cx="10332625" cy="1021184"/>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Phân tích tác động và xác suất </a:t>
            </a:r>
          </a:p>
        </p:txBody>
      </p:sp>
      <p:graphicFrame>
        <p:nvGraphicFramePr>
          <p:cNvPr name="Object 3" id="3"/>
          <p:cNvGraphicFramePr/>
          <p:nvPr/>
        </p:nvGraphicFramePr>
        <p:xfrm>
          <a:off x="871130" y="1620723"/>
          <a:ext cx="5029200" cy="2933700"/>
        </p:xfrm>
        <a:graphic>
          <a:graphicData uri="http://schemas.openxmlformats.org/presentationml/2006/ole">
            <p:oleObj imgW="6032500" imgH="39370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871130" y="212612"/>
            <a:ext cx="10332625" cy="1021184"/>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Chiến lược giảm thiểu rủi ro </a:t>
            </a:r>
          </a:p>
        </p:txBody>
      </p:sp>
      <p:graphicFrame>
        <p:nvGraphicFramePr>
          <p:cNvPr name="Object 3" id="3"/>
          <p:cNvGraphicFramePr/>
          <p:nvPr/>
        </p:nvGraphicFramePr>
        <p:xfrm>
          <a:off x="871130" y="1620723"/>
          <a:ext cx="2514600" cy="2933700"/>
        </p:xfrm>
        <a:graphic>
          <a:graphicData uri="http://schemas.openxmlformats.org/presentationml/2006/ole">
            <p:oleObj imgW="3098800" imgH="3517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33.xml><?xml version="1.0" encoding="utf-8"?>
<p:sld xmlns:p="http://schemas.openxmlformats.org/presentationml/2006/main" xmlns:a="http://schemas.openxmlformats.org/drawingml/2006/main">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4484163" y="1878355"/>
            <a:ext cx="9319673" cy="1021184"/>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Theo dõi và cảnh báo rủi ro </a:t>
            </a:r>
          </a:p>
        </p:txBody>
      </p:sp>
      <p:grpSp>
        <p:nvGrpSpPr>
          <p:cNvPr name="Group 3" id="3"/>
          <p:cNvGrpSpPr/>
          <p:nvPr/>
        </p:nvGrpSpPr>
        <p:grpSpPr>
          <a:xfrm rot="0">
            <a:off x="1028700" y="3758408"/>
            <a:ext cx="7753358" cy="1385092"/>
            <a:chOff x="0" y="0"/>
            <a:chExt cx="3259593" cy="582307"/>
          </a:xfrm>
        </p:grpSpPr>
        <p:sp>
          <p:nvSpPr>
            <p:cNvPr name="Freeform 4" id="4"/>
            <p:cNvSpPr/>
            <p:nvPr/>
          </p:nvSpPr>
          <p:spPr>
            <a:xfrm flipH="false" flipV="false" rot="0">
              <a:off x="0" y="0"/>
              <a:ext cx="3259593" cy="582307"/>
            </a:xfrm>
            <a:custGeom>
              <a:avLst/>
              <a:gdLst/>
              <a:ahLst/>
              <a:cxnLst/>
              <a:rect r="r" b="b" t="t" l="l"/>
              <a:pathLst>
                <a:path h="582307" w="3259593">
                  <a:moveTo>
                    <a:pt x="50925" y="0"/>
                  </a:moveTo>
                  <a:lnTo>
                    <a:pt x="3208668" y="0"/>
                  </a:lnTo>
                  <a:cubicBezTo>
                    <a:pt x="3236794" y="0"/>
                    <a:pt x="3259593" y="22800"/>
                    <a:pt x="3259593" y="50925"/>
                  </a:cubicBezTo>
                  <a:lnTo>
                    <a:pt x="3259593" y="531383"/>
                  </a:lnTo>
                  <a:cubicBezTo>
                    <a:pt x="3259593" y="544889"/>
                    <a:pt x="3254228" y="557842"/>
                    <a:pt x="3244678" y="567392"/>
                  </a:cubicBezTo>
                  <a:cubicBezTo>
                    <a:pt x="3235128" y="576942"/>
                    <a:pt x="3222175" y="582307"/>
                    <a:pt x="3208668" y="582307"/>
                  </a:cubicBezTo>
                  <a:lnTo>
                    <a:pt x="50925" y="582307"/>
                  </a:lnTo>
                  <a:cubicBezTo>
                    <a:pt x="22800" y="582307"/>
                    <a:pt x="0" y="559508"/>
                    <a:pt x="0" y="531383"/>
                  </a:cubicBezTo>
                  <a:lnTo>
                    <a:pt x="0" y="50925"/>
                  </a:lnTo>
                  <a:cubicBezTo>
                    <a:pt x="0" y="37419"/>
                    <a:pt x="5365" y="24466"/>
                    <a:pt x="14916" y="14916"/>
                  </a:cubicBezTo>
                  <a:cubicBezTo>
                    <a:pt x="24466" y="5365"/>
                    <a:pt x="37419" y="0"/>
                    <a:pt x="50925" y="0"/>
                  </a:cubicBezTo>
                  <a:close/>
                </a:path>
              </a:pathLst>
            </a:custGeom>
            <a:solidFill>
              <a:srgbClr val="FFFFFF"/>
            </a:solidFill>
            <a:ln w="38100" cap="rnd">
              <a:solidFill>
                <a:srgbClr val="6299E4"/>
              </a:solidFill>
              <a:prstDash val="solid"/>
              <a:round/>
            </a:ln>
          </p:spPr>
        </p:sp>
        <p:sp>
          <p:nvSpPr>
            <p:cNvPr name="TextBox 5" id="5"/>
            <p:cNvSpPr txBox="true"/>
            <p:nvPr/>
          </p:nvSpPr>
          <p:spPr>
            <a:xfrm>
              <a:off x="0" y="-47625"/>
              <a:ext cx="3259593" cy="62993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8700" y="5725399"/>
            <a:ext cx="7753358" cy="1238930"/>
            <a:chOff x="0" y="0"/>
            <a:chExt cx="3259593" cy="520859"/>
          </a:xfrm>
        </p:grpSpPr>
        <p:sp>
          <p:nvSpPr>
            <p:cNvPr name="Freeform 7" id="7"/>
            <p:cNvSpPr/>
            <p:nvPr/>
          </p:nvSpPr>
          <p:spPr>
            <a:xfrm flipH="false" flipV="false" rot="0">
              <a:off x="0" y="0"/>
              <a:ext cx="3259593" cy="520859"/>
            </a:xfrm>
            <a:custGeom>
              <a:avLst/>
              <a:gdLst/>
              <a:ahLst/>
              <a:cxnLst/>
              <a:rect r="r" b="b" t="t" l="l"/>
              <a:pathLst>
                <a:path h="520859" w="3259593">
                  <a:moveTo>
                    <a:pt x="50925" y="0"/>
                  </a:moveTo>
                  <a:lnTo>
                    <a:pt x="3208668" y="0"/>
                  </a:lnTo>
                  <a:cubicBezTo>
                    <a:pt x="3236794" y="0"/>
                    <a:pt x="3259593" y="22800"/>
                    <a:pt x="3259593" y="50925"/>
                  </a:cubicBezTo>
                  <a:lnTo>
                    <a:pt x="3259593" y="469934"/>
                  </a:lnTo>
                  <a:cubicBezTo>
                    <a:pt x="3259593" y="483440"/>
                    <a:pt x="3254228" y="496393"/>
                    <a:pt x="3244678" y="505943"/>
                  </a:cubicBezTo>
                  <a:cubicBezTo>
                    <a:pt x="3235128" y="515494"/>
                    <a:pt x="3222175" y="520859"/>
                    <a:pt x="3208668" y="520859"/>
                  </a:cubicBezTo>
                  <a:lnTo>
                    <a:pt x="50925" y="520859"/>
                  </a:lnTo>
                  <a:cubicBezTo>
                    <a:pt x="22800" y="520859"/>
                    <a:pt x="0" y="498059"/>
                    <a:pt x="0" y="469934"/>
                  </a:cubicBezTo>
                  <a:lnTo>
                    <a:pt x="0" y="50925"/>
                  </a:lnTo>
                  <a:cubicBezTo>
                    <a:pt x="0" y="37419"/>
                    <a:pt x="5365" y="24466"/>
                    <a:pt x="14916" y="14916"/>
                  </a:cubicBezTo>
                  <a:cubicBezTo>
                    <a:pt x="24466" y="5365"/>
                    <a:pt x="37419" y="0"/>
                    <a:pt x="50925" y="0"/>
                  </a:cubicBezTo>
                  <a:close/>
                </a:path>
              </a:pathLst>
            </a:custGeom>
            <a:solidFill>
              <a:srgbClr val="FFFFFF"/>
            </a:solidFill>
            <a:ln w="38100" cap="rnd">
              <a:solidFill>
                <a:srgbClr val="6299E4"/>
              </a:solidFill>
              <a:prstDash val="solid"/>
              <a:round/>
            </a:ln>
          </p:spPr>
        </p:sp>
        <p:sp>
          <p:nvSpPr>
            <p:cNvPr name="TextBox 8" id="8"/>
            <p:cNvSpPr txBox="true"/>
            <p:nvPr/>
          </p:nvSpPr>
          <p:spPr>
            <a:xfrm>
              <a:off x="0" y="-47625"/>
              <a:ext cx="3259593" cy="56848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164056" y="3758408"/>
            <a:ext cx="7753358" cy="1385092"/>
            <a:chOff x="0" y="0"/>
            <a:chExt cx="3259593" cy="582307"/>
          </a:xfrm>
        </p:grpSpPr>
        <p:sp>
          <p:nvSpPr>
            <p:cNvPr name="Freeform 10" id="10"/>
            <p:cNvSpPr/>
            <p:nvPr/>
          </p:nvSpPr>
          <p:spPr>
            <a:xfrm flipH="false" flipV="false" rot="0">
              <a:off x="0" y="0"/>
              <a:ext cx="3259593" cy="582307"/>
            </a:xfrm>
            <a:custGeom>
              <a:avLst/>
              <a:gdLst/>
              <a:ahLst/>
              <a:cxnLst/>
              <a:rect r="r" b="b" t="t" l="l"/>
              <a:pathLst>
                <a:path h="582307" w="3259593">
                  <a:moveTo>
                    <a:pt x="50925" y="0"/>
                  </a:moveTo>
                  <a:lnTo>
                    <a:pt x="3208668" y="0"/>
                  </a:lnTo>
                  <a:cubicBezTo>
                    <a:pt x="3236794" y="0"/>
                    <a:pt x="3259593" y="22800"/>
                    <a:pt x="3259593" y="50925"/>
                  </a:cubicBezTo>
                  <a:lnTo>
                    <a:pt x="3259593" y="531383"/>
                  </a:lnTo>
                  <a:cubicBezTo>
                    <a:pt x="3259593" y="544889"/>
                    <a:pt x="3254228" y="557842"/>
                    <a:pt x="3244678" y="567392"/>
                  </a:cubicBezTo>
                  <a:cubicBezTo>
                    <a:pt x="3235128" y="576942"/>
                    <a:pt x="3222175" y="582307"/>
                    <a:pt x="3208668" y="582307"/>
                  </a:cubicBezTo>
                  <a:lnTo>
                    <a:pt x="50925" y="582307"/>
                  </a:lnTo>
                  <a:cubicBezTo>
                    <a:pt x="22800" y="582307"/>
                    <a:pt x="0" y="559508"/>
                    <a:pt x="0" y="531383"/>
                  </a:cubicBezTo>
                  <a:lnTo>
                    <a:pt x="0" y="50925"/>
                  </a:lnTo>
                  <a:cubicBezTo>
                    <a:pt x="0" y="37419"/>
                    <a:pt x="5365" y="24466"/>
                    <a:pt x="14916" y="14916"/>
                  </a:cubicBezTo>
                  <a:cubicBezTo>
                    <a:pt x="24466" y="5365"/>
                    <a:pt x="37419" y="0"/>
                    <a:pt x="50925" y="0"/>
                  </a:cubicBezTo>
                  <a:close/>
                </a:path>
              </a:pathLst>
            </a:custGeom>
            <a:solidFill>
              <a:srgbClr val="FFFFFF"/>
            </a:solidFill>
            <a:ln w="38100" cap="rnd">
              <a:solidFill>
                <a:srgbClr val="6299E4"/>
              </a:solidFill>
              <a:prstDash val="solid"/>
              <a:round/>
            </a:ln>
          </p:spPr>
        </p:sp>
        <p:sp>
          <p:nvSpPr>
            <p:cNvPr name="TextBox 11" id="11"/>
            <p:cNvSpPr txBox="true"/>
            <p:nvPr/>
          </p:nvSpPr>
          <p:spPr>
            <a:xfrm>
              <a:off x="0" y="-47625"/>
              <a:ext cx="3259593" cy="62993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9164056" y="5725399"/>
            <a:ext cx="7753358" cy="1238930"/>
            <a:chOff x="0" y="0"/>
            <a:chExt cx="3259593" cy="520859"/>
          </a:xfrm>
        </p:grpSpPr>
        <p:sp>
          <p:nvSpPr>
            <p:cNvPr name="Freeform 13" id="13"/>
            <p:cNvSpPr/>
            <p:nvPr/>
          </p:nvSpPr>
          <p:spPr>
            <a:xfrm flipH="false" flipV="false" rot="0">
              <a:off x="0" y="0"/>
              <a:ext cx="3259593" cy="520859"/>
            </a:xfrm>
            <a:custGeom>
              <a:avLst/>
              <a:gdLst/>
              <a:ahLst/>
              <a:cxnLst/>
              <a:rect r="r" b="b" t="t" l="l"/>
              <a:pathLst>
                <a:path h="520859" w="3259593">
                  <a:moveTo>
                    <a:pt x="50925" y="0"/>
                  </a:moveTo>
                  <a:lnTo>
                    <a:pt x="3208668" y="0"/>
                  </a:lnTo>
                  <a:cubicBezTo>
                    <a:pt x="3236794" y="0"/>
                    <a:pt x="3259593" y="22800"/>
                    <a:pt x="3259593" y="50925"/>
                  </a:cubicBezTo>
                  <a:lnTo>
                    <a:pt x="3259593" y="469934"/>
                  </a:lnTo>
                  <a:cubicBezTo>
                    <a:pt x="3259593" y="483440"/>
                    <a:pt x="3254228" y="496393"/>
                    <a:pt x="3244678" y="505943"/>
                  </a:cubicBezTo>
                  <a:cubicBezTo>
                    <a:pt x="3235128" y="515494"/>
                    <a:pt x="3222175" y="520859"/>
                    <a:pt x="3208668" y="520859"/>
                  </a:cubicBezTo>
                  <a:lnTo>
                    <a:pt x="50925" y="520859"/>
                  </a:lnTo>
                  <a:cubicBezTo>
                    <a:pt x="22800" y="520859"/>
                    <a:pt x="0" y="498059"/>
                    <a:pt x="0" y="469934"/>
                  </a:cubicBezTo>
                  <a:lnTo>
                    <a:pt x="0" y="50925"/>
                  </a:lnTo>
                  <a:cubicBezTo>
                    <a:pt x="0" y="37419"/>
                    <a:pt x="5365" y="24466"/>
                    <a:pt x="14916" y="14916"/>
                  </a:cubicBezTo>
                  <a:cubicBezTo>
                    <a:pt x="24466" y="5365"/>
                    <a:pt x="37419" y="0"/>
                    <a:pt x="50925" y="0"/>
                  </a:cubicBezTo>
                  <a:close/>
                </a:path>
              </a:pathLst>
            </a:custGeom>
            <a:solidFill>
              <a:srgbClr val="FFFFFF"/>
            </a:solidFill>
            <a:ln w="38100" cap="rnd">
              <a:solidFill>
                <a:srgbClr val="6299E4"/>
              </a:solidFill>
              <a:prstDash val="solid"/>
              <a:round/>
            </a:ln>
          </p:spPr>
        </p:sp>
        <p:sp>
          <p:nvSpPr>
            <p:cNvPr name="TextBox 14" id="14"/>
            <p:cNvSpPr txBox="true"/>
            <p:nvPr/>
          </p:nvSpPr>
          <p:spPr>
            <a:xfrm>
              <a:off x="0" y="-47625"/>
              <a:ext cx="3259593" cy="568484"/>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626716" y="4098814"/>
            <a:ext cx="6719127" cy="939060"/>
          </a:xfrm>
          <a:prstGeom prst="rect">
            <a:avLst/>
          </a:prstGeom>
        </p:spPr>
        <p:txBody>
          <a:bodyPr anchor="t" rtlCol="false" tIns="0" lIns="0" bIns="0" rIns="0">
            <a:spAutoFit/>
          </a:bodyPr>
          <a:lstStyle/>
          <a:p>
            <a:pPr algn="l">
              <a:lnSpc>
                <a:spcPts val="2491"/>
              </a:lnSpc>
              <a:spcBef>
                <a:spcPct val="0"/>
              </a:spcBef>
            </a:pPr>
            <a:r>
              <a:rPr lang="en-US" sz="1779">
                <a:solidFill>
                  <a:srgbClr val="194A8D"/>
                </a:solidFill>
                <a:latin typeface="Arimo"/>
                <a:ea typeface="Arimo"/>
                <a:cs typeface="Arimo"/>
                <a:sym typeface="Arimo"/>
              </a:rPr>
              <a:t>Th</a:t>
            </a:r>
            <a:r>
              <a:rPr lang="en-US" sz="1779">
                <a:solidFill>
                  <a:srgbClr val="194A8D"/>
                </a:solidFill>
                <a:latin typeface="Arimo"/>
                <a:ea typeface="Arimo"/>
                <a:cs typeface="Arimo"/>
                <a:sym typeface="Arimo"/>
              </a:rPr>
              <a:t>iết lập CloudWatch Alarms cho: số kết nối, độ trễ truy vấn, CPU DB, lỗi HTTP 5xx</a:t>
            </a:r>
          </a:p>
          <a:p>
            <a:pPr algn="l">
              <a:lnSpc>
                <a:spcPts val="2491"/>
              </a:lnSpc>
              <a:spcBef>
                <a:spcPct val="0"/>
              </a:spcBef>
            </a:pPr>
          </a:p>
        </p:txBody>
      </p:sp>
      <p:sp>
        <p:nvSpPr>
          <p:cNvPr name="TextBox 16" id="16"/>
          <p:cNvSpPr txBox="true"/>
          <p:nvPr/>
        </p:nvSpPr>
        <p:spPr>
          <a:xfrm rot="0">
            <a:off x="1545816" y="6025269"/>
            <a:ext cx="6719127" cy="939060"/>
          </a:xfrm>
          <a:prstGeom prst="rect">
            <a:avLst/>
          </a:prstGeom>
        </p:spPr>
        <p:txBody>
          <a:bodyPr anchor="t" rtlCol="false" tIns="0" lIns="0" bIns="0" rIns="0">
            <a:spAutoFit/>
          </a:bodyPr>
          <a:lstStyle/>
          <a:p>
            <a:pPr algn="l">
              <a:lnSpc>
                <a:spcPts val="2491"/>
              </a:lnSpc>
              <a:spcBef>
                <a:spcPct val="0"/>
              </a:spcBef>
            </a:pPr>
            <a:r>
              <a:rPr lang="en-US" sz="1779">
                <a:solidFill>
                  <a:srgbClr val="194A8D"/>
                </a:solidFill>
                <a:latin typeface="Arimo"/>
                <a:ea typeface="Arimo"/>
                <a:cs typeface="Arimo"/>
                <a:sym typeface="Arimo"/>
              </a:rPr>
              <a:t>·Dùng SNS</a:t>
            </a:r>
            <a:r>
              <a:rPr lang="en-US" sz="1779">
                <a:solidFill>
                  <a:srgbClr val="194A8D"/>
                </a:solidFill>
                <a:latin typeface="Arimo"/>
                <a:ea typeface="Arimo"/>
                <a:cs typeface="Arimo"/>
                <a:sym typeface="Arimo"/>
              </a:rPr>
              <a:t> (Simple Notification Service) để gửi cảnh báo đến email / Slack nhóm</a:t>
            </a:r>
          </a:p>
          <a:p>
            <a:pPr algn="l">
              <a:lnSpc>
                <a:spcPts val="2491"/>
              </a:lnSpc>
              <a:spcBef>
                <a:spcPct val="0"/>
              </a:spcBef>
            </a:pPr>
          </a:p>
        </p:txBody>
      </p:sp>
      <p:sp>
        <p:nvSpPr>
          <p:cNvPr name="TextBox 17" id="17"/>
          <p:cNvSpPr txBox="true"/>
          <p:nvPr/>
        </p:nvSpPr>
        <p:spPr>
          <a:xfrm rot="0">
            <a:off x="9681172" y="3957611"/>
            <a:ext cx="6719127" cy="939060"/>
          </a:xfrm>
          <a:prstGeom prst="rect">
            <a:avLst/>
          </a:prstGeom>
        </p:spPr>
        <p:txBody>
          <a:bodyPr anchor="t" rtlCol="false" tIns="0" lIns="0" bIns="0" rIns="0">
            <a:spAutoFit/>
          </a:bodyPr>
          <a:lstStyle/>
          <a:p>
            <a:pPr algn="l">
              <a:lnSpc>
                <a:spcPts val="2491"/>
              </a:lnSpc>
              <a:spcBef>
                <a:spcPct val="0"/>
              </a:spcBef>
            </a:pPr>
            <a:r>
              <a:rPr lang="en-US" sz="1779">
                <a:solidFill>
                  <a:srgbClr val="194A8D"/>
                </a:solidFill>
                <a:latin typeface="Arimo"/>
                <a:ea typeface="Arimo"/>
                <a:cs typeface="Arimo"/>
                <a:sym typeface="Arimo"/>
              </a:rPr>
              <a:t>·Phâ</a:t>
            </a:r>
            <a:r>
              <a:rPr lang="en-US" sz="1779">
                <a:solidFill>
                  <a:srgbClr val="194A8D"/>
                </a:solidFill>
                <a:latin typeface="Arimo"/>
                <a:ea typeface="Arimo"/>
                <a:cs typeface="Arimo"/>
                <a:sym typeface="Arimo"/>
              </a:rPr>
              <a:t>n công rõ người chịu trách nhiệm xử lý mỗi loại cảnh báo (DevOps, Dev, QA)</a:t>
            </a:r>
          </a:p>
          <a:p>
            <a:pPr algn="l">
              <a:lnSpc>
                <a:spcPts val="2491"/>
              </a:lnSpc>
              <a:spcBef>
                <a:spcPct val="0"/>
              </a:spcBef>
            </a:pPr>
          </a:p>
        </p:txBody>
      </p:sp>
      <p:sp>
        <p:nvSpPr>
          <p:cNvPr name="TextBox 18" id="18"/>
          <p:cNvSpPr txBox="true"/>
          <p:nvPr/>
        </p:nvSpPr>
        <p:spPr>
          <a:xfrm rot="0">
            <a:off x="9681172" y="6025269"/>
            <a:ext cx="6719127" cy="939060"/>
          </a:xfrm>
          <a:prstGeom prst="rect">
            <a:avLst/>
          </a:prstGeom>
        </p:spPr>
        <p:txBody>
          <a:bodyPr anchor="t" rtlCol="false" tIns="0" lIns="0" bIns="0" rIns="0">
            <a:spAutoFit/>
          </a:bodyPr>
          <a:lstStyle/>
          <a:p>
            <a:pPr algn="l">
              <a:lnSpc>
                <a:spcPts val="2491"/>
              </a:lnSpc>
              <a:spcBef>
                <a:spcPct val="0"/>
              </a:spcBef>
            </a:pPr>
            <a:r>
              <a:rPr lang="en-US" sz="1779">
                <a:solidFill>
                  <a:srgbClr val="194A8D"/>
                </a:solidFill>
                <a:latin typeface="Arimo"/>
                <a:ea typeface="Arimo"/>
                <a:cs typeface="Arimo"/>
                <a:sym typeface="Arimo"/>
              </a:rPr>
              <a:t>·Tổ</a:t>
            </a:r>
            <a:r>
              <a:rPr lang="en-US" sz="1779">
                <a:solidFill>
                  <a:srgbClr val="194A8D"/>
                </a:solidFill>
                <a:latin typeface="Arimo"/>
                <a:ea typeface="Arimo"/>
                <a:cs typeface="Arimo"/>
                <a:sym typeface="Arimo"/>
              </a:rPr>
              <a:t> chức họp đánh giá rủi ro mỗi tuần để cập nhật tiến độ và xử lý sớm</a:t>
            </a:r>
          </a:p>
          <a:p>
            <a:pPr algn="l">
              <a:lnSpc>
                <a:spcPts val="2491"/>
              </a:lnSpc>
              <a:spcBef>
                <a:spcPct val="0"/>
              </a:spcBef>
            </a:pP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228251" y="513196"/>
            <a:ext cx="18059749" cy="1135783"/>
          </a:xfrm>
          <a:prstGeom prst="rect">
            <a:avLst/>
          </a:prstGeom>
        </p:spPr>
        <p:txBody>
          <a:bodyPr anchor="t" rtlCol="false" tIns="0" lIns="0" bIns="0" rIns="0">
            <a:spAutoFit/>
          </a:bodyPr>
          <a:lstStyle/>
          <a:p>
            <a:pPr algn="ctr">
              <a:lnSpc>
                <a:spcPts val="8655"/>
              </a:lnSpc>
            </a:pPr>
            <a:r>
              <a:rPr lang="en-US" sz="8165" spc="816">
                <a:solidFill>
                  <a:srgbClr val="FFFFFF"/>
                </a:solidFill>
                <a:latin typeface="League Spartan"/>
                <a:ea typeface="League Spartan"/>
                <a:cs typeface="League Spartan"/>
                <a:sym typeface="League Spartan"/>
              </a:rPr>
              <a:t>KẾT QUẢ MONG ĐỢI </a:t>
            </a:r>
          </a:p>
        </p:txBody>
      </p:sp>
      <p:sp>
        <p:nvSpPr>
          <p:cNvPr name="TextBox 3" id="3"/>
          <p:cNvSpPr txBox="true"/>
          <p:nvPr/>
        </p:nvSpPr>
        <p:spPr>
          <a:xfrm rot="0">
            <a:off x="1028700" y="1315604"/>
            <a:ext cx="6235798" cy="1021184"/>
          </a:xfrm>
          <a:prstGeom prst="rect">
            <a:avLst/>
          </a:prstGeom>
        </p:spPr>
        <p:txBody>
          <a:bodyPr anchor="t" rtlCol="false" tIns="0" lIns="0" bIns="0" rIns="0">
            <a:spAutoFit/>
          </a:bodyPr>
          <a:lstStyle/>
          <a:p>
            <a:pPr algn="l">
              <a:lnSpc>
                <a:spcPts val="8633"/>
              </a:lnSpc>
            </a:pPr>
            <a:r>
              <a:rPr lang="en-US" b="true" sz="4519" spc="451">
                <a:solidFill>
                  <a:srgbClr val="FFFFFF"/>
                </a:solidFill>
                <a:latin typeface="Arimo Bold"/>
                <a:ea typeface="Arimo Bold"/>
                <a:cs typeface="Arimo Bold"/>
                <a:sym typeface="Arimo Bold"/>
              </a:rPr>
              <a:t>Chỉ số thành công </a:t>
            </a:r>
          </a:p>
        </p:txBody>
      </p:sp>
      <p:graphicFrame>
        <p:nvGraphicFramePr>
          <p:cNvPr name="Object 4" id="4"/>
          <p:cNvGraphicFramePr/>
          <p:nvPr/>
        </p:nvGraphicFramePr>
        <p:xfrm>
          <a:off x="1028700" y="2543634"/>
          <a:ext cx="2514600" cy="4610100"/>
        </p:xfrm>
        <a:graphic>
          <a:graphicData uri="http://schemas.openxmlformats.org/presentationml/2006/ole">
            <p:oleObj imgW="3429000" imgH="5524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aphicFrame>
        <p:nvGraphicFramePr>
          <p:cNvPr name="Object 5" id="5"/>
          <p:cNvGraphicFramePr/>
          <p:nvPr/>
        </p:nvGraphicFramePr>
        <p:xfrm>
          <a:off x="1028700" y="6753447"/>
          <a:ext cx="2514600" cy="2095500"/>
        </p:xfrm>
        <a:graphic>
          <a:graphicData uri="http://schemas.openxmlformats.org/presentationml/2006/ole">
            <p:oleObj imgW="3009900" imgH="25908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true" rot="-5400000">
            <a:off x="15177010" y="-1253949"/>
            <a:ext cx="2720897" cy="5228794"/>
          </a:xfrm>
          <a:custGeom>
            <a:avLst/>
            <a:gdLst/>
            <a:ahLst/>
            <a:cxnLst/>
            <a:rect r="r" b="b" t="t" l="l"/>
            <a:pathLst>
              <a:path h="5228794" w="2720897">
                <a:moveTo>
                  <a:pt x="0" y="5228795"/>
                </a:moveTo>
                <a:lnTo>
                  <a:pt x="2720897" y="5228795"/>
                </a:lnTo>
                <a:lnTo>
                  <a:pt x="2720897" y="0"/>
                </a:lnTo>
                <a:lnTo>
                  <a:pt x="0" y="0"/>
                </a:lnTo>
                <a:lnTo>
                  <a:pt x="0" y="5228795"/>
                </a:lnTo>
                <a:close/>
              </a:path>
            </a:pathLst>
          </a:custGeom>
          <a:blipFill>
            <a:blip r:embed="rId2"/>
            <a:stretch>
              <a:fillRect l="0" t="0" r="0" b="0"/>
            </a:stretch>
          </a:blipFill>
        </p:spPr>
      </p:sp>
      <p:sp>
        <p:nvSpPr>
          <p:cNvPr name="Freeform 3" id="3"/>
          <p:cNvSpPr/>
          <p:nvPr/>
        </p:nvSpPr>
        <p:spPr>
          <a:xfrm flipH="false" flipV="false" rot="-5400000">
            <a:off x="390093" y="-1471468"/>
            <a:ext cx="2720897" cy="5228794"/>
          </a:xfrm>
          <a:custGeom>
            <a:avLst/>
            <a:gdLst/>
            <a:ahLst/>
            <a:cxnLst/>
            <a:rect r="r" b="b" t="t" l="l"/>
            <a:pathLst>
              <a:path h="5228794" w="2720897">
                <a:moveTo>
                  <a:pt x="0" y="0"/>
                </a:moveTo>
                <a:lnTo>
                  <a:pt x="2720897" y="0"/>
                </a:lnTo>
                <a:lnTo>
                  <a:pt x="2720897" y="5228794"/>
                </a:lnTo>
                <a:lnTo>
                  <a:pt x="0" y="5228794"/>
                </a:lnTo>
                <a:lnTo>
                  <a:pt x="0" y="0"/>
                </a:lnTo>
                <a:close/>
              </a:path>
            </a:pathLst>
          </a:custGeom>
          <a:blipFill>
            <a:blip r:embed="rId2"/>
            <a:stretch>
              <a:fillRect l="0" t="0" r="0" b="0"/>
            </a:stretch>
          </a:blipFill>
        </p:spPr>
      </p:sp>
      <p:grpSp>
        <p:nvGrpSpPr>
          <p:cNvPr name="Group 4" id="4"/>
          <p:cNvGrpSpPr/>
          <p:nvPr/>
        </p:nvGrpSpPr>
        <p:grpSpPr>
          <a:xfrm rot="0">
            <a:off x="1595871" y="1142929"/>
            <a:ext cx="4920028" cy="7484343"/>
            <a:chOff x="0" y="0"/>
            <a:chExt cx="1295810" cy="1971185"/>
          </a:xfrm>
        </p:grpSpPr>
        <p:sp>
          <p:nvSpPr>
            <p:cNvPr name="Freeform 5" id="5"/>
            <p:cNvSpPr/>
            <p:nvPr/>
          </p:nvSpPr>
          <p:spPr>
            <a:xfrm flipH="false" flipV="false" rot="0">
              <a:off x="0" y="0"/>
              <a:ext cx="1295810" cy="1971185"/>
            </a:xfrm>
            <a:custGeom>
              <a:avLst/>
              <a:gdLst/>
              <a:ahLst/>
              <a:cxnLst/>
              <a:rect r="r" b="b" t="t" l="l"/>
              <a:pathLst>
                <a:path h="1971185" w="1295810">
                  <a:moveTo>
                    <a:pt x="0" y="0"/>
                  </a:moveTo>
                  <a:lnTo>
                    <a:pt x="1295810" y="0"/>
                  </a:lnTo>
                  <a:lnTo>
                    <a:pt x="1295810" y="1971185"/>
                  </a:lnTo>
                  <a:lnTo>
                    <a:pt x="0" y="1971185"/>
                  </a:lnTo>
                  <a:close/>
                </a:path>
              </a:pathLst>
            </a:custGeom>
            <a:solidFill>
              <a:srgbClr val="FFFFFF"/>
            </a:solidFill>
          </p:spPr>
        </p:sp>
        <p:sp>
          <p:nvSpPr>
            <p:cNvPr name="TextBox 6" id="6"/>
            <p:cNvSpPr txBox="true"/>
            <p:nvPr/>
          </p:nvSpPr>
          <p:spPr>
            <a:xfrm>
              <a:off x="0" y="-47625"/>
              <a:ext cx="1295810" cy="2018810"/>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595871" y="1172394"/>
            <a:ext cx="4920028" cy="845670"/>
          </a:xfrm>
          <a:prstGeom prst="rect">
            <a:avLst/>
          </a:prstGeom>
        </p:spPr>
        <p:txBody>
          <a:bodyPr anchor="t" rtlCol="false" tIns="0" lIns="0" bIns="0" rIns="0">
            <a:spAutoFit/>
          </a:bodyPr>
          <a:lstStyle/>
          <a:p>
            <a:pPr algn="ctr" marL="0" indent="0" lvl="0">
              <a:lnSpc>
                <a:spcPts val="7105"/>
              </a:lnSpc>
              <a:spcBef>
                <a:spcPct val="0"/>
              </a:spcBef>
            </a:pPr>
            <a:r>
              <a:rPr lang="en-US" b="true" sz="3719" spc="371" strike="noStrike" u="none">
                <a:solidFill>
                  <a:srgbClr val="194A8D"/>
                </a:solidFill>
                <a:latin typeface="Arimo Bold"/>
                <a:ea typeface="Arimo Bold"/>
                <a:cs typeface="Arimo Bold"/>
                <a:sym typeface="Arimo Bold"/>
              </a:rPr>
              <a:t>Lợi ích ngắn hạn </a:t>
            </a:r>
          </a:p>
        </p:txBody>
      </p:sp>
      <p:grpSp>
        <p:nvGrpSpPr>
          <p:cNvPr name="Group 8" id="8"/>
          <p:cNvGrpSpPr/>
          <p:nvPr/>
        </p:nvGrpSpPr>
        <p:grpSpPr>
          <a:xfrm rot="0">
            <a:off x="6901513" y="1142929"/>
            <a:ext cx="4920028" cy="7480143"/>
            <a:chOff x="0" y="0"/>
            <a:chExt cx="1295810" cy="1970079"/>
          </a:xfrm>
        </p:grpSpPr>
        <p:sp>
          <p:nvSpPr>
            <p:cNvPr name="Freeform 9" id="9"/>
            <p:cNvSpPr/>
            <p:nvPr/>
          </p:nvSpPr>
          <p:spPr>
            <a:xfrm flipH="false" flipV="false" rot="0">
              <a:off x="0" y="0"/>
              <a:ext cx="1295810" cy="1970079"/>
            </a:xfrm>
            <a:custGeom>
              <a:avLst/>
              <a:gdLst/>
              <a:ahLst/>
              <a:cxnLst/>
              <a:rect r="r" b="b" t="t" l="l"/>
              <a:pathLst>
                <a:path h="1970079" w="1295810">
                  <a:moveTo>
                    <a:pt x="0" y="0"/>
                  </a:moveTo>
                  <a:lnTo>
                    <a:pt x="1295810" y="0"/>
                  </a:lnTo>
                  <a:lnTo>
                    <a:pt x="1295810" y="1970079"/>
                  </a:lnTo>
                  <a:lnTo>
                    <a:pt x="0" y="1970079"/>
                  </a:lnTo>
                  <a:close/>
                </a:path>
              </a:pathLst>
            </a:custGeom>
            <a:solidFill>
              <a:srgbClr val="FFFFFF"/>
            </a:solidFill>
          </p:spPr>
        </p:sp>
        <p:sp>
          <p:nvSpPr>
            <p:cNvPr name="TextBox 10" id="10"/>
            <p:cNvSpPr txBox="true"/>
            <p:nvPr/>
          </p:nvSpPr>
          <p:spPr>
            <a:xfrm>
              <a:off x="0" y="-47625"/>
              <a:ext cx="1295810" cy="2017704"/>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6901513" y="1172394"/>
            <a:ext cx="4920028" cy="845670"/>
          </a:xfrm>
          <a:prstGeom prst="rect">
            <a:avLst/>
          </a:prstGeom>
        </p:spPr>
        <p:txBody>
          <a:bodyPr anchor="t" rtlCol="false" tIns="0" lIns="0" bIns="0" rIns="0">
            <a:spAutoFit/>
          </a:bodyPr>
          <a:lstStyle/>
          <a:p>
            <a:pPr algn="ctr" marL="0" indent="0" lvl="0">
              <a:lnSpc>
                <a:spcPts val="7105"/>
              </a:lnSpc>
              <a:spcBef>
                <a:spcPct val="0"/>
              </a:spcBef>
            </a:pPr>
            <a:r>
              <a:rPr lang="en-US" b="true" sz="3719" spc="371" strike="noStrike" u="none">
                <a:solidFill>
                  <a:srgbClr val="194A8D"/>
                </a:solidFill>
                <a:latin typeface="Arimo Bold"/>
                <a:ea typeface="Arimo Bold"/>
                <a:cs typeface="Arimo Bold"/>
                <a:sym typeface="Arimo Bold"/>
              </a:rPr>
              <a:t>Lợi ích trung hạn </a:t>
            </a:r>
          </a:p>
        </p:txBody>
      </p:sp>
      <p:grpSp>
        <p:nvGrpSpPr>
          <p:cNvPr name="Group 12" id="12"/>
          <p:cNvGrpSpPr/>
          <p:nvPr/>
        </p:nvGrpSpPr>
        <p:grpSpPr>
          <a:xfrm rot="0">
            <a:off x="12207154" y="1142929"/>
            <a:ext cx="4920028" cy="7475943"/>
            <a:chOff x="0" y="0"/>
            <a:chExt cx="1295810" cy="1968973"/>
          </a:xfrm>
        </p:grpSpPr>
        <p:sp>
          <p:nvSpPr>
            <p:cNvPr name="Freeform 13" id="13"/>
            <p:cNvSpPr/>
            <p:nvPr/>
          </p:nvSpPr>
          <p:spPr>
            <a:xfrm flipH="false" flipV="false" rot="0">
              <a:off x="0" y="0"/>
              <a:ext cx="1295810" cy="1968973"/>
            </a:xfrm>
            <a:custGeom>
              <a:avLst/>
              <a:gdLst/>
              <a:ahLst/>
              <a:cxnLst/>
              <a:rect r="r" b="b" t="t" l="l"/>
              <a:pathLst>
                <a:path h="1968973" w="1295810">
                  <a:moveTo>
                    <a:pt x="0" y="0"/>
                  </a:moveTo>
                  <a:lnTo>
                    <a:pt x="1295810" y="0"/>
                  </a:lnTo>
                  <a:lnTo>
                    <a:pt x="1295810" y="1968973"/>
                  </a:lnTo>
                  <a:lnTo>
                    <a:pt x="0" y="1968973"/>
                  </a:lnTo>
                  <a:close/>
                </a:path>
              </a:pathLst>
            </a:custGeom>
            <a:solidFill>
              <a:srgbClr val="FFFFFF"/>
            </a:solidFill>
          </p:spPr>
        </p:sp>
        <p:sp>
          <p:nvSpPr>
            <p:cNvPr name="TextBox 14" id="14"/>
            <p:cNvSpPr txBox="true"/>
            <p:nvPr/>
          </p:nvSpPr>
          <p:spPr>
            <a:xfrm>
              <a:off x="0" y="-285750"/>
              <a:ext cx="1295810" cy="2254723"/>
            </a:xfrm>
            <a:prstGeom prst="rect">
              <a:avLst/>
            </a:prstGeom>
          </p:spPr>
          <p:txBody>
            <a:bodyPr anchor="ctr" rtlCol="false" tIns="50800" lIns="50800" bIns="50800" rIns="50800"/>
            <a:lstStyle/>
            <a:p>
              <a:pPr algn="ctr" marL="0" indent="0" lvl="0">
                <a:lnSpc>
                  <a:spcPts val="7487"/>
                </a:lnSpc>
                <a:spcBef>
                  <a:spcPct val="0"/>
                </a:spcBef>
              </a:pPr>
            </a:p>
          </p:txBody>
        </p:sp>
      </p:grpSp>
      <p:sp>
        <p:nvSpPr>
          <p:cNvPr name="TextBox 15" id="15"/>
          <p:cNvSpPr txBox="true"/>
          <p:nvPr/>
        </p:nvSpPr>
        <p:spPr>
          <a:xfrm rot="0">
            <a:off x="12202541" y="1139682"/>
            <a:ext cx="4920028" cy="845670"/>
          </a:xfrm>
          <a:prstGeom prst="rect">
            <a:avLst/>
          </a:prstGeom>
        </p:spPr>
        <p:txBody>
          <a:bodyPr anchor="t" rtlCol="false" tIns="0" lIns="0" bIns="0" rIns="0">
            <a:spAutoFit/>
          </a:bodyPr>
          <a:lstStyle/>
          <a:p>
            <a:pPr algn="ctr" marL="0" indent="0" lvl="0">
              <a:lnSpc>
                <a:spcPts val="7105"/>
              </a:lnSpc>
              <a:spcBef>
                <a:spcPct val="0"/>
              </a:spcBef>
            </a:pPr>
            <a:r>
              <a:rPr lang="en-US" b="true" sz="3719" spc="371" strike="noStrike" u="none">
                <a:solidFill>
                  <a:srgbClr val="194A8D"/>
                </a:solidFill>
                <a:latin typeface="Arimo Bold"/>
                <a:ea typeface="Arimo Bold"/>
                <a:cs typeface="Arimo Bold"/>
                <a:sym typeface="Arimo Bold"/>
              </a:rPr>
              <a:t>Giá trị dài hạn </a:t>
            </a:r>
          </a:p>
        </p:txBody>
      </p:sp>
      <p:sp>
        <p:nvSpPr>
          <p:cNvPr name="TextBox 16" id="16"/>
          <p:cNvSpPr txBox="true"/>
          <p:nvPr/>
        </p:nvSpPr>
        <p:spPr>
          <a:xfrm rot="0">
            <a:off x="2014055" y="2453618"/>
            <a:ext cx="4083661" cy="5575935"/>
          </a:xfrm>
          <a:prstGeom prst="rect">
            <a:avLst/>
          </a:prstGeom>
        </p:spPr>
        <p:txBody>
          <a:bodyPr anchor="t" rtlCol="false" tIns="0" lIns="0" bIns="0" rIns="0">
            <a:spAutoFit/>
          </a:bodyPr>
          <a:lstStyle/>
          <a:p>
            <a:pPr algn="l" marL="453388" indent="-226694" lvl="1">
              <a:lnSpc>
                <a:spcPts val="2939"/>
              </a:lnSpc>
              <a:buFont typeface="Arial"/>
              <a:buChar char="•"/>
            </a:pPr>
            <a:r>
              <a:rPr lang="en-US" sz="2099">
                <a:solidFill>
                  <a:srgbClr val="194A8D"/>
                </a:solidFill>
                <a:latin typeface="Arimo"/>
                <a:ea typeface="Arimo"/>
                <a:cs typeface="Arimo"/>
                <a:sym typeface="Arimo"/>
              </a:rPr>
              <a:t>·T</a:t>
            </a:r>
            <a:r>
              <a:rPr lang="en-US" sz="2099">
                <a:solidFill>
                  <a:srgbClr val="194A8D"/>
                </a:solidFill>
                <a:latin typeface="Arimo"/>
                <a:ea typeface="Arimo"/>
                <a:cs typeface="Arimo"/>
                <a:sym typeface="Arimo"/>
              </a:rPr>
              <a:t>riển khai thành công mô hình connection pooling tối ưu cho RDS Proxy.</a:t>
            </a:r>
          </a:p>
          <a:p>
            <a:pPr algn="l" marL="453388" indent="-226694" lvl="1">
              <a:lnSpc>
                <a:spcPts val="2939"/>
              </a:lnSpc>
              <a:buFont typeface="Arial"/>
              <a:buChar char="•"/>
            </a:pPr>
            <a:r>
              <a:rPr lang="en-US" sz="2099">
                <a:solidFill>
                  <a:srgbClr val="194A8D"/>
                </a:solidFill>
                <a:latin typeface="Arimo"/>
                <a:ea typeface="Arimo"/>
                <a:cs typeface="Arimo"/>
                <a:sym typeface="Arimo"/>
              </a:rPr>
              <a:t>·Giảm chi phí AWS database từ 500 USD xuống 300–350 USD/tháng.</a:t>
            </a:r>
          </a:p>
          <a:p>
            <a:pPr algn="l" marL="453388" indent="-226694" lvl="1">
              <a:lnSpc>
                <a:spcPts val="2939"/>
              </a:lnSpc>
              <a:buFont typeface="Arial"/>
              <a:buChar char="•"/>
            </a:pPr>
            <a:r>
              <a:rPr lang="en-US" sz="2099">
                <a:solidFill>
                  <a:srgbClr val="194A8D"/>
                </a:solidFill>
                <a:latin typeface="Arimo"/>
                <a:ea typeface="Arimo"/>
                <a:cs typeface="Arimo"/>
                <a:sym typeface="Arimo"/>
              </a:rPr>
              <a:t>·Thời gian failover giảm rõ rệt, tăng độ sẵn sàng dịch vụ.</a:t>
            </a:r>
          </a:p>
          <a:p>
            <a:pPr algn="l" marL="453388" indent="-226694" lvl="1">
              <a:lnSpc>
                <a:spcPts val="2939"/>
              </a:lnSpc>
              <a:buFont typeface="Arial"/>
              <a:buChar char="•"/>
            </a:pPr>
            <a:r>
              <a:rPr lang="en-US" sz="2099">
                <a:solidFill>
                  <a:srgbClr val="194A8D"/>
                </a:solidFill>
                <a:latin typeface="Arimo"/>
                <a:ea typeface="Arimo"/>
                <a:cs typeface="Arimo"/>
                <a:sym typeface="Arimo"/>
              </a:rPr>
              <a:t>·Đội ngũ DevOps được trang bị dashboard giám sát chuyên nghiệp.</a:t>
            </a:r>
          </a:p>
          <a:p>
            <a:pPr algn="l" marL="453388" indent="-226694" lvl="1">
              <a:lnSpc>
                <a:spcPts val="2939"/>
              </a:lnSpc>
              <a:buFont typeface="Arial"/>
              <a:buChar char="•"/>
            </a:pPr>
            <a:r>
              <a:rPr lang="en-US" sz="2099">
                <a:solidFill>
                  <a:srgbClr val="194A8D"/>
                </a:solidFill>
                <a:latin typeface="Arimo"/>
                <a:ea typeface="Arimo"/>
                <a:cs typeface="Arimo"/>
                <a:sym typeface="Arimo"/>
              </a:rPr>
              <a:t>·Tối ưu bảo mật kết nối thông qua AWS IAM và Secrets Manager.</a:t>
            </a:r>
          </a:p>
          <a:p>
            <a:pPr algn="l">
              <a:lnSpc>
                <a:spcPts val="2939"/>
              </a:lnSpc>
            </a:pPr>
          </a:p>
        </p:txBody>
      </p:sp>
      <p:sp>
        <p:nvSpPr>
          <p:cNvPr name="TextBox 17" id="17"/>
          <p:cNvSpPr txBox="true"/>
          <p:nvPr/>
        </p:nvSpPr>
        <p:spPr>
          <a:xfrm rot="0">
            <a:off x="7110605" y="2518456"/>
            <a:ext cx="4083661" cy="5502275"/>
          </a:xfrm>
          <a:prstGeom prst="rect">
            <a:avLst/>
          </a:prstGeom>
        </p:spPr>
        <p:txBody>
          <a:bodyPr anchor="t" rtlCol="false" tIns="0" lIns="0" bIns="0" rIns="0">
            <a:spAutoFit/>
          </a:bodyPr>
          <a:lstStyle/>
          <a:p>
            <a:pPr algn="l" marL="453388" indent="-226694" lvl="1">
              <a:lnSpc>
                <a:spcPts val="2939"/>
              </a:lnSpc>
              <a:buFont typeface="Arial"/>
              <a:buChar char="•"/>
            </a:pPr>
            <a:r>
              <a:rPr lang="en-US" sz="2099">
                <a:solidFill>
                  <a:srgbClr val="194A8D"/>
                </a:solidFill>
                <a:latin typeface="Arimo"/>
                <a:ea typeface="Arimo"/>
                <a:cs typeface="Arimo"/>
                <a:sym typeface="Arimo"/>
              </a:rPr>
              <a:t>·Ổn</a:t>
            </a:r>
            <a:r>
              <a:rPr lang="en-US" sz="2099">
                <a:solidFill>
                  <a:srgbClr val="194A8D"/>
                </a:solidFill>
                <a:latin typeface="Arimo"/>
                <a:ea typeface="Arimo"/>
                <a:cs typeface="Arimo"/>
                <a:sym typeface="Arimo"/>
              </a:rPr>
              <a:t> định hiệu suất hệ thống, phục vụ lượng truy cập tăng gấp đôi.</a:t>
            </a:r>
          </a:p>
          <a:p>
            <a:pPr algn="l" marL="453388" indent="-226694" lvl="1">
              <a:lnSpc>
                <a:spcPts val="2939"/>
              </a:lnSpc>
              <a:buFont typeface="Arial"/>
              <a:buChar char="•"/>
            </a:pPr>
            <a:r>
              <a:rPr lang="en-US" sz="2099">
                <a:solidFill>
                  <a:srgbClr val="194A8D"/>
                </a:solidFill>
                <a:latin typeface="Arimo"/>
                <a:ea typeface="Arimo"/>
                <a:cs typeface="Arimo"/>
                <a:sym typeface="Arimo"/>
              </a:rPr>
              <a:t>·Giảm thiểu downtime</a:t>
            </a:r>
          </a:p>
          <a:p>
            <a:pPr algn="l" marL="453388" indent="-226694" lvl="1">
              <a:lnSpc>
                <a:spcPts val="2939"/>
              </a:lnSpc>
              <a:buFont typeface="Arial"/>
              <a:buChar char="•"/>
            </a:pPr>
            <a:r>
              <a:rPr lang="en-US" sz="2099">
                <a:solidFill>
                  <a:srgbClr val="194A8D"/>
                </a:solidFill>
                <a:latin typeface="Arimo"/>
                <a:ea typeface="Arimo"/>
                <a:cs typeface="Arimo"/>
                <a:sym typeface="Arimo"/>
              </a:rPr>
              <a:t>·Tăng tốc độ ra mắt sản phẩm mới nhờ hạ tầng linh hoạt và có sẵn.</a:t>
            </a:r>
          </a:p>
          <a:p>
            <a:pPr algn="l" marL="453388" indent="-226694" lvl="1">
              <a:lnSpc>
                <a:spcPts val="2939"/>
              </a:lnSpc>
              <a:buFont typeface="Arial"/>
              <a:buChar char="•"/>
            </a:pPr>
            <a:r>
              <a:rPr lang="en-US" sz="2099">
                <a:solidFill>
                  <a:srgbClr val="194A8D"/>
                </a:solidFill>
                <a:latin typeface="Arimo"/>
                <a:ea typeface="Arimo"/>
                <a:cs typeface="Arimo"/>
                <a:sym typeface="Arimo"/>
              </a:rPr>
              <a:t>·Tiết kiệm nguồn lực vận hành nhờ tự động hóa giám sát &amp; bảo trì.</a:t>
            </a:r>
          </a:p>
          <a:p>
            <a:pPr algn="l" marL="453388" indent="-226694" lvl="1">
              <a:lnSpc>
                <a:spcPts val="2939"/>
              </a:lnSpc>
              <a:buFont typeface="Arial"/>
              <a:buChar char="•"/>
            </a:pPr>
            <a:r>
              <a:rPr lang="en-US" sz="2099">
                <a:solidFill>
                  <a:srgbClr val="194A8D"/>
                </a:solidFill>
                <a:latin typeface="Arimo"/>
                <a:ea typeface="Arimo"/>
                <a:cs typeface="Arimo"/>
                <a:sym typeface="Arimo"/>
              </a:rPr>
              <a:t>·Dễ dàng tích hợp thêm dịch vụ mới qua kiến trúc microservice.</a:t>
            </a:r>
          </a:p>
          <a:p>
            <a:pPr algn="ctr">
              <a:lnSpc>
                <a:spcPts val="2659"/>
              </a:lnSpc>
              <a:spcBef>
                <a:spcPct val="0"/>
              </a:spcBef>
            </a:pPr>
          </a:p>
          <a:p>
            <a:pPr algn="ctr">
              <a:lnSpc>
                <a:spcPts val="2659"/>
              </a:lnSpc>
              <a:spcBef>
                <a:spcPct val="0"/>
              </a:spcBef>
            </a:pPr>
          </a:p>
        </p:txBody>
      </p:sp>
      <p:sp>
        <p:nvSpPr>
          <p:cNvPr name="TextBox 18" id="18"/>
          <p:cNvSpPr txBox="true"/>
          <p:nvPr/>
        </p:nvSpPr>
        <p:spPr>
          <a:xfrm rot="0">
            <a:off x="12453797" y="2446228"/>
            <a:ext cx="4083661" cy="4461510"/>
          </a:xfrm>
          <a:prstGeom prst="rect">
            <a:avLst/>
          </a:prstGeom>
        </p:spPr>
        <p:txBody>
          <a:bodyPr anchor="t" rtlCol="false" tIns="0" lIns="0" bIns="0" rIns="0">
            <a:spAutoFit/>
          </a:bodyPr>
          <a:lstStyle/>
          <a:p>
            <a:pPr algn="l" marL="453388" indent="-226694" lvl="1">
              <a:lnSpc>
                <a:spcPts val="2939"/>
              </a:lnSpc>
              <a:buFont typeface="Arial"/>
              <a:buChar char="•"/>
            </a:pPr>
            <a:r>
              <a:rPr lang="en-US" sz="2099">
                <a:solidFill>
                  <a:srgbClr val="194A8D"/>
                </a:solidFill>
                <a:latin typeface="Arimo"/>
                <a:ea typeface="Arimo"/>
                <a:cs typeface="Arimo"/>
                <a:sym typeface="Arimo"/>
              </a:rPr>
              <a:t>·Giả</a:t>
            </a:r>
            <a:r>
              <a:rPr lang="en-US" sz="2099">
                <a:solidFill>
                  <a:srgbClr val="194A8D"/>
                </a:solidFill>
                <a:latin typeface="Arimo"/>
                <a:ea typeface="Arimo"/>
                <a:cs typeface="Arimo"/>
                <a:sym typeface="Arimo"/>
              </a:rPr>
              <a:t>m tổng chi phí sở hữu (TCO) hệ thống hạ tầng backend.</a:t>
            </a:r>
          </a:p>
          <a:p>
            <a:pPr algn="l" marL="453388" indent="-226694" lvl="1">
              <a:lnSpc>
                <a:spcPts val="2939"/>
              </a:lnSpc>
              <a:buFont typeface="Arial"/>
              <a:buChar char="•"/>
            </a:pPr>
            <a:r>
              <a:rPr lang="en-US" sz="2099">
                <a:solidFill>
                  <a:srgbClr val="194A8D"/>
                </a:solidFill>
                <a:latin typeface="Arimo"/>
                <a:ea typeface="Arimo"/>
                <a:cs typeface="Arimo"/>
                <a:sym typeface="Arimo"/>
              </a:rPr>
              <a:t>·Đặt nền móng cho mở rộng đa vùng (multi-region) hoặc phân cụm tenant.</a:t>
            </a:r>
          </a:p>
          <a:p>
            <a:pPr algn="l" marL="453388" indent="-226694" lvl="1">
              <a:lnSpc>
                <a:spcPts val="2939"/>
              </a:lnSpc>
              <a:buFont typeface="Arial"/>
              <a:buChar char="•"/>
            </a:pPr>
            <a:r>
              <a:rPr lang="en-US" sz="2099">
                <a:solidFill>
                  <a:srgbClr val="194A8D"/>
                </a:solidFill>
                <a:latin typeface="Arimo"/>
                <a:ea typeface="Arimo"/>
                <a:cs typeface="Arimo"/>
                <a:sym typeface="Arimo"/>
              </a:rPr>
              <a:t>·Gia tăng năng lực công nghệ chiến lược, hướng tới CI/CD toàn diện.</a:t>
            </a:r>
          </a:p>
          <a:p>
            <a:pPr algn="l" marL="453388" indent="-226694" lvl="1">
              <a:lnSpc>
                <a:spcPts val="2939"/>
              </a:lnSpc>
              <a:buFont typeface="Arial"/>
              <a:buChar char="•"/>
            </a:pPr>
            <a:r>
              <a:rPr lang="en-US" sz="2099">
                <a:solidFill>
                  <a:srgbClr val="194A8D"/>
                </a:solidFill>
                <a:latin typeface="Arimo"/>
                <a:ea typeface="Arimo"/>
                <a:cs typeface="Arimo"/>
                <a:sym typeface="Arimo"/>
              </a:rPr>
              <a:t>Tăng năng lực phục hồi và mở rộng thị trường toàn quốc / khu vực.</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true" rot="-5400000">
            <a:off x="15177010" y="-1253949"/>
            <a:ext cx="2720897" cy="5228794"/>
          </a:xfrm>
          <a:custGeom>
            <a:avLst/>
            <a:gdLst/>
            <a:ahLst/>
            <a:cxnLst/>
            <a:rect r="r" b="b" t="t" l="l"/>
            <a:pathLst>
              <a:path h="5228794" w="2720897">
                <a:moveTo>
                  <a:pt x="0" y="5228795"/>
                </a:moveTo>
                <a:lnTo>
                  <a:pt x="2720897" y="5228795"/>
                </a:lnTo>
                <a:lnTo>
                  <a:pt x="2720897" y="0"/>
                </a:lnTo>
                <a:lnTo>
                  <a:pt x="0" y="0"/>
                </a:lnTo>
                <a:lnTo>
                  <a:pt x="0" y="5228795"/>
                </a:lnTo>
                <a:close/>
              </a:path>
            </a:pathLst>
          </a:custGeom>
          <a:blipFill>
            <a:blip r:embed="rId2"/>
            <a:stretch>
              <a:fillRect l="0" t="0" r="0" b="0"/>
            </a:stretch>
          </a:blipFill>
        </p:spPr>
      </p:sp>
      <p:sp>
        <p:nvSpPr>
          <p:cNvPr name="Freeform 3" id="3"/>
          <p:cNvSpPr/>
          <p:nvPr/>
        </p:nvSpPr>
        <p:spPr>
          <a:xfrm flipH="false" flipV="false" rot="-5400000">
            <a:off x="390093" y="-1471468"/>
            <a:ext cx="2720897" cy="5228794"/>
          </a:xfrm>
          <a:custGeom>
            <a:avLst/>
            <a:gdLst/>
            <a:ahLst/>
            <a:cxnLst/>
            <a:rect r="r" b="b" t="t" l="l"/>
            <a:pathLst>
              <a:path h="5228794" w="2720897">
                <a:moveTo>
                  <a:pt x="0" y="0"/>
                </a:moveTo>
                <a:lnTo>
                  <a:pt x="2720897" y="0"/>
                </a:lnTo>
                <a:lnTo>
                  <a:pt x="2720897" y="5228794"/>
                </a:lnTo>
                <a:lnTo>
                  <a:pt x="0" y="5228794"/>
                </a:lnTo>
                <a:lnTo>
                  <a:pt x="0" y="0"/>
                </a:lnTo>
                <a:close/>
              </a:path>
            </a:pathLst>
          </a:custGeom>
          <a:blipFill>
            <a:blip r:embed="rId2"/>
            <a:stretch>
              <a:fillRect l="0" t="0" r="0" b="0"/>
            </a:stretch>
          </a:blipFill>
        </p:spPr>
      </p:sp>
      <p:grpSp>
        <p:nvGrpSpPr>
          <p:cNvPr name="Group 4" id="4"/>
          <p:cNvGrpSpPr/>
          <p:nvPr/>
        </p:nvGrpSpPr>
        <p:grpSpPr>
          <a:xfrm rot="0">
            <a:off x="2198069" y="2135005"/>
            <a:ext cx="6945931" cy="5976111"/>
            <a:chOff x="0" y="0"/>
            <a:chExt cx="1829381" cy="1573955"/>
          </a:xfrm>
        </p:grpSpPr>
        <p:sp>
          <p:nvSpPr>
            <p:cNvPr name="Freeform 5" id="5"/>
            <p:cNvSpPr/>
            <p:nvPr/>
          </p:nvSpPr>
          <p:spPr>
            <a:xfrm flipH="false" flipV="false" rot="0">
              <a:off x="0" y="0"/>
              <a:ext cx="1829381" cy="1573955"/>
            </a:xfrm>
            <a:custGeom>
              <a:avLst/>
              <a:gdLst/>
              <a:ahLst/>
              <a:cxnLst/>
              <a:rect r="r" b="b" t="t" l="l"/>
              <a:pathLst>
                <a:path h="1573955" w="1829381">
                  <a:moveTo>
                    <a:pt x="0" y="0"/>
                  </a:moveTo>
                  <a:lnTo>
                    <a:pt x="1829381" y="0"/>
                  </a:lnTo>
                  <a:lnTo>
                    <a:pt x="1829381" y="1573955"/>
                  </a:lnTo>
                  <a:lnTo>
                    <a:pt x="0" y="1573955"/>
                  </a:lnTo>
                  <a:close/>
                </a:path>
              </a:pathLst>
            </a:custGeom>
            <a:solidFill>
              <a:srgbClr val="FFFFFF"/>
            </a:solidFill>
          </p:spPr>
        </p:sp>
        <p:sp>
          <p:nvSpPr>
            <p:cNvPr name="TextBox 6" id="6"/>
            <p:cNvSpPr txBox="true"/>
            <p:nvPr/>
          </p:nvSpPr>
          <p:spPr>
            <a:xfrm>
              <a:off x="0" y="-47625"/>
              <a:ext cx="1829381" cy="1621580"/>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2198069" y="2178191"/>
            <a:ext cx="6945931" cy="1753037"/>
          </a:xfrm>
          <a:prstGeom prst="rect">
            <a:avLst/>
          </a:prstGeom>
        </p:spPr>
        <p:txBody>
          <a:bodyPr anchor="t" rtlCol="false" tIns="0" lIns="0" bIns="0" rIns="0">
            <a:spAutoFit/>
          </a:bodyPr>
          <a:lstStyle/>
          <a:p>
            <a:pPr algn="ctr" marL="0" indent="0" lvl="0">
              <a:lnSpc>
                <a:spcPts val="7105"/>
              </a:lnSpc>
              <a:spcBef>
                <a:spcPct val="0"/>
              </a:spcBef>
            </a:pPr>
            <a:r>
              <a:rPr lang="en-US" b="true" sz="3719" spc="371" strike="noStrike" u="none">
                <a:solidFill>
                  <a:srgbClr val="194A8D"/>
                </a:solidFill>
                <a:latin typeface="Arimo Bold"/>
                <a:ea typeface="Arimo Bold"/>
                <a:cs typeface="Arimo Bold"/>
                <a:sym typeface="Arimo Bold"/>
              </a:rPr>
              <a:t>Cải thiện trải nghiệm người dùng </a:t>
            </a:r>
          </a:p>
        </p:txBody>
      </p:sp>
      <p:grpSp>
        <p:nvGrpSpPr>
          <p:cNvPr name="Group 8" id="8"/>
          <p:cNvGrpSpPr/>
          <p:nvPr/>
        </p:nvGrpSpPr>
        <p:grpSpPr>
          <a:xfrm rot="0">
            <a:off x="9904393" y="2135005"/>
            <a:ext cx="6633066" cy="6016991"/>
            <a:chOff x="0" y="0"/>
            <a:chExt cx="1746980" cy="1584722"/>
          </a:xfrm>
        </p:grpSpPr>
        <p:sp>
          <p:nvSpPr>
            <p:cNvPr name="Freeform 9" id="9"/>
            <p:cNvSpPr/>
            <p:nvPr/>
          </p:nvSpPr>
          <p:spPr>
            <a:xfrm flipH="false" flipV="false" rot="0">
              <a:off x="0" y="0"/>
              <a:ext cx="1746980" cy="1584722"/>
            </a:xfrm>
            <a:custGeom>
              <a:avLst/>
              <a:gdLst/>
              <a:ahLst/>
              <a:cxnLst/>
              <a:rect r="r" b="b" t="t" l="l"/>
              <a:pathLst>
                <a:path h="1584722" w="1746980">
                  <a:moveTo>
                    <a:pt x="0" y="0"/>
                  </a:moveTo>
                  <a:lnTo>
                    <a:pt x="1746980" y="0"/>
                  </a:lnTo>
                  <a:lnTo>
                    <a:pt x="1746980" y="1584722"/>
                  </a:lnTo>
                  <a:lnTo>
                    <a:pt x="0" y="1584722"/>
                  </a:lnTo>
                  <a:close/>
                </a:path>
              </a:pathLst>
            </a:custGeom>
            <a:solidFill>
              <a:srgbClr val="FFFFFF"/>
            </a:solidFill>
          </p:spPr>
        </p:sp>
        <p:sp>
          <p:nvSpPr>
            <p:cNvPr name="TextBox 10" id="10"/>
            <p:cNvSpPr txBox="true"/>
            <p:nvPr/>
          </p:nvSpPr>
          <p:spPr>
            <a:xfrm>
              <a:off x="0" y="-47625"/>
              <a:ext cx="1746980" cy="1632347"/>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9904393" y="2258541"/>
            <a:ext cx="6495731" cy="1753037"/>
          </a:xfrm>
          <a:prstGeom prst="rect">
            <a:avLst/>
          </a:prstGeom>
        </p:spPr>
        <p:txBody>
          <a:bodyPr anchor="t" rtlCol="false" tIns="0" lIns="0" bIns="0" rIns="0">
            <a:spAutoFit/>
          </a:bodyPr>
          <a:lstStyle/>
          <a:p>
            <a:pPr algn="ctr" marL="0" indent="0" lvl="0">
              <a:lnSpc>
                <a:spcPts val="7105"/>
              </a:lnSpc>
              <a:spcBef>
                <a:spcPct val="0"/>
              </a:spcBef>
            </a:pPr>
            <a:r>
              <a:rPr lang="en-US" b="true" sz="3719" spc="371" strike="noStrike" u="none">
                <a:solidFill>
                  <a:srgbClr val="194A8D"/>
                </a:solidFill>
                <a:latin typeface="Arimo Bold"/>
                <a:ea typeface="Arimo Bold"/>
                <a:cs typeface="Arimo Bold"/>
                <a:sym typeface="Arimo Bold"/>
              </a:rPr>
              <a:t>Năng lực chiến lược đạt được </a:t>
            </a:r>
          </a:p>
        </p:txBody>
      </p:sp>
      <p:sp>
        <p:nvSpPr>
          <p:cNvPr name="TextBox 12" id="12"/>
          <p:cNvSpPr txBox="true"/>
          <p:nvPr/>
        </p:nvSpPr>
        <p:spPr>
          <a:xfrm rot="0">
            <a:off x="2639557" y="4328873"/>
            <a:ext cx="5951994" cy="2408555"/>
          </a:xfrm>
          <a:prstGeom prst="rect">
            <a:avLst/>
          </a:prstGeom>
        </p:spPr>
        <p:txBody>
          <a:bodyPr anchor="t" rtlCol="false" tIns="0" lIns="0" bIns="0" rIns="0">
            <a:spAutoFit/>
          </a:bodyPr>
          <a:lstStyle/>
          <a:p>
            <a:pPr algn="l" marL="496567" indent="-248284" lvl="1">
              <a:lnSpc>
                <a:spcPts val="3219"/>
              </a:lnSpc>
              <a:buFont typeface="Arial"/>
              <a:buChar char="•"/>
            </a:pPr>
            <a:r>
              <a:rPr lang="en-US" sz="2299">
                <a:solidFill>
                  <a:srgbClr val="194A8D"/>
                </a:solidFill>
                <a:latin typeface="Arimo"/>
                <a:ea typeface="Arimo"/>
                <a:cs typeface="Arimo"/>
                <a:sym typeface="Arimo"/>
              </a:rPr>
              <a:t>·T</a:t>
            </a:r>
            <a:r>
              <a:rPr lang="en-US" sz="2299">
                <a:solidFill>
                  <a:srgbClr val="194A8D"/>
                </a:solidFill>
                <a:latin typeface="Arimo"/>
                <a:ea typeface="Arimo"/>
                <a:cs typeface="Arimo"/>
                <a:sym typeface="Arimo"/>
              </a:rPr>
              <a:t>ruy cập mượt mà hơn vào ứng dụng (ít lỗi kết nối, phản hồi nhanh).</a:t>
            </a:r>
          </a:p>
          <a:p>
            <a:pPr algn="l" marL="496567" indent="-248284" lvl="1">
              <a:lnSpc>
                <a:spcPts val="3219"/>
              </a:lnSpc>
              <a:buFont typeface="Arial"/>
              <a:buChar char="•"/>
            </a:pPr>
            <a:r>
              <a:rPr lang="en-US" sz="2299">
                <a:solidFill>
                  <a:srgbClr val="194A8D"/>
                </a:solidFill>
                <a:latin typeface="Arimo"/>
                <a:ea typeface="Arimo"/>
                <a:cs typeface="Arimo"/>
                <a:sym typeface="Arimo"/>
              </a:rPr>
              <a:t>·Giảm thời gian load trang, giảm tỷ lệ bounce rate từ người dùng.</a:t>
            </a:r>
          </a:p>
          <a:p>
            <a:pPr algn="l" marL="496567" indent="-248284" lvl="1">
              <a:lnSpc>
                <a:spcPts val="3219"/>
              </a:lnSpc>
              <a:buFont typeface="Arial"/>
              <a:buChar char="•"/>
            </a:pPr>
            <a:r>
              <a:rPr lang="en-US" sz="2299">
                <a:solidFill>
                  <a:srgbClr val="194A8D"/>
                </a:solidFill>
                <a:latin typeface="Arimo"/>
                <a:ea typeface="Arimo"/>
                <a:cs typeface="Arimo"/>
                <a:sym typeface="Arimo"/>
              </a:rPr>
              <a:t>·Tăng độ tin cậy hệ thống → tăng chuyển đổi đơn hàng hoặc hành vi tương tác.</a:t>
            </a:r>
          </a:p>
        </p:txBody>
      </p:sp>
      <p:sp>
        <p:nvSpPr>
          <p:cNvPr name="TextBox 13" id="13"/>
          <p:cNvSpPr txBox="true"/>
          <p:nvPr/>
        </p:nvSpPr>
        <p:spPr>
          <a:xfrm rot="0">
            <a:off x="10174513" y="4369752"/>
            <a:ext cx="5929484" cy="2808605"/>
          </a:xfrm>
          <a:prstGeom prst="rect">
            <a:avLst/>
          </a:prstGeom>
        </p:spPr>
        <p:txBody>
          <a:bodyPr anchor="t" rtlCol="false" tIns="0" lIns="0" bIns="0" rIns="0">
            <a:spAutoFit/>
          </a:bodyPr>
          <a:lstStyle/>
          <a:p>
            <a:pPr algn="l" marL="496567" indent="-248284" lvl="1">
              <a:lnSpc>
                <a:spcPts val="3219"/>
              </a:lnSpc>
              <a:buFont typeface="Arial"/>
              <a:buChar char="•"/>
            </a:pPr>
            <a:r>
              <a:rPr lang="en-US" sz="2299">
                <a:solidFill>
                  <a:srgbClr val="194A8D"/>
                </a:solidFill>
                <a:latin typeface="Arimo"/>
                <a:ea typeface="Arimo"/>
                <a:cs typeface="Arimo"/>
                <a:sym typeface="Arimo"/>
              </a:rPr>
              <a:t>·Tăng</a:t>
            </a:r>
            <a:r>
              <a:rPr lang="en-US" sz="2299">
                <a:solidFill>
                  <a:srgbClr val="194A8D"/>
                </a:solidFill>
                <a:latin typeface="Arimo"/>
                <a:ea typeface="Arimo"/>
                <a:cs typeface="Arimo"/>
                <a:sym typeface="Arimo"/>
              </a:rPr>
              <a:t> cường hiểu biết và vận hành hiệu quả RDS Proxy + ECS + IAM + Monitoring.</a:t>
            </a:r>
          </a:p>
          <a:p>
            <a:pPr algn="l" marL="496567" indent="-248284" lvl="1">
              <a:lnSpc>
                <a:spcPts val="3219"/>
              </a:lnSpc>
              <a:buFont typeface="Arial"/>
              <a:buChar char="•"/>
            </a:pPr>
            <a:r>
              <a:rPr lang="en-US" sz="2299">
                <a:solidFill>
                  <a:srgbClr val="194A8D"/>
                </a:solidFill>
                <a:latin typeface="Arimo"/>
                <a:ea typeface="Arimo"/>
                <a:cs typeface="Arimo"/>
                <a:sym typeface="Arimo"/>
              </a:rPr>
              <a:t>·Sẵn sàng mở rộng mô hình cho hệ thống khác trong tổ chức.</a:t>
            </a:r>
          </a:p>
          <a:p>
            <a:pPr algn="l" marL="496567" indent="-248284" lvl="1">
              <a:lnSpc>
                <a:spcPts val="3219"/>
              </a:lnSpc>
              <a:buFont typeface="Arial"/>
              <a:buChar char="•"/>
            </a:pPr>
            <a:r>
              <a:rPr lang="en-US" sz="2299">
                <a:solidFill>
                  <a:srgbClr val="194A8D"/>
                </a:solidFill>
                <a:latin typeface="Arimo"/>
                <a:ea typeface="Arimo"/>
                <a:cs typeface="Arimo"/>
                <a:sym typeface="Arimo"/>
              </a:rPr>
              <a:t>·Góp phần nâng cao năng lực vận hành bảo mật và tự động hóa hiện đại.</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4874B0">
                <a:alpha val="100000"/>
              </a:srgbClr>
            </a:gs>
            <a:gs pos="100000">
              <a:srgbClr val="05337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6635353" y="6637609"/>
            <a:ext cx="8572348" cy="4043501"/>
          </a:xfrm>
          <a:custGeom>
            <a:avLst/>
            <a:gdLst/>
            <a:ahLst/>
            <a:cxnLst/>
            <a:rect r="r" b="b" t="t" l="l"/>
            <a:pathLst>
              <a:path h="4043501" w="8572348">
                <a:moveTo>
                  <a:pt x="0" y="0"/>
                </a:moveTo>
                <a:lnTo>
                  <a:pt x="8572348" y="0"/>
                </a:lnTo>
                <a:lnTo>
                  <a:pt x="8572348" y="4043501"/>
                </a:lnTo>
                <a:lnTo>
                  <a:pt x="0" y="40435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081354" y="1028700"/>
            <a:ext cx="4282420" cy="8229600"/>
          </a:xfrm>
          <a:custGeom>
            <a:avLst/>
            <a:gdLst/>
            <a:ahLst/>
            <a:cxnLst/>
            <a:rect r="r" b="b" t="t" l="l"/>
            <a:pathLst>
              <a:path h="8229600" w="4282420">
                <a:moveTo>
                  <a:pt x="0" y="0"/>
                </a:moveTo>
                <a:lnTo>
                  <a:pt x="4282420" y="0"/>
                </a:lnTo>
                <a:lnTo>
                  <a:pt x="4282420" y="8229600"/>
                </a:lnTo>
                <a:lnTo>
                  <a:pt x="0" y="8229600"/>
                </a:lnTo>
                <a:lnTo>
                  <a:pt x="0" y="0"/>
                </a:lnTo>
                <a:close/>
              </a:path>
            </a:pathLst>
          </a:custGeom>
          <a:blipFill>
            <a:blip r:embed="rId4"/>
            <a:stretch>
              <a:fillRect l="0" t="0" r="0" b="0"/>
            </a:stretch>
          </a:blipFill>
        </p:spPr>
      </p:sp>
      <p:sp>
        <p:nvSpPr>
          <p:cNvPr name="Freeform 4" id="4"/>
          <p:cNvSpPr/>
          <p:nvPr/>
        </p:nvSpPr>
        <p:spPr>
          <a:xfrm flipH="true" flipV="false" rot="0">
            <a:off x="0" y="1028700"/>
            <a:ext cx="4282420" cy="8229600"/>
          </a:xfrm>
          <a:custGeom>
            <a:avLst/>
            <a:gdLst/>
            <a:ahLst/>
            <a:cxnLst/>
            <a:rect r="r" b="b" t="t" l="l"/>
            <a:pathLst>
              <a:path h="8229600" w="4282420">
                <a:moveTo>
                  <a:pt x="4282420" y="0"/>
                </a:moveTo>
                <a:lnTo>
                  <a:pt x="0" y="0"/>
                </a:lnTo>
                <a:lnTo>
                  <a:pt x="0" y="8229600"/>
                </a:lnTo>
                <a:lnTo>
                  <a:pt x="4282420" y="8229600"/>
                </a:lnTo>
                <a:lnTo>
                  <a:pt x="4282420" y="0"/>
                </a:lnTo>
                <a:close/>
              </a:path>
            </a:pathLst>
          </a:custGeom>
          <a:blipFill>
            <a:blip r:embed="rId4"/>
            <a:stretch>
              <a:fillRect l="0" t="0" r="0" b="0"/>
            </a:stretch>
          </a:blipFill>
        </p:spPr>
      </p:sp>
      <p:sp>
        <p:nvSpPr>
          <p:cNvPr name="TextBox 5" id="5"/>
          <p:cNvSpPr txBox="true"/>
          <p:nvPr/>
        </p:nvSpPr>
        <p:spPr>
          <a:xfrm rot="0">
            <a:off x="4628749" y="3858064"/>
            <a:ext cx="9030502" cy="3396836"/>
          </a:xfrm>
          <a:prstGeom prst="rect">
            <a:avLst/>
          </a:prstGeom>
        </p:spPr>
        <p:txBody>
          <a:bodyPr anchor="t" rtlCol="false" tIns="0" lIns="0" bIns="0" rIns="0">
            <a:spAutoFit/>
          </a:bodyPr>
          <a:lstStyle/>
          <a:p>
            <a:pPr algn="ctr">
              <a:lnSpc>
                <a:spcPts val="13184"/>
              </a:lnSpc>
            </a:pPr>
            <a:r>
              <a:rPr lang="en-US" sz="12438" spc="1243">
                <a:solidFill>
                  <a:srgbClr val="FFFFFF"/>
                </a:solidFill>
                <a:latin typeface="League Spartan"/>
                <a:ea typeface="League Spartan"/>
                <a:cs typeface="League Spartan"/>
                <a:sym typeface="League Spartan"/>
              </a:rPr>
              <a:t>THANK YOU</a:t>
            </a:r>
          </a:p>
        </p:txBody>
      </p:sp>
      <p:sp>
        <p:nvSpPr>
          <p:cNvPr name="Freeform 6" id="6"/>
          <p:cNvSpPr/>
          <p:nvPr/>
        </p:nvSpPr>
        <p:spPr>
          <a:xfrm flipH="false" flipV="false" rot="0">
            <a:off x="0" y="6637609"/>
            <a:ext cx="8572348" cy="4043501"/>
          </a:xfrm>
          <a:custGeom>
            <a:avLst/>
            <a:gdLst/>
            <a:ahLst/>
            <a:cxnLst/>
            <a:rect r="r" b="b" t="t" l="l"/>
            <a:pathLst>
              <a:path h="4043501" w="8572348">
                <a:moveTo>
                  <a:pt x="0" y="0"/>
                </a:moveTo>
                <a:lnTo>
                  <a:pt x="8572348" y="0"/>
                </a:lnTo>
                <a:lnTo>
                  <a:pt x="8572348" y="4043501"/>
                </a:lnTo>
                <a:lnTo>
                  <a:pt x="0" y="40435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3270706" y="6637609"/>
            <a:ext cx="8572348" cy="4043501"/>
          </a:xfrm>
          <a:custGeom>
            <a:avLst/>
            <a:gdLst/>
            <a:ahLst/>
            <a:cxnLst/>
            <a:rect r="r" b="b" t="t" l="l"/>
            <a:pathLst>
              <a:path h="4043501" w="8572348">
                <a:moveTo>
                  <a:pt x="0" y="0"/>
                </a:moveTo>
                <a:lnTo>
                  <a:pt x="8572348" y="0"/>
                </a:lnTo>
                <a:lnTo>
                  <a:pt x="8572348" y="4043501"/>
                </a:lnTo>
                <a:lnTo>
                  <a:pt x="0" y="40435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8278001" y="1028700"/>
            <a:ext cx="1731997" cy="1499565"/>
          </a:xfrm>
          <a:custGeom>
            <a:avLst/>
            <a:gdLst/>
            <a:ahLst/>
            <a:cxnLst/>
            <a:rect r="r" b="b" t="t" l="l"/>
            <a:pathLst>
              <a:path h="1499565" w="1731997">
                <a:moveTo>
                  <a:pt x="0" y="0"/>
                </a:moveTo>
                <a:lnTo>
                  <a:pt x="1731998" y="0"/>
                </a:lnTo>
                <a:lnTo>
                  <a:pt x="1731998" y="1499565"/>
                </a:lnTo>
                <a:lnTo>
                  <a:pt x="0" y="14995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DAGsqKL6qZo</dc:identifier>
  <dcterms:modified xsi:type="dcterms:W3CDTF">2011-08-01T06:04:30Z</dcterms:modified>
  <cp:revision>1</cp:revision>
  <dc:title>Blue and White Simple Business Plan Presentation</dc:title>
</cp:coreProperties>
</file>
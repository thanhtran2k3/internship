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18288000" cy="10287000"/>
  <p:notesSz cx="6858000" cy="9144000"/>
  <p:embeddedFontLst>
    <p:embeddedFont>
      <p:font typeface="Arimo" panose="020B0604020202020204" charset="0"/>
      <p:regular r:id="rId39"/>
    </p:embeddedFont>
    <p:embeddedFont>
      <p:font typeface="Arimo Bold" panose="020B0604020202020204" charset="0"/>
      <p:regular r:id="rId40"/>
    </p:embeddedFont>
    <p:embeddedFont>
      <p:font typeface="League Spartan" panose="020B0604020202020204" charset="0"/>
      <p:regular r:id="rId4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2" d="100"/>
          <a:sy n="52" d="100"/>
        </p:scale>
        <p:origin x="850" y="101"/>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8/8/2025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8/8/2025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8/8/2025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8/8/2025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8/8/2025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8/8/2025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jpeg"/><Relationship Id="rId1" Type="http://schemas.openxmlformats.org/officeDocument/2006/relationships/slideLayout" Target="../slideLayouts/slideLayout7.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oleObject" Target="../embeddings/oleObject1.bin"/><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oleObject" Target="../embeddings/oleObject2.bin"/><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oleObject" Target="../embeddings/oleObject3.bin"/><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19.jpe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oleObject" Target="../embeddings/oleObject5.bin"/><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oleObject" Target="../embeddings/oleObject6.bin"/><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oleObject" Target="../embeddings/oleObject7.bin"/></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oleObject" Target="../embeddings/oleObject8.bin"/><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oleObject" Target="../embeddings/oleObject9.bin"/><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oleObject" Target="../embeddings/oleObject10.bin"/><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oleObject" Target="../embeddings/oleObject11.bin"/><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oleObject" Target="../embeddings/oleObject12.bin"/><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oleObject" Target="../embeddings/oleObject13.bin"/><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oleObject" Target="../embeddings/oleObject14.bin"/><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oleObject" Target="../embeddings/oleObject15.bin"/><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oleObject" Target="../embeddings/oleObject16.bin"/><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oleObject" Target="../embeddings/oleObject17.bin"/><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oleObject" Target="../embeddings/oleObject18.bin"/><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oleObject" Target="../embeddings/oleObject19.bin"/><Relationship Id="rId1" Type="http://schemas.openxmlformats.org/officeDocument/2006/relationships/slideLayout" Target="../slideLayouts/slideLayout7.xml"/><Relationship Id="rId5" Type="http://schemas.openxmlformats.org/officeDocument/2006/relationships/image" Target="../media/image37.png"/><Relationship Id="rId4" Type="http://schemas.openxmlformats.org/officeDocument/2006/relationships/oleObject" Target="../embeddings/oleObject20.bin"/></Relationships>
</file>

<file path=ppt/slides/_rels/slide3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Freeform 2"/>
          <p:cNvSpPr/>
          <p:nvPr/>
        </p:nvSpPr>
        <p:spPr>
          <a:xfrm>
            <a:off x="6635353" y="6637609"/>
            <a:ext cx="8572348" cy="4043501"/>
          </a:xfrm>
          <a:custGeom>
            <a:avLst/>
            <a:gdLst/>
            <a:ahLst/>
            <a:cxnLst/>
            <a:rect l="l" t="t" r="r" b="b"/>
            <a:pathLst>
              <a:path w="8572348" h="4043501">
                <a:moveTo>
                  <a:pt x="0" y="0"/>
                </a:moveTo>
                <a:lnTo>
                  <a:pt x="8572348" y="0"/>
                </a:lnTo>
                <a:lnTo>
                  <a:pt x="8572348" y="4043501"/>
                </a:lnTo>
                <a:lnTo>
                  <a:pt x="0" y="404350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4081354" y="1028700"/>
            <a:ext cx="4282420" cy="8229600"/>
          </a:xfrm>
          <a:custGeom>
            <a:avLst/>
            <a:gdLst/>
            <a:ahLst/>
            <a:cxnLst/>
            <a:rect l="l" t="t" r="r" b="b"/>
            <a:pathLst>
              <a:path w="4282420" h="8229600">
                <a:moveTo>
                  <a:pt x="0" y="0"/>
                </a:moveTo>
                <a:lnTo>
                  <a:pt x="4282420" y="0"/>
                </a:lnTo>
                <a:lnTo>
                  <a:pt x="4282420" y="8229600"/>
                </a:lnTo>
                <a:lnTo>
                  <a:pt x="0" y="8229600"/>
                </a:lnTo>
                <a:lnTo>
                  <a:pt x="0" y="0"/>
                </a:lnTo>
                <a:close/>
              </a:path>
            </a:pathLst>
          </a:custGeom>
          <a:blipFill>
            <a:blip r:embed="rId4"/>
            <a:stretch>
              <a:fillRect/>
            </a:stretch>
          </a:blipFill>
        </p:spPr>
      </p:sp>
      <p:sp>
        <p:nvSpPr>
          <p:cNvPr id="4" name="Freeform 4"/>
          <p:cNvSpPr/>
          <p:nvPr/>
        </p:nvSpPr>
        <p:spPr>
          <a:xfrm flipH="1">
            <a:off x="0" y="1028700"/>
            <a:ext cx="4282420" cy="8229600"/>
          </a:xfrm>
          <a:custGeom>
            <a:avLst/>
            <a:gdLst/>
            <a:ahLst/>
            <a:cxnLst/>
            <a:rect l="l" t="t" r="r" b="b"/>
            <a:pathLst>
              <a:path w="4282420" h="8229600">
                <a:moveTo>
                  <a:pt x="4282420" y="0"/>
                </a:moveTo>
                <a:lnTo>
                  <a:pt x="0" y="0"/>
                </a:lnTo>
                <a:lnTo>
                  <a:pt x="0" y="8229600"/>
                </a:lnTo>
                <a:lnTo>
                  <a:pt x="4282420" y="8229600"/>
                </a:lnTo>
                <a:lnTo>
                  <a:pt x="4282420" y="0"/>
                </a:lnTo>
                <a:close/>
              </a:path>
            </a:pathLst>
          </a:custGeom>
          <a:blipFill>
            <a:blip r:embed="rId4"/>
            <a:stretch>
              <a:fillRect/>
            </a:stretch>
          </a:blipFill>
        </p:spPr>
      </p:sp>
      <p:sp>
        <p:nvSpPr>
          <p:cNvPr id="5" name="TextBox 5"/>
          <p:cNvSpPr txBox="1"/>
          <p:nvPr/>
        </p:nvSpPr>
        <p:spPr>
          <a:xfrm>
            <a:off x="859875" y="2972711"/>
            <a:ext cx="16568251" cy="6150529"/>
          </a:xfrm>
          <a:prstGeom prst="rect">
            <a:avLst/>
          </a:prstGeom>
        </p:spPr>
        <p:txBody>
          <a:bodyPr lIns="0" tIns="0" rIns="0" bIns="0" rtlCol="0" anchor="t">
            <a:spAutoFit/>
          </a:bodyPr>
          <a:lstStyle/>
          <a:p>
            <a:pPr algn="ctr">
              <a:lnSpc>
                <a:spcPts val="12049"/>
              </a:lnSpc>
            </a:pPr>
            <a:r>
              <a:rPr lang="en-US" sz="11367" spc="1136">
                <a:solidFill>
                  <a:srgbClr val="FFFFFF"/>
                </a:solidFill>
                <a:latin typeface="League Spartan"/>
                <a:ea typeface="League Spartan"/>
                <a:cs typeface="League Spartan"/>
                <a:sym typeface="League Spartan"/>
              </a:rPr>
              <a:t>DATABASE CONNECTION POOLING VÀ RDS PROXY</a:t>
            </a:r>
          </a:p>
        </p:txBody>
      </p:sp>
      <p:sp>
        <p:nvSpPr>
          <p:cNvPr id="6" name="Freeform 6"/>
          <p:cNvSpPr/>
          <p:nvPr/>
        </p:nvSpPr>
        <p:spPr>
          <a:xfrm>
            <a:off x="12467517" y="6745731"/>
            <a:ext cx="8572348" cy="4043501"/>
          </a:xfrm>
          <a:custGeom>
            <a:avLst/>
            <a:gdLst/>
            <a:ahLst/>
            <a:cxnLst/>
            <a:rect l="l" t="t" r="r" b="b"/>
            <a:pathLst>
              <a:path w="8572348" h="4043501">
                <a:moveTo>
                  <a:pt x="0" y="0"/>
                </a:moveTo>
                <a:lnTo>
                  <a:pt x="8572348" y="0"/>
                </a:lnTo>
                <a:lnTo>
                  <a:pt x="8572348" y="4043501"/>
                </a:lnTo>
                <a:lnTo>
                  <a:pt x="0" y="404350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7" name="Freeform 7"/>
          <p:cNvSpPr/>
          <p:nvPr/>
        </p:nvSpPr>
        <p:spPr>
          <a:xfrm>
            <a:off x="8278001" y="278918"/>
            <a:ext cx="1731997" cy="1499565"/>
          </a:xfrm>
          <a:custGeom>
            <a:avLst/>
            <a:gdLst/>
            <a:ahLst/>
            <a:cxnLst/>
            <a:rect l="l" t="t" r="r" b="b"/>
            <a:pathLst>
              <a:path w="1731997" h="1499565">
                <a:moveTo>
                  <a:pt x="0" y="0"/>
                </a:moveTo>
                <a:lnTo>
                  <a:pt x="1731998" y="0"/>
                </a:lnTo>
                <a:lnTo>
                  <a:pt x="1731998" y="1499564"/>
                </a:lnTo>
                <a:lnTo>
                  <a:pt x="0" y="1499564"/>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8" name="Freeform 8"/>
          <p:cNvSpPr/>
          <p:nvPr/>
        </p:nvSpPr>
        <p:spPr>
          <a:xfrm>
            <a:off x="216243" y="6637609"/>
            <a:ext cx="8572348" cy="4043501"/>
          </a:xfrm>
          <a:custGeom>
            <a:avLst/>
            <a:gdLst/>
            <a:ahLst/>
            <a:cxnLst/>
            <a:rect l="l" t="t" r="r" b="b"/>
            <a:pathLst>
              <a:path w="8572348" h="4043501">
                <a:moveTo>
                  <a:pt x="0" y="0"/>
                </a:moveTo>
                <a:lnTo>
                  <a:pt x="8572348" y="0"/>
                </a:lnTo>
                <a:lnTo>
                  <a:pt x="8572348" y="4043501"/>
                </a:lnTo>
                <a:lnTo>
                  <a:pt x="0" y="404350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Freeform 2"/>
          <p:cNvSpPr/>
          <p:nvPr/>
        </p:nvSpPr>
        <p:spPr>
          <a:xfrm flipH="1">
            <a:off x="8788436" y="-316726"/>
            <a:ext cx="7886994" cy="10920453"/>
          </a:xfrm>
          <a:custGeom>
            <a:avLst/>
            <a:gdLst/>
            <a:ahLst/>
            <a:cxnLst/>
            <a:rect l="l" t="t" r="r" b="b"/>
            <a:pathLst>
              <a:path w="7886994" h="10920453">
                <a:moveTo>
                  <a:pt x="7886994" y="0"/>
                </a:moveTo>
                <a:lnTo>
                  <a:pt x="0" y="0"/>
                </a:lnTo>
                <a:lnTo>
                  <a:pt x="0" y="10920452"/>
                </a:lnTo>
                <a:lnTo>
                  <a:pt x="7886994" y="10920452"/>
                </a:lnTo>
                <a:lnTo>
                  <a:pt x="7886994" y="0"/>
                </a:lnTo>
                <a:close/>
              </a:path>
            </a:pathLst>
          </a:custGeom>
          <a:blipFill>
            <a:blip r:embed="rId2"/>
            <a:stretch>
              <a:fillRect/>
            </a:stretch>
          </a:blipFill>
        </p:spPr>
      </p:sp>
      <p:grpSp>
        <p:nvGrpSpPr>
          <p:cNvPr id="3" name="Group 3"/>
          <p:cNvGrpSpPr/>
          <p:nvPr/>
        </p:nvGrpSpPr>
        <p:grpSpPr>
          <a:xfrm>
            <a:off x="9144000" y="0"/>
            <a:ext cx="9144000" cy="10287000"/>
            <a:chOff x="0" y="0"/>
            <a:chExt cx="2408296" cy="2709333"/>
          </a:xfrm>
        </p:grpSpPr>
        <p:sp>
          <p:nvSpPr>
            <p:cNvPr id="4" name="Freeform 4"/>
            <p:cNvSpPr/>
            <p:nvPr/>
          </p:nvSpPr>
          <p:spPr>
            <a:xfrm>
              <a:off x="0" y="0"/>
              <a:ext cx="2408296" cy="2709333"/>
            </a:xfrm>
            <a:custGeom>
              <a:avLst/>
              <a:gdLst/>
              <a:ahLst/>
              <a:cxnLst/>
              <a:rect l="l" t="t" r="r" b="b"/>
              <a:pathLst>
                <a:path w="2408296" h="2709333">
                  <a:moveTo>
                    <a:pt x="0" y="0"/>
                  </a:moveTo>
                  <a:lnTo>
                    <a:pt x="2408296" y="0"/>
                  </a:lnTo>
                  <a:lnTo>
                    <a:pt x="2408296" y="2709333"/>
                  </a:lnTo>
                  <a:lnTo>
                    <a:pt x="0" y="2709333"/>
                  </a:lnTo>
                  <a:close/>
                </a:path>
              </a:pathLst>
            </a:custGeom>
            <a:solidFill>
              <a:srgbClr val="FFFFFF"/>
            </a:solidFill>
          </p:spPr>
        </p:sp>
        <p:sp>
          <p:nvSpPr>
            <p:cNvPr id="5" name="TextBox 5"/>
            <p:cNvSpPr txBox="1"/>
            <p:nvPr/>
          </p:nvSpPr>
          <p:spPr>
            <a:xfrm>
              <a:off x="0" y="-47625"/>
              <a:ext cx="2408296" cy="2756958"/>
            </a:xfrm>
            <a:prstGeom prst="rect">
              <a:avLst/>
            </a:prstGeom>
          </p:spPr>
          <p:txBody>
            <a:bodyPr lIns="50800" tIns="50800" rIns="50800" bIns="50800" rtlCol="0" anchor="ctr"/>
            <a:lstStyle/>
            <a:p>
              <a:pPr algn="ctr">
                <a:lnSpc>
                  <a:spcPts val="2659"/>
                </a:lnSpc>
                <a:spcBef>
                  <a:spcPct val="0"/>
                </a:spcBef>
              </a:pPr>
              <a:endParaRPr/>
            </a:p>
          </p:txBody>
        </p:sp>
      </p:grpSp>
      <p:sp>
        <p:nvSpPr>
          <p:cNvPr id="6" name="TextBox 6"/>
          <p:cNvSpPr txBox="1"/>
          <p:nvPr/>
        </p:nvSpPr>
        <p:spPr>
          <a:xfrm>
            <a:off x="1028700" y="3930106"/>
            <a:ext cx="8115300" cy="3627476"/>
          </a:xfrm>
          <a:prstGeom prst="rect">
            <a:avLst/>
          </a:prstGeom>
        </p:spPr>
        <p:txBody>
          <a:bodyPr lIns="0" tIns="0" rIns="0" bIns="0" rtlCol="0" anchor="t">
            <a:spAutoFit/>
          </a:bodyPr>
          <a:lstStyle/>
          <a:p>
            <a:pPr marL="824737" lvl="1" indent="-412369" algn="l">
              <a:lnSpc>
                <a:spcPts val="7296"/>
              </a:lnSpc>
              <a:buFont typeface="Arial"/>
              <a:buChar char="•"/>
            </a:pPr>
            <a:r>
              <a:rPr lang="en-US" sz="3819" spc="381">
                <a:solidFill>
                  <a:srgbClr val="FFFFFF"/>
                </a:solidFill>
                <a:latin typeface="Arimo"/>
                <a:ea typeface="Arimo"/>
                <a:cs typeface="Arimo"/>
                <a:sym typeface="Arimo"/>
              </a:rPr>
              <a:t>Tổng quan đề tài</a:t>
            </a:r>
          </a:p>
          <a:p>
            <a:pPr marL="824737" lvl="1" indent="-412369" algn="l">
              <a:lnSpc>
                <a:spcPts val="7296"/>
              </a:lnSpc>
              <a:buFont typeface="Arial"/>
              <a:buChar char="•"/>
            </a:pPr>
            <a:r>
              <a:rPr lang="en-US" sz="3819" spc="381">
                <a:solidFill>
                  <a:srgbClr val="FFFFFF"/>
                </a:solidFill>
                <a:latin typeface="Arimo"/>
                <a:ea typeface="Arimo"/>
                <a:cs typeface="Arimo"/>
                <a:sym typeface="Arimo"/>
              </a:rPr>
              <a:t>Vấn đề</a:t>
            </a:r>
          </a:p>
          <a:p>
            <a:pPr marL="824737" lvl="1" indent="-412369" algn="l">
              <a:lnSpc>
                <a:spcPts val="7296"/>
              </a:lnSpc>
              <a:buFont typeface="Arial"/>
              <a:buChar char="•"/>
            </a:pPr>
            <a:r>
              <a:rPr lang="en-US" sz="3819" spc="381">
                <a:solidFill>
                  <a:srgbClr val="FFFFFF"/>
                </a:solidFill>
                <a:latin typeface="Arimo"/>
                <a:ea typeface="Arimo"/>
                <a:cs typeface="Arimo"/>
                <a:sym typeface="Arimo"/>
              </a:rPr>
              <a:t>Kiến trúc giải pháp</a:t>
            </a:r>
          </a:p>
          <a:p>
            <a:pPr marL="824737" lvl="1" indent="-412369" algn="l">
              <a:lnSpc>
                <a:spcPts val="7296"/>
              </a:lnSpc>
              <a:buFont typeface="Arial"/>
              <a:buChar char="•"/>
            </a:pPr>
            <a:r>
              <a:rPr lang="en-US" sz="3819" spc="381">
                <a:solidFill>
                  <a:srgbClr val="FFFFFF"/>
                </a:solidFill>
                <a:latin typeface="Arimo"/>
                <a:ea typeface="Arimo"/>
                <a:cs typeface="Arimo"/>
                <a:sym typeface="Arimo"/>
              </a:rPr>
              <a:t>Triển khai kỹ thuật</a:t>
            </a:r>
          </a:p>
        </p:txBody>
      </p:sp>
      <p:sp>
        <p:nvSpPr>
          <p:cNvPr id="7" name="TextBox 7"/>
          <p:cNvSpPr txBox="1"/>
          <p:nvPr/>
        </p:nvSpPr>
        <p:spPr>
          <a:xfrm>
            <a:off x="9915525" y="3874719"/>
            <a:ext cx="7600950" cy="3617646"/>
          </a:xfrm>
          <a:prstGeom prst="rect">
            <a:avLst/>
          </a:prstGeom>
        </p:spPr>
        <p:txBody>
          <a:bodyPr lIns="0" tIns="0" rIns="0" bIns="0" rtlCol="0" anchor="t">
            <a:spAutoFit/>
          </a:bodyPr>
          <a:lstStyle/>
          <a:p>
            <a:pPr marL="825079" lvl="1" indent="-412540" algn="l">
              <a:lnSpc>
                <a:spcPts val="7299"/>
              </a:lnSpc>
              <a:buFont typeface="Arial"/>
              <a:buChar char="•"/>
            </a:pPr>
            <a:r>
              <a:rPr lang="en-US" sz="3821" spc="382">
                <a:solidFill>
                  <a:srgbClr val="194A8D"/>
                </a:solidFill>
                <a:latin typeface="Arimo"/>
                <a:ea typeface="Arimo"/>
                <a:cs typeface="Arimo"/>
                <a:sym typeface="Arimo"/>
              </a:rPr>
              <a:t>Các mốc quan trọng</a:t>
            </a:r>
          </a:p>
          <a:p>
            <a:pPr marL="825079" lvl="1" indent="-412540" algn="l">
              <a:lnSpc>
                <a:spcPts val="7299"/>
              </a:lnSpc>
              <a:buFont typeface="Arial"/>
              <a:buChar char="•"/>
            </a:pPr>
            <a:r>
              <a:rPr lang="en-US" sz="3821" spc="382">
                <a:solidFill>
                  <a:srgbClr val="194A8D"/>
                </a:solidFill>
                <a:latin typeface="Arimo"/>
                <a:ea typeface="Arimo"/>
                <a:cs typeface="Arimo"/>
                <a:sym typeface="Arimo"/>
              </a:rPr>
              <a:t>Dự đoán ngân sách</a:t>
            </a:r>
          </a:p>
          <a:p>
            <a:pPr marL="825079" lvl="1" indent="-412540" algn="l">
              <a:lnSpc>
                <a:spcPts val="7299"/>
              </a:lnSpc>
              <a:buFont typeface="Arial"/>
              <a:buChar char="•"/>
            </a:pPr>
            <a:r>
              <a:rPr lang="en-US" sz="3821" spc="382">
                <a:solidFill>
                  <a:srgbClr val="194A8D"/>
                </a:solidFill>
                <a:latin typeface="Arimo"/>
                <a:ea typeface="Arimo"/>
                <a:cs typeface="Arimo"/>
                <a:sym typeface="Arimo"/>
              </a:rPr>
              <a:t>Đánh giá rủi ro</a:t>
            </a:r>
          </a:p>
          <a:p>
            <a:pPr marL="825079" lvl="1" indent="-412540" algn="l">
              <a:lnSpc>
                <a:spcPts val="7299"/>
              </a:lnSpc>
              <a:buFont typeface="Arial"/>
              <a:buChar char="•"/>
            </a:pPr>
            <a:r>
              <a:rPr lang="en-US" sz="3821" spc="382">
                <a:solidFill>
                  <a:srgbClr val="194A8D"/>
                </a:solidFill>
                <a:latin typeface="Arimo"/>
                <a:ea typeface="Arimo"/>
                <a:cs typeface="Arimo"/>
                <a:sym typeface="Arimo"/>
              </a:rPr>
              <a:t>Kết quả mong đợi</a:t>
            </a:r>
          </a:p>
        </p:txBody>
      </p:sp>
      <p:sp>
        <p:nvSpPr>
          <p:cNvPr id="8" name="Freeform 8"/>
          <p:cNvSpPr/>
          <p:nvPr/>
        </p:nvSpPr>
        <p:spPr>
          <a:xfrm>
            <a:off x="8944127" y="8134952"/>
            <a:ext cx="6667707" cy="3145099"/>
          </a:xfrm>
          <a:custGeom>
            <a:avLst/>
            <a:gdLst/>
            <a:ahLst/>
            <a:cxnLst/>
            <a:rect l="l" t="t" r="r" b="b"/>
            <a:pathLst>
              <a:path w="6667707" h="3145099">
                <a:moveTo>
                  <a:pt x="0" y="0"/>
                </a:moveTo>
                <a:lnTo>
                  <a:pt x="6667707" y="0"/>
                </a:lnTo>
                <a:lnTo>
                  <a:pt x="6667707" y="3145098"/>
                </a:lnTo>
                <a:lnTo>
                  <a:pt x="0" y="314509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9" name="Freeform 9"/>
          <p:cNvSpPr/>
          <p:nvPr/>
        </p:nvSpPr>
        <p:spPr>
          <a:xfrm>
            <a:off x="14182621" y="8134952"/>
            <a:ext cx="6667707" cy="3145099"/>
          </a:xfrm>
          <a:custGeom>
            <a:avLst/>
            <a:gdLst/>
            <a:ahLst/>
            <a:cxnLst/>
            <a:rect l="l" t="t" r="r" b="b"/>
            <a:pathLst>
              <a:path w="6667707" h="3145099">
                <a:moveTo>
                  <a:pt x="0" y="0"/>
                </a:moveTo>
                <a:lnTo>
                  <a:pt x="6667708" y="0"/>
                </a:lnTo>
                <a:lnTo>
                  <a:pt x="6667708" y="3145098"/>
                </a:lnTo>
                <a:lnTo>
                  <a:pt x="0" y="314509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0" name="TextBox 10"/>
          <p:cNvSpPr txBox="1"/>
          <p:nvPr/>
        </p:nvSpPr>
        <p:spPr>
          <a:xfrm>
            <a:off x="1410120" y="2109787"/>
            <a:ext cx="7086415" cy="1135783"/>
          </a:xfrm>
          <a:prstGeom prst="rect">
            <a:avLst/>
          </a:prstGeom>
        </p:spPr>
        <p:txBody>
          <a:bodyPr lIns="0" tIns="0" rIns="0" bIns="0" rtlCol="0" anchor="t">
            <a:spAutoFit/>
          </a:bodyPr>
          <a:lstStyle/>
          <a:p>
            <a:pPr algn="l">
              <a:lnSpc>
                <a:spcPts val="8655"/>
              </a:lnSpc>
            </a:pPr>
            <a:r>
              <a:rPr lang="en-US" sz="8165" spc="816">
                <a:solidFill>
                  <a:srgbClr val="FFFFFF"/>
                </a:solidFill>
                <a:latin typeface="League Spartan"/>
                <a:ea typeface="League Spartan"/>
                <a:cs typeface="League Spartan"/>
                <a:sym typeface="League Spartan"/>
              </a:rPr>
              <a:t>NỘI DUNG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grpSp>
        <p:nvGrpSpPr>
          <p:cNvPr id="2" name="Group 2"/>
          <p:cNvGrpSpPr/>
          <p:nvPr/>
        </p:nvGrpSpPr>
        <p:grpSpPr>
          <a:xfrm>
            <a:off x="0" y="9759340"/>
            <a:ext cx="18288000" cy="4163081"/>
            <a:chOff x="0" y="0"/>
            <a:chExt cx="2833290" cy="644970"/>
          </a:xfrm>
        </p:grpSpPr>
        <p:sp>
          <p:nvSpPr>
            <p:cNvPr id="3" name="Freeform 3"/>
            <p:cNvSpPr/>
            <p:nvPr/>
          </p:nvSpPr>
          <p:spPr>
            <a:xfrm>
              <a:off x="0" y="0"/>
              <a:ext cx="2833290" cy="644970"/>
            </a:xfrm>
            <a:custGeom>
              <a:avLst/>
              <a:gdLst/>
              <a:ahLst/>
              <a:cxnLst/>
              <a:rect l="l" t="t" r="r" b="b"/>
              <a:pathLst>
                <a:path w="2833290" h="644970">
                  <a:moveTo>
                    <a:pt x="0" y="0"/>
                  </a:moveTo>
                  <a:lnTo>
                    <a:pt x="2833290" y="0"/>
                  </a:lnTo>
                  <a:lnTo>
                    <a:pt x="2833290" y="644970"/>
                  </a:lnTo>
                  <a:lnTo>
                    <a:pt x="0" y="644970"/>
                  </a:lnTo>
                  <a:close/>
                </a:path>
              </a:pathLst>
            </a:custGeom>
            <a:blipFill>
              <a:blip r:embed="rId2"/>
              <a:stretch>
                <a:fillRect t="-171934" b="-20742"/>
              </a:stretch>
            </a:blipFill>
          </p:spPr>
        </p:sp>
      </p:grpSp>
      <p:sp>
        <p:nvSpPr>
          <p:cNvPr id="4" name="Freeform 4"/>
          <p:cNvSpPr/>
          <p:nvPr/>
        </p:nvSpPr>
        <p:spPr>
          <a:xfrm rot="-5400000" flipV="1">
            <a:off x="15177010" y="-1253949"/>
            <a:ext cx="2720897" cy="5228794"/>
          </a:xfrm>
          <a:custGeom>
            <a:avLst/>
            <a:gdLst/>
            <a:ahLst/>
            <a:cxnLst/>
            <a:rect l="l" t="t" r="r" b="b"/>
            <a:pathLst>
              <a:path w="2720897" h="5228794">
                <a:moveTo>
                  <a:pt x="0" y="5228795"/>
                </a:moveTo>
                <a:lnTo>
                  <a:pt x="2720897" y="5228795"/>
                </a:lnTo>
                <a:lnTo>
                  <a:pt x="2720897" y="0"/>
                </a:lnTo>
                <a:lnTo>
                  <a:pt x="0" y="0"/>
                </a:lnTo>
                <a:lnTo>
                  <a:pt x="0" y="5228795"/>
                </a:lnTo>
                <a:close/>
              </a:path>
            </a:pathLst>
          </a:custGeom>
          <a:blipFill>
            <a:blip r:embed="rId3"/>
            <a:stretch>
              <a:fillRect/>
            </a:stretch>
          </a:blipFill>
        </p:spPr>
      </p:sp>
      <p:sp>
        <p:nvSpPr>
          <p:cNvPr id="5" name="TextBox 5"/>
          <p:cNvSpPr txBox="1"/>
          <p:nvPr/>
        </p:nvSpPr>
        <p:spPr>
          <a:xfrm>
            <a:off x="3541740" y="844944"/>
            <a:ext cx="12172520" cy="1135783"/>
          </a:xfrm>
          <a:prstGeom prst="rect">
            <a:avLst/>
          </a:prstGeom>
        </p:spPr>
        <p:txBody>
          <a:bodyPr lIns="0" tIns="0" rIns="0" bIns="0" rtlCol="0" anchor="t">
            <a:spAutoFit/>
          </a:bodyPr>
          <a:lstStyle/>
          <a:p>
            <a:pPr algn="ctr">
              <a:lnSpc>
                <a:spcPts val="8655"/>
              </a:lnSpc>
            </a:pPr>
            <a:r>
              <a:rPr lang="en-US" sz="8165" spc="816">
                <a:solidFill>
                  <a:srgbClr val="FFFFFF"/>
                </a:solidFill>
                <a:latin typeface="League Spartan"/>
                <a:ea typeface="League Spartan"/>
                <a:cs typeface="League Spartan"/>
                <a:sym typeface="League Spartan"/>
              </a:rPr>
              <a:t>TỔNG QUAN ĐỀ TÀI</a:t>
            </a:r>
          </a:p>
        </p:txBody>
      </p:sp>
      <p:sp>
        <p:nvSpPr>
          <p:cNvPr id="6" name="TextBox 6"/>
          <p:cNvSpPr txBox="1"/>
          <p:nvPr/>
        </p:nvSpPr>
        <p:spPr>
          <a:xfrm>
            <a:off x="1885602" y="3056832"/>
            <a:ext cx="5602921" cy="6097106"/>
          </a:xfrm>
          <a:prstGeom prst="rect">
            <a:avLst/>
          </a:prstGeom>
        </p:spPr>
        <p:txBody>
          <a:bodyPr lIns="0" tIns="0" rIns="0" bIns="0" rtlCol="0" anchor="t">
            <a:spAutoFit/>
          </a:bodyPr>
          <a:lstStyle/>
          <a:p>
            <a:pPr algn="l">
              <a:lnSpc>
                <a:spcPts val="4040"/>
              </a:lnSpc>
            </a:pPr>
            <a:r>
              <a:rPr lang="en-US" sz="3812" spc="381">
                <a:solidFill>
                  <a:srgbClr val="FFFFFF"/>
                </a:solidFill>
                <a:latin typeface="Arimo"/>
                <a:ea typeface="Arimo"/>
                <a:cs typeface="Arimo"/>
                <a:sym typeface="Arimo"/>
              </a:rPr>
              <a:t>Các hệ thống cơ sở dữ liệu hiện tại đang gặp vấn đề về hiệu suất, khả năng mở rộng và quản lý các kết nối một cách không tối ưu. Điều đó thường gây ra tình trạng quá tải kết nối đến cơ sở dữ liệu, lỗi kết nối trong trường hợp failover.</a:t>
            </a:r>
          </a:p>
        </p:txBody>
      </p:sp>
      <p:sp>
        <p:nvSpPr>
          <p:cNvPr id="7" name="Freeform 7"/>
          <p:cNvSpPr/>
          <p:nvPr/>
        </p:nvSpPr>
        <p:spPr>
          <a:xfrm rot="-5400000">
            <a:off x="390093" y="-1471468"/>
            <a:ext cx="2720897" cy="5228794"/>
          </a:xfrm>
          <a:custGeom>
            <a:avLst/>
            <a:gdLst/>
            <a:ahLst/>
            <a:cxnLst/>
            <a:rect l="l" t="t" r="r" b="b"/>
            <a:pathLst>
              <a:path w="2720897" h="5228794">
                <a:moveTo>
                  <a:pt x="0" y="0"/>
                </a:moveTo>
                <a:lnTo>
                  <a:pt x="2720897" y="0"/>
                </a:lnTo>
                <a:lnTo>
                  <a:pt x="2720897" y="5228794"/>
                </a:lnTo>
                <a:lnTo>
                  <a:pt x="0" y="5228794"/>
                </a:lnTo>
                <a:lnTo>
                  <a:pt x="0" y="0"/>
                </a:lnTo>
                <a:close/>
              </a:path>
            </a:pathLst>
          </a:custGeom>
          <a:blipFill>
            <a:blip r:embed="rId3"/>
            <a:stretch>
              <a:fillRect/>
            </a:stretch>
          </a:blipFill>
        </p:spPr>
      </p:sp>
      <p:sp>
        <p:nvSpPr>
          <p:cNvPr id="8" name="TextBox 8"/>
          <p:cNvSpPr txBox="1"/>
          <p:nvPr/>
        </p:nvSpPr>
        <p:spPr>
          <a:xfrm>
            <a:off x="826110" y="1826099"/>
            <a:ext cx="8317890" cy="1021183"/>
          </a:xfrm>
          <a:prstGeom prst="rect">
            <a:avLst/>
          </a:prstGeom>
        </p:spPr>
        <p:txBody>
          <a:bodyPr lIns="0" tIns="0" rIns="0" bIns="0" rtlCol="0" anchor="t">
            <a:spAutoFit/>
          </a:bodyPr>
          <a:lstStyle/>
          <a:p>
            <a:pPr marL="975864" lvl="1" indent="-487932" algn="l">
              <a:lnSpc>
                <a:spcPts val="8633"/>
              </a:lnSpc>
              <a:buFont typeface="Arial"/>
              <a:buChar char="•"/>
            </a:pPr>
            <a:r>
              <a:rPr lang="en-US" sz="4519" b="1" spc="451">
                <a:solidFill>
                  <a:srgbClr val="FFFFFF"/>
                </a:solidFill>
                <a:latin typeface="Arimo Bold"/>
                <a:ea typeface="Arimo Bold"/>
                <a:cs typeface="Arimo Bold"/>
                <a:sym typeface="Arimo Bold"/>
              </a:rPr>
              <a:t>Tổng quan vấn đề</a:t>
            </a:r>
          </a:p>
        </p:txBody>
      </p:sp>
      <p:sp>
        <p:nvSpPr>
          <p:cNvPr id="9" name="TextBox 9"/>
          <p:cNvSpPr txBox="1"/>
          <p:nvPr/>
        </p:nvSpPr>
        <p:spPr>
          <a:xfrm>
            <a:off x="8941410" y="1826099"/>
            <a:ext cx="8317890" cy="1021183"/>
          </a:xfrm>
          <a:prstGeom prst="rect">
            <a:avLst/>
          </a:prstGeom>
        </p:spPr>
        <p:txBody>
          <a:bodyPr lIns="0" tIns="0" rIns="0" bIns="0" rtlCol="0" anchor="t">
            <a:spAutoFit/>
          </a:bodyPr>
          <a:lstStyle/>
          <a:p>
            <a:pPr marL="975864" lvl="1" indent="-487932" algn="l">
              <a:lnSpc>
                <a:spcPts val="8633"/>
              </a:lnSpc>
              <a:buFont typeface="Arial"/>
              <a:buChar char="•"/>
            </a:pPr>
            <a:r>
              <a:rPr lang="en-US" sz="4519" b="1" spc="451">
                <a:solidFill>
                  <a:srgbClr val="FFFFFF"/>
                </a:solidFill>
                <a:latin typeface="Arimo Bold"/>
                <a:ea typeface="Arimo Bold"/>
                <a:cs typeface="Arimo Bold"/>
                <a:sym typeface="Arimo Bold"/>
              </a:rPr>
              <a:t>Tổng quan giải pháp</a:t>
            </a:r>
          </a:p>
        </p:txBody>
      </p:sp>
      <p:sp>
        <p:nvSpPr>
          <p:cNvPr id="10" name="TextBox 10"/>
          <p:cNvSpPr txBox="1"/>
          <p:nvPr/>
        </p:nvSpPr>
        <p:spPr>
          <a:xfrm>
            <a:off x="10298894" y="3056832"/>
            <a:ext cx="5602921" cy="5087456"/>
          </a:xfrm>
          <a:prstGeom prst="rect">
            <a:avLst/>
          </a:prstGeom>
        </p:spPr>
        <p:txBody>
          <a:bodyPr lIns="0" tIns="0" rIns="0" bIns="0" rtlCol="0" anchor="t">
            <a:spAutoFit/>
          </a:bodyPr>
          <a:lstStyle/>
          <a:p>
            <a:pPr algn="l">
              <a:lnSpc>
                <a:spcPts val="4040"/>
              </a:lnSpc>
            </a:pPr>
            <a:r>
              <a:rPr lang="en-US" sz="3812" spc="381">
                <a:solidFill>
                  <a:srgbClr val="FFFFFF"/>
                </a:solidFill>
                <a:latin typeface="Arimo"/>
                <a:ea typeface="Arimo"/>
                <a:cs typeface="Arimo"/>
                <a:sym typeface="Arimo"/>
              </a:rPr>
              <a:t>Sử dụng Amazon RDS Proxy làm lớp trung gian giữa các container và Amazon RDS. Proxy sẽ quản lý connection pooling để tái sử dụng kết nối hiện có và tự động chuyển đổi endpoint khi failover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grpSp>
        <p:nvGrpSpPr>
          <p:cNvPr id="2" name="Group 2"/>
          <p:cNvGrpSpPr/>
          <p:nvPr/>
        </p:nvGrpSpPr>
        <p:grpSpPr>
          <a:xfrm>
            <a:off x="1329961" y="793052"/>
            <a:ext cx="7621232" cy="8789926"/>
            <a:chOff x="0" y="0"/>
            <a:chExt cx="2007238" cy="2315042"/>
          </a:xfrm>
        </p:grpSpPr>
        <p:sp>
          <p:nvSpPr>
            <p:cNvPr id="3" name="Freeform 3"/>
            <p:cNvSpPr/>
            <p:nvPr/>
          </p:nvSpPr>
          <p:spPr>
            <a:xfrm>
              <a:off x="0" y="0"/>
              <a:ext cx="2007238" cy="2315042"/>
            </a:xfrm>
            <a:custGeom>
              <a:avLst/>
              <a:gdLst/>
              <a:ahLst/>
              <a:cxnLst/>
              <a:rect l="l" t="t" r="r" b="b"/>
              <a:pathLst>
                <a:path w="2007238" h="2315042">
                  <a:moveTo>
                    <a:pt x="0" y="0"/>
                  </a:moveTo>
                  <a:lnTo>
                    <a:pt x="2007238" y="0"/>
                  </a:lnTo>
                  <a:lnTo>
                    <a:pt x="2007238" y="2315042"/>
                  </a:lnTo>
                  <a:lnTo>
                    <a:pt x="0" y="2315042"/>
                  </a:lnTo>
                  <a:close/>
                </a:path>
              </a:pathLst>
            </a:custGeom>
            <a:solidFill>
              <a:srgbClr val="FFFFFF"/>
            </a:solidFill>
          </p:spPr>
        </p:sp>
        <p:sp>
          <p:nvSpPr>
            <p:cNvPr id="4" name="TextBox 4"/>
            <p:cNvSpPr txBox="1"/>
            <p:nvPr/>
          </p:nvSpPr>
          <p:spPr>
            <a:xfrm>
              <a:off x="0" y="-47625"/>
              <a:ext cx="2007238" cy="2362667"/>
            </a:xfrm>
            <a:prstGeom prst="rect">
              <a:avLst/>
            </a:prstGeom>
          </p:spPr>
          <p:txBody>
            <a:bodyPr lIns="50800" tIns="50800" rIns="50800" bIns="50800" rtlCol="0" anchor="ctr"/>
            <a:lstStyle/>
            <a:p>
              <a:pPr algn="ctr">
                <a:lnSpc>
                  <a:spcPts val="2659"/>
                </a:lnSpc>
              </a:pPr>
              <a:endParaRPr/>
            </a:p>
          </p:txBody>
        </p:sp>
      </p:grpSp>
      <p:sp>
        <p:nvSpPr>
          <p:cNvPr id="5" name="TextBox 5"/>
          <p:cNvSpPr txBox="1"/>
          <p:nvPr/>
        </p:nvSpPr>
        <p:spPr>
          <a:xfrm>
            <a:off x="1763813" y="932388"/>
            <a:ext cx="6753529" cy="1021184"/>
          </a:xfrm>
          <a:prstGeom prst="rect">
            <a:avLst/>
          </a:prstGeom>
        </p:spPr>
        <p:txBody>
          <a:bodyPr lIns="0" tIns="0" rIns="0" bIns="0" rtlCol="0" anchor="t">
            <a:spAutoFit/>
          </a:bodyPr>
          <a:lstStyle/>
          <a:p>
            <a:pPr algn="ctr">
              <a:lnSpc>
                <a:spcPts val="8633"/>
              </a:lnSpc>
              <a:spcBef>
                <a:spcPct val="0"/>
              </a:spcBef>
            </a:pPr>
            <a:r>
              <a:rPr lang="en-US" sz="4519" b="1" spc="451">
                <a:solidFill>
                  <a:srgbClr val="194A8D"/>
                </a:solidFill>
                <a:latin typeface="Arimo Bold"/>
                <a:ea typeface="Arimo Bold"/>
                <a:cs typeface="Arimo Bold"/>
                <a:sym typeface="Arimo Bold"/>
              </a:rPr>
              <a:t>Các tính năng chính</a:t>
            </a:r>
          </a:p>
        </p:txBody>
      </p:sp>
      <p:grpSp>
        <p:nvGrpSpPr>
          <p:cNvPr id="6" name="Group 6"/>
          <p:cNvGrpSpPr/>
          <p:nvPr/>
        </p:nvGrpSpPr>
        <p:grpSpPr>
          <a:xfrm>
            <a:off x="9336807" y="793052"/>
            <a:ext cx="7598722" cy="8789926"/>
            <a:chOff x="0" y="0"/>
            <a:chExt cx="2001310" cy="2315042"/>
          </a:xfrm>
        </p:grpSpPr>
        <p:sp>
          <p:nvSpPr>
            <p:cNvPr id="7" name="Freeform 7"/>
            <p:cNvSpPr/>
            <p:nvPr/>
          </p:nvSpPr>
          <p:spPr>
            <a:xfrm>
              <a:off x="0" y="0"/>
              <a:ext cx="2001310" cy="2315042"/>
            </a:xfrm>
            <a:custGeom>
              <a:avLst/>
              <a:gdLst/>
              <a:ahLst/>
              <a:cxnLst/>
              <a:rect l="l" t="t" r="r" b="b"/>
              <a:pathLst>
                <a:path w="2001310" h="2315042">
                  <a:moveTo>
                    <a:pt x="0" y="0"/>
                  </a:moveTo>
                  <a:lnTo>
                    <a:pt x="2001310" y="0"/>
                  </a:lnTo>
                  <a:lnTo>
                    <a:pt x="2001310" y="2315042"/>
                  </a:lnTo>
                  <a:lnTo>
                    <a:pt x="0" y="2315042"/>
                  </a:lnTo>
                  <a:close/>
                </a:path>
              </a:pathLst>
            </a:custGeom>
            <a:solidFill>
              <a:srgbClr val="FFFFFF"/>
            </a:solidFill>
          </p:spPr>
        </p:sp>
        <p:sp>
          <p:nvSpPr>
            <p:cNvPr id="8" name="TextBox 8"/>
            <p:cNvSpPr txBox="1"/>
            <p:nvPr/>
          </p:nvSpPr>
          <p:spPr>
            <a:xfrm>
              <a:off x="0" y="-47625"/>
              <a:ext cx="2001310" cy="2362667"/>
            </a:xfrm>
            <a:prstGeom prst="rect">
              <a:avLst/>
            </a:prstGeom>
          </p:spPr>
          <p:txBody>
            <a:bodyPr lIns="50800" tIns="50800" rIns="50800" bIns="50800" rtlCol="0" anchor="ctr"/>
            <a:lstStyle/>
            <a:p>
              <a:pPr algn="ctr">
                <a:lnSpc>
                  <a:spcPts val="2659"/>
                </a:lnSpc>
              </a:pPr>
              <a:endParaRPr/>
            </a:p>
          </p:txBody>
        </p:sp>
      </p:grpSp>
      <p:sp>
        <p:nvSpPr>
          <p:cNvPr id="9" name="TextBox 9"/>
          <p:cNvSpPr txBox="1"/>
          <p:nvPr/>
        </p:nvSpPr>
        <p:spPr>
          <a:xfrm>
            <a:off x="9804424" y="932388"/>
            <a:ext cx="6663489" cy="1020316"/>
          </a:xfrm>
          <a:prstGeom prst="rect">
            <a:avLst/>
          </a:prstGeom>
        </p:spPr>
        <p:txBody>
          <a:bodyPr lIns="0" tIns="0" rIns="0" bIns="0" rtlCol="0" anchor="t">
            <a:spAutoFit/>
          </a:bodyPr>
          <a:lstStyle/>
          <a:p>
            <a:pPr marL="0" lvl="0" indent="0" algn="ctr">
              <a:lnSpc>
                <a:spcPts val="8633"/>
              </a:lnSpc>
              <a:spcBef>
                <a:spcPct val="0"/>
              </a:spcBef>
            </a:pPr>
            <a:r>
              <a:rPr lang="en-US" sz="4519" b="1" u="none" strike="noStrike" spc="451">
                <a:solidFill>
                  <a:srgbClr val="194A8D"/>
                </a:solidFill>
                <a:latin typeface="Arimo Bold"/>
                <a:ea typeface="Arimo Bold"/>
                <a:cs typeface="Arimo Bold"/>
                <a:sym typeface="Arimo Bold"/>
              </a:rPr>
              <a:t>Lợi ích kinh doanh </a:t>
            </a:r>
          </a:p>
        </p:txBody>
      </p:sp>
      <p:sp>
        <p:nvSpPr>
          <p:cNvPr id="10" name="TextBox 10"/>
          <p:cNvSpPr txBox="1"/>
          <p:nvPr/>
        </p:nvSpPr>
        <p:spPr>
          <a:xfrm>
            <a:off x="1886178" y="2129288"/>
            <a:ext cx="6508797" cy="6616618"/>
          </a:xfrm>
          <a:prstGeom prst="rect">
            <a:avLst/>
          </a:prstGeom>
        </p:spPr>
        <p:txBody>
          <a:bodyPr lIns="0" tIns="0" rIns="0" bIns="0" rtlCol="0" anchor="t">
            <a:spAutoFit/>
          </a:bodyPr>
          <a:lstStyle/>
          <a:p>
            <a:pPr marL="642996" lvl="1" indent="-321498" algn="l">
              <a:lnSpc>
                <a:spcPts val="4169"/>
              </a:lnSpc>
              <a:buFont typeface="Arial"/>
              <a:buChar char="•"/>
            </a:pPr>
            <a:r>
              <a:rPr lang="en-US" sz="2978">
                <a:solidFill>
                  <a:srgbClr val="000000"/>
                </a:solidFill>
                <a:latin typeface="Arimo"/>
                <a:ea typeface="Arimo"/>
                <a:cs typeface="Arimo"/>
                <a:sym typeface="Arimo"/>
              </a:rPr>
              <a:t> </a:t>
            </a:r>
            <a:r>
              <a:rPr lang="en-US" sz="2978">
                <a:solidFill>
                  <a:srgbClr val="194A8D"/>
                </a:solidFill>
                <a:latin typeface="Arimo"/>
                <a:ea typeface="Arimo"/>
                <a:cs typeface="Arimo"/>
                <a:sym typeface="Arimo"/>
              </a:rPr>
              <a:t>Connection Pooling tái sử dụng </a:t>
            </a:r>
          </a:p>
          <a:p>
            <a:pPr marL="642996" lvl="1" indent="-321498" algn="l">
              <a:lnSpc>
                <a:spcPts val="4169"/>
              </a:lnSpc>
              <a:buFont typeface="Arial"/>
              <a:buChar char="•"/>
            </a:pPr>
            <a:r>
              <a:rPr lang="en-US" sz="2978">
                <a:solidFill>
                  <a:srgbClr val="194A8D"/>
                </a:solidFill>
                <a:latin typeface="Arimo"/>
                <a:ea typeface="Arimo"/>
                <a:cs typeface="Arimo"/>
                <a:sym typeface="Arimo"/>
              </a:rPr>
              <a:t> Failover Handling: Tự động chuyển endpoint đến DB dự phòng </a:t>
            </a:r>
          </a:p>
          <a:p>
            <a:pPr marL="642996" lvl="1" indent="-321498" algn="l">
              <a:lnSpc>
                <a:spcPts val="4169"/>
              </a:lnSpc>
              <a:buFont typeface="Arial"/>
              <a:buChar char="•"/>
            </a:pPr>
            <a:r>
              <a:rPr lang="en-US" sz="2978">
                <a:solidFill>
                  <a:srgbClr val="194A8D"/>
                </a:solidFill>
                <a:latin typeface="Arimo"/>
                <a:ea typeface="Arimo"/>
                <a:cs typeface="Arimo"/>
                <a:sym typeface="Arimo"/>
              </a:rPr>
              <a:t> Monitoring &amp; Logging giám sát thời gian phản hồi và số lượng kết nối đang sử dụng</a:t>
            </a:r>
          </a:p>
          <a:p>
            <a:pPr marL="642996" lvl="1" indent="-321498" algn="l">
              <a:lnSpc>
                <a:spcPts val="4169"/>
              </a:lnSpc>
              <a:buFont typeface="Arial"/>
              <a:buChar char="•"/>
            </a:pPr>
            <a:r>
              <a:rPr lang="en-US" sz="2978">
                <a:solidFill>
                  <a:srgbClr val="194A8D"/>
                </a:solidFill>
                <a:latin typeface="Arimo"/>
                <a:ea typeface="Arimo"/>
                <a:cs typeface="Arimo"/>
                <a:sym typeface="Arimo"/>
              </a:rPr>
              <a:t> Scaling Strategy tự động điều chỉnh max connection pool theo tải và tối ưu cấu hình p</a:t>
            </a:r>
          </a:p>
          <a:p>
            <a:pPr marL="642996" lvl="1" indent="-321498" algn="l">
              <a:lnSpc>
                <a:spcPts val="4169"/>
              </a:lnSpc>
              <a:buFont typeface="Arial"/>
              <a:buChar char="•"/>
            </a:pPr>
            <a:r>
              <a:rPr lang="en-US" sz="2978">
                <a:solidFill>
                  <a:srgbClr val="194A8D"/>
                </a:solidFill>
                <a:latin typeface="Arimo"/>
                <a:ea typeface="Arimo"/>
                <a:cs typeface="Arimo"/>
                <a:sym typeface="Arimo"/>
              </a:rPr>
              <a:t> Security Integration hỗ trợ IAM authentication và TLS encryption</a:t>
            </a:r>
            <a:r>
              <a:rPr lang="en-US" sz="2978">
                <a:solidFill>
                  <a:srgbClr val="000000"/>
                </a:solidFill>
                <a:latin typeface="Arimo"/>
                <a:ea typeface="Arimo"/>
                <a:cs typeface="Arimo"/>
                <a:sym typeface="Arimo"/>
              </a:rPr>
              <a:t> </a:t>
            </a:r>
          </a:p>
          <a:p>
            <a:pPr algn="ctr">
              <a:lnSpc>
                <a:spcPts val="2489"/>
              </a:lnSpc>
              <a:spcBef>
                <a:spcPct val="0"/>
              </a:spcBef>
            </a:pPr>
            <a:endParaRPr lang="en-US" sz="2978">
              <a:solidFill>
                <a:srgbClr val="000000"/>
              </a:solidFill>
              <a:latin typeface="Arimo"/>
              <a:ea typeface="Arimo"/>
              <a:cs typeface="Arimo"/>
              <a:sym typeface="Arimo"/>
            </a:endParaRPr>
          </a:p>
        </p:txBody>
      </p:sp>
      <p:sp>
        <p:nvSpPr>
          <p:cNvPr id="11" name="TextBox 11"/>
          <p:cNvSpPr txBox="1"/>
          <p:nvPr/>
        </p:nvSpPr>
        <p:spPr>
          <a:xfrm>
            <a:off x="9804424" y="2129288"/>
            <a:ext cx="6663489" cy="4715428"/>
          </a:xfrm>
          <a:prstGeom prst="rect">
            <a:avLst/>
          </a:prstGeom>
        </p:spPr>
        <p:txBody>
          <a:bodyPr lIns="0" tIns="0" rIns="0" bIns="0" rtlCol="0" anchor="t">
            <a:spAutoFit/>
          </a:bodyPr>
          <a:lstStyle/>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 Tăng 40-60% hiệu suất truy vấn cơ sở dữ liệu</a:t>
            </a:r>
          </a:p>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 Giảm đáng kể lỗi kết nối và downtime</a:t>
            </a:r>
          </a:p>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 Tối ưu chi phí vận hành nhờ vào việc sử dụng kết nối hiệu quả hơn, giảm yêu cầu kết nối đến RDS.</a:t>
            </a:r>
          </a:p>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 Tăng độ bảo mật và tính sẵn sàng của hệ thống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grpSp>
        <p:nvGrpSpPr>
          <p:cNvPr id="2" name="Group 2"/>
          <p:cNvGrpSpPr/>
          <p:nvPr/>
        </p:nvGrpSpPr>
        <p:grpSpPr>
          <a:xfrm>
            <a:off x="1329961" y="230301"/>
            <a:ext cx="7621232" cy="4421203"/>
            <a:chOff x="0" y="0"/>
            <a:chExt cx="2007238" cy="1164432"/>
          </a:xfrm>
        </p:grpSpPr>
        <p:sp>
          <p:nvSpPr>
            <p:cNvPr id="3" name="Freeform 3"/>
            <p:cNvSpPr/>
            <p:nvPr/>
          </p:nvSpPr>
          <p:spPr>
            <a:xfrm>
              <a:off x="0" y="0"/>
              <a:ext cx="2007238" cy="1164432"/>
            </a:xfrm>
            <a:custGeom>
              <a:avLst/>
              <a:gdLst/>
              <a:ahLst/>
              <a:cxnLst/>
              <a:rect l="l" t="t" r="r" b="b"/>
              <a:pathLst>
                <a:path w="2007238" h="1164432">
                  <a:moveTo>
                    <a:pt x="0" y="0"/>
                  </a:moveTo>
                  <a:lnTo>
                    <a:pt x="2007238" y="0"/>
                  </a:lnTo>
                  <a:lnTo>
                    <a:pt x="2007238" y="1164432"/>
                  </a:lnTo>
                  <a:lnTo>
                    <a:pt x="0" y="1164432"/>
                  </a:lnTo>
                  <a:close/>
                </a:path>
              </a:pathLst>
            </a:custGeom>
            <a:solidFill>
              <a:srgbClr val="FFFFFF"/>
            </a:solidFill>
          </p:spPr>
        </p:sp>
        <p:sp>
          <p:nvSpPr>
            <p:cNvPr id="4" name="TextBox 4"/>
            <p:cNvSpPr txBox="1"/>
            <p:nvPr/>
          </p:nvSpPr>
          <p:spPr>
            <a:xfrm>
              <a:off x="0" y="-47625"/>
              <a:ext cx="2007238" cy="1212057"/>
            </a:xfrm>
            <a:prstGeom prst="rect">
              <a:avLst/>
            </a:prstGeom>
          </p:spPr>
          <p:txBody>
            <a:bodyPr lIns="50800" tIns="50800" rIns="50800" bIns="50800" rtlCol="0" anchor="ctr"/>
            <a:lstStyle/>
            <a:p>
              <a:pPr algn="ctr">
                <a:lnSpc>
                  <a:spcPts val="2659"/>
                </a:lnSpc>
              </a:pPr>
              <a:endParaRPr/>
            </a:p>
          </p:txBody>
        </p:sp>
      </p:grpSp>
      <p:sp>
        <p:nvSpPr>
          <p:cNvPr id="5" name="TextBox 5"/>
          <p:cNvSpPr txBox="1"/>
          <p:nvPr/>
        </p:nvSpPr>
        <p:spPr>
          <a:xfrm>
            <a:off x="1763813" y="351420"/>
            <a:ext cx="6753529" cy="1021184"/>
          </a:xfrm>
          <a:prstGeom prst="rect">
            <a:avLst/>
          </a:prstGeom>
        </p:spPr>
        <p:txBody>
          <a:bodyPr lIns="0" tIns="0" rIns="0" bIns="0" rtlCol="0" anchor="t">
            <a:spAutoFit/>
          </a:bodyPr>
          <a:lstStyle/>
          <a:p>
            <a:pPr algn="ctr">
              <a:lnSpc>
                <a:spcPts val="8633"/>
              </a:lnSpc>
              <a:spcBef>
                <a:spcPct val="0"/>
              </a:spcBef>
            </a:pPr>
            <a:r>
              <a:rPr lang="en-US" sz="4519" b="1" spc="451">
                <a:solidFill>
                  <a:srgbClr val="194A8D"/>
                </a:solidFill>
                <a:latin typeface="Arimo Bold"/>
                <a:ea typeface="Arimo Bold"/>
                <a:cs typeface="Arimo Bold"/>
                <a:sym typeface="Arimo Bold"/>
              </a:rPr>
              <a:t>Chi phí</a:t>
            </a:r>
          </a:p>
        </p:txBody>
      </p:sp>
      <p:grpSp>
        <p:nvGrpSpPr>
          <p:cNvPr id="6" name="Group 6"/>
          <p:cNvGrpSpPr/>
          <p:nvPr/>
        </p:nvGrpSpPr>
        <p:grpSpPr>
          <a:xfrm>
            <a:off x="9336807" y="230301"/>
            <a:ext cx="7598722" cy="4421203"/>
            <a:chOff x="0" y="0"/>
            <a:chExt cx="2001310" cy="1164432"/>
          </a:xfrm>
        </p:grpSpPr>
        <p:sp>
          <p:nvSpPr>
            <p:cNvPr id="7" name="Freeform 7"/>
            <p:cNvSpPr/>
            <p:nvPr/>
          </p:nvSpPr>
          <p:spPr>
            <a:xfrm>
              <a:off x="0" y="0"/>
              <a:ext cx="2001310" cy="1164432"/>
            </a:xfrm>
            <a:custGeom>
              <a:avLst/>
              <a:gdLst/>
              <a:ahLst/>
              <a:cxnLst/>
              <a:rect l="l" t="t" r="r" b="b"/>
              <a:pathLst>
                <a:path w="2001310" h="1164432">
                  <a:moveTo>
                    <a:pt x="0" y="0"/>
                  </a:moveTo>
                  <a:lnTo>
                    <a:pt x="2001310" y="0"/>
                  </a:lnTo>
                  <a:lnTo>
                    <a:pt x="2001310" y="1164432"/>
                  </a:lnTo>
                  <a:lnTo>
                    <a:pt x="0" y="1164432"/>
                  </a:lnTo>
                  <a:close/>
                </a:path>
              </a:pathLst>
            </a:custGeom>
            <a:solidFill>
              <a:srgbClr val="FFFFFF"/>
            </a:solidFill>
          </p:spPr>
        </p:sp>
        <p:sp>
          <p:nvSpPr>
            <p:cNvPr id="8" name="TextBox 8"/>
            <p:cNvSpPr txBox="1"/>
            <p:nvPr/>
          </p:nvSpPr>
          <p:spPr>
            <a:xfrm>
              <a:off x="0" y="-47625"/>
              <a:ext cx="2001310" cy="1212057"/>
            </a:xfrm>
            <a:prstGeom prst="rect">
              <a:avLst/>
            </a:prstGeom>
          </p:spPr>
          <p:txBody>
            <a:bodyPr lIns="50800" tIns="50800" rIns="50800" bIns="50800" rtlCol="0" anchor="ctr"/>
            <a:lstStyle/>
            <a:p>
              <a:pPr algn="ctr">
                <a:lnSpc>
                  <a:spcPts val="2659"/>
                </a:lnSpc>
              </a:pPr>
              <a:endParaRPr/>
            </a:p>
          </p:txBody>
        </p:sp>
      </p:grpSp>
      <p:sp>
        <p:nvSpPr>
          <p:cNvPr id="9" name="TextBox 9"/>
          <p:cNvSpPr txBox="1"/>
          <p:nvPr/>
        </p:nvSpPr>
        <p:spPr>
          <a:xfrm>
            <a:off x="9804424" y="352289"/>
            <a:ext cx="6663489" cy="1020316"/>
          </a:xfrm>
          <a:prstGeom prst="rect">
            <a:avLst/>
          </a:prstGeom>
        </p:spPr>
        <p:txBody>
          <a:bodyPr lIns="0" tIns="0" rIns="0" bIns="0" rtlCol="0" anchor="t">
            <a:spAutoFit/>
          </a:bodyPr>
          <a:lstStyle/>
          <a:p>
            <a:pPr marL="0" lvl="0" indent="0" algn="ctr">
              <a:lnSpc>
                <a:spcPts val="8633"/>
              </a:lnSpc>
              <a:spcBef>
                <a:spcPct val="0"/>
              </a:spcBef>
            </a:pPr>
            <a:r>
              <a:rPr lang="en-US" sz="4519" b="1" spc="451">
                <a:solidFill>
                  <a:srgbClr val="194A8D"/>
                </a:solidFill>
                <a:latin typeface="Arimo Bold"/>
                <a:ea typeface="Arimo Bold"/>
                <a:cs typeface="Arimo Bold"/>
                <a:sym typeface="Arimo Bold"/>
              </a:rPr>
              <a:t>Kết</a:t>
            </a:r>
            <a:r>
              <a:rPr lang="en-US" sz="4519" b="1" u="none" strike="noStrike" spc="451">
                <a:solidFill>
                  <a:srgbClr val="194A8D"/>
                </a:solidFill>
                <a:latin typeface="Arimo Bold"/>
                <a:ea typeface="Arimo Bold"/>
                <a:cs typeface="Arimo Bold"/>
                <a:sym typeface="Arimo Bold"/>
              </a:rPr>
              <a:t> quả mong đợi</a:t>
            </a:r>
          </a:p>
        </p:txBody>
      </p:sp>
      <p:sp>
        <p:nvSpPr>
          <p:cNvPr id="10" name="TextBox 10"/>
          <p:cNvSpPr txBox="1"/>
          <p:nvPr/>
        </p:nvSpPr>
        <p:spPr>
          <a:xfrm>
            <a:off x="1730656" y="1551612"/>
            <a:ext cx="6508797" cy="2096053"/>
          </a:xfrm>
          <a:prstGeom prst="rect">
            <a:avLst/>
          </a:prstGeom>
        </p:spPr>
        <p:txBody>
          <a:bodyPr lIns="0" tIns="0" rIns="0" bIns="0" rtlCol="0" anchor="t">
            <a:spAutoFit/>
          </a:bodyPr>
          <a:lstStyle/>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AWS RDS Proxy ~ 300 USD</a:t>
            </a:r>
          </a:p>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Monitoring:~ 200 USD</a:t>
            </a:r>
          </a:p>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AWS RDS (Multi-AZ, db.t3.micro): ~ 35 USD</a:t>
            </a:r>
          </a:p>
        </p:txBody>
      </p:sp>
      <p:sp>
        <p:nvSpPr>
          <p:cNvPr id="11" name="TextBox 11"/>
          <p:cNvSpPr txBox="1"/>
          <p:nvPr/>
        </p:nvSpPr>
        <p:spPr>
          <a:xfrm>
            <a:off x="9804424" y="1507700"/>
            <a:ext cx="6663489" cy="3143803"/>
          </a:xfrm>
          <a:prstGeom prst="rect">
            <a:avLst/>
          </a:prstGeom>
        </p:spPr>
        <p:txBody>
          <a:bodyPr lIns="0" tIns="0" rIns="0" bIns="0" rtlCol="0" anchor="t">
            <a:spAutoFit/>
          </a:bodyPr>
          <a:lstStyle/>
          <a:p>
            <a:pPr marL="642996" lvl="1" indent="-321498" algn="l">
              <a:lnSpc>
                <a:spcPts val="4169"/>
              </a:lnSpc>
              <a:spcBef>
                <a:spcPct val="0"/>
              </a:spcBef>
              <a:buFont typeface="Arial"/>
              <a:buChar char="•"/>
            </a:pPr>
            <a:r>
              <a:rPr lang="en-US" sz="2978">
                <a:solidFill>
                  <a:srgbClr val="194A8D"/>
                </a:solidFill>
                <a:latin typeface="Arimo"/>
                <a:ea typeface="Arimo"/>
                <a:cs typeface="Arimo"/>
                <a:sym typeface="Arimo"/>
              </a:rPr>
              <a:t>Ổn</a:t>
            </a:r>
            <a:r>
              <a:rPr lang="en-US" sz="2978" u="none" strike="noStrike">
                <a:solidFill>
                  <a:srgbClr val="194A8D"/>
                </a:solidFill>
                <a:latin typeface="Arimo"/>
                <a:ea typeface="Arimo"/>
                <a:cs typeface="Arimo"/>
                <a:sym typeface="Arimo"/>
              </a:rPr>
              <a:t> định hiệu suất hệ thống</a:t>
            </a:r>
          </a:p>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Rút ngắn thời gian phản hồi</a:t>
            </a:r>
          </a:p>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Tăng khả năng mở rộng</a:t>
            </a:r>
          </a:p>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Tối ưu thời gian failover</a:t>
            </a:r>
          </a:p>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Giảm gánh nặng vận hành.</a:t>
            </a:r>
          </a:p>
          <a:p>
            <a:pPr algn="l">
              <a:lnSpc>
                <a:spcPts val="4169"/>
              </a:lnSpc>
              <a:spcBef>
                <a:spcPct val="0"/>
              </a:spcBef>
            </a:pPr>
            <a:endParaRPr lang="en-US" sz="2978" u="none" strike="noStrike">
              <a:solidFill>
                <a:srgbClr val="194A8D"/>
              </a:solidFill>
              <a:latin typeface="Arimo"/>
              <a:ea typeface="Arimo"/>
              <a:cs typeface="Arimo"/>
              <a:sym typeface="Arimo"/>
            </a:endParaRPr>
          </a:p>
        </p:txBody>
      </p:sp>
      <p:grpSp>
        <p:nvGrpSpPr>
          <p:cNvPr id="12" name="Group 12"/>
          <p:cNvGrpSpPr/>
          <p:nvPr/>
        </p:nvGrpSpPr>
        <p:grpSpPr>
          <a:xfrm>
            <a:off x="2969830" y="5143500"/>
            <a:ext cx="12933602" cy="4421203"/>
            <a:chOff x="0" y="0"/>
            <a:chExt cx="3406381" cy="1164432"/>
          </a:xfrm>
        </p:grpSpPr>
        <p:sp>
          <p:nvSpPr>
            <p:cNvPr id="13" name="Freeform 13"/>
            <p:cNvSpPr/>
            <p:nvPr/>
          </p:nvSpPr>
          <p:spPr>
            <a:xfrm>
              <a:off x="0" y="0"/>
              <a:ext cx="3406381" cy="1164432"/>
            </a:xfrm>
            <a:custGeom>
              <a:avLst/>
              <a:gdLst/>
              <a:ahLst/>
              <a:cxnLst/>
              <a:rect l="l" t="t" r="r" b="b"/>
              <a:pathLst>
                <a:path w="3406381" h="1164432">
                  <a:moveTo>
                    <a:pt x="0" y="0"/>
                  </a:moveTo>
                  <a:lnTo>
                    <a:pt x="3406381" y="0"/>
                  </a:lnTo>
                  <a:lnTo>
                    <a:pt x="3406381" y="1164432"/>
                  </a:lnTo>
                  <a:lnTo>
                    <a:pt x="0" y="1164432"/>
                  </a:lnTo>
                  <a:close/>
                </a:path>
              </a:pathLst>
            </a:custGeom>
            <a:solidFill>
              <a:srgbClr val="FFFFFF"/>
            </a:solidFill>
          </p:spPr>
        </p:sp>
        <p:sp>
          <p:nvSpPr>
            <p:cNvPr id="14" name="TextBox 14"/>
            <p:cNvSpPr txBox="1"/>
            <p:nvPr/>
          </p:nvSpPr>
          <p:spPr>
            <a:xfrm>
              <a:off x="0" y="-47625"/>
              <a:ext cx="3406381" cy="1212057"/>
            </a:xfrm>
            <a:prstGeom prst="rect">
              <a:avLst/>
            </a:prstGeom>
          </p:spPr>
          <p:txBody>
            <a:bodyPr lIns="50800" tIns="50800" rIns="50800" bIns="50800" rtlCol="0" anchor="ctr"/>
            <a:lstStyle/>
            <a:p>
              <a:pPr algn="ctr">
                <a:lnSpc>
                  <a:spcPts val="2659"/>
                </a:lnSpc>
              </a:pPr>
              <a:endParaRPr/>
            </a:p>
          </p:txBody>
        </p:sp>
      </p:grpSp>
      <p:sp>
        <p:nvSpPr>
          <p:cNvPr id="15" name="TextBox 15"/>
          <p:cNvSpPr txBox="1"/>
          <p:nvPr/>
        </p:nvSpPr>
        <p:spPr>
          <a:xfrm>
            <a:off x="4005305" y="5264620"/>
            <a:ext cx="10862651" cy="1021184"/>
          </a:xfrm>
          <a:prstGeom prst="rect">
            <a:avLst/>
          </a:prstGeom>
        </p:spPr>
        <p:txBody>
          <a:bodyPr lIns="0" tIns="0" rIns="0" bIns="0" rtlCol="0" anchor="t">
            <a:spAutoFit/>
          </a:bodyPr>
          <a:lstStyle/>
          <a:p>
            <a:pPr algn="ctr">
              <a:lnSpc>
                <a:spcPts val="8633"/>
              </a:lnSpc>
              <a:spcBef>
                <a:spcPct val="0"/>
              </a:spcBef>
            </a:pPr>
            <a:r>
              <a:rPr lang="en-US" sz="4519" b="1" spc="451">
                <a:solidFill>
                  <a:srgbClr val="194A8D"/>
                </a:solidFill>
                <a:latin typeface="Arimo Bold"/>
                <a:ea typeface="Arimo Bold"/>
                <a:cs typeface="Arimo Bold"/>
                <a:sym typeface="Arimo Bold"/>
              </a:rPr>
              <a:t>Thời gian triển khai</a:t>
            </a:r>
          </a:p>
        </p:txBody>
      </p:sp>
      <p:sp>
        <p:nvSpPr>
          <p:cNvPr id="16" name="TextBox 16"/>
          <p:cNvSpPr txBox="1"/>
          <p:nvPr/>
        </p:nvSpPr>
        <p:spPr>
          <a:xfrm>
            <a:off x="3448037" y="6419154"/>
            <a:ext cx="11977187" cy="2619928"/>
          </a:xfrm>
          <a:prstGeom prst="rect">
            <a:avLst/>
          </a:prstGeom>
        </p:spPr>
        <p:txBody>
          <a:bodyPr lIns="0" tIns="0" rIns="0" bIns="0" rtlCol="0" anchor="t">
            <a:spAutoFit/>
          </a:bodyPr>
          <a:lstStyle/>
          <a:p>
            <a:pPr marL="642996" lvl="1" indent="-321498" algn="l">
              <a:lnSpc>
                <a:spcPts val="4169"/>
              </a:lnSpc>
              <a:spcBef>
                <a:spcPct val="0"/>
              </a:spcBef>
              <a:buFont typeface="Arial"/>
              <a:buChar char="•"/>
            </a:pPr>
            <a:r>
              <a:rPr lang="en-US" sz="2978">
                <a:solidFill>
                  <a:srgbClr val="194A8D"/>
                </a:solidFill>
                <a:latin typeface="Arimo"/>
                <a:ea typeface="Arimo"/>
                <a:cs typeface="Arimo"/>
                <a:sym typeface="Arimo"/>
              </a:rPr>
              <a:t> Tuần 1–2: Phân tích hiện trạng, cấu hình</a:t>
            </a:r>
            <a:r>
              <a:rPr lang="en-US" sz="2978" u="none" strike="noStrike">
                <a:solidFill>
                  <a:srgbClr val="194A8D"/>
                </a:solidFill>
                <a:latin typeface="Arimo"/>
                <a:ea typeface="Arimo"/>
                <a:cs typeface="Arimo"/>
                <a:sym typeface="Arimo"/>
              </a:rPr>
              <a:t> RDS Proxy và định nghĩa thông số kết nối</a:t>
            </a:r>
          </a:p>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 Tuần 3–4: Thiết lập test environment, benchmark và failover testing</a:t>
            </a:r>
          </a:p>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 Tuần 5–6: Triển khai production, giám sát và tối ưu sau triển khai</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grpSp>
        <p:nvGrpSpPr>
          <p:cNvPr id="2" name="Group 2"/>
          <p:cNvGrpSpPr/>
          <p:nvPr/>
        </p:nvGrpSpPr>
        <p:grpSpPr>
          <a:xfrm>
            <a:off x="1385236" y="0"/>
            <a:ext cx="7758764" cy="6337935"/>
            <a:chOff x="0" y="0"/>
            <a:chExt cx="1202036" cy="981912"/>
          </a:xfrm>
        </p:grpSpPr>
        <p:sp>
          <p:nvSpPr>
            <p:cNvPr id="3" name="Freeform 3"/>
            <p:cNvSpPr/>
            <p:nvPr/>
          </p:nvSpPr>
          <p:spPr>
            <a:xfrm>
              <a:off x="0" y="0"/>
              <a:ext cx="1202036" cy="981912"/>
            </a:xfrm>
            <a:custGeom>
              <a:avLst/>
              <a:gdLst/>
              <a:ahLst/>
              <a:cxnLst/>
              <a:rect l="l" t="t" r="r" b="b"/>
              <a:pathLst>
                <a:path w="1202036" h="981912">
                  <a:moveTo>
                    <a:pt x="0" y="0"/>
                  </a:moveTo>
                  <a:lnTo>
                    <a:pt x="1202036" y="0"/>
                  </a:lnTo>
                  <a:lnTo>
                    <a:pt x="1202036" y="981912"/>
                  </a:lnTo>
                  <a:lnTo>
                    <a:pt x="0" y="981912"/>
                  </a:lnTo>
                  <a:close/>
                </a:path>
              </a:pathLst>
            </a:custGeom>
            <a:blipFill>
              <a:blip r:embed="rId2"/>
              <a:stretch>
                <a:fillRect l="-11303" r="-11303"/>
              </a:stretch>
            </a:blipFill>
          </p:spPr>
        </p:sp>
      </p:grpSp>
      <p:grpSp>
        <p:nvGrpSpPr>
          <p:cNvPr id="4" name="Group 4"/>
          <p:cNvGrpSpPr/>
          <p:nvPr/>
        </p:nvGrpSpPr>
        <p:grpSpPr>
          <a:xfrm>
            <a:off x="9297026" y="622039"/>
            <a:ext cx="8990974" cy="2573465"/>
            <a:chOff x="0" y="0"/>
            <a:chExt cx="2186727" cy="625902"/>
          </a:xfrm>
        </p:grpSpPr>
        <p:sp>
          <p:nvSpPr>
            <p:cNvPr id="5" name="Freeform 5"/>
            <p:cNvSpPr/>
            <p:nvPr/>
          </p:nvSpPr>
          <p:spPr>
            <a:xfrm>
              <a:off x="0" y="0"/>
              <a:ext cx="2186727" cy="625902"/>
            </a:xfrm>
            <a:custGeom>
              <a:avLst/>
              <a:gdLst/>
              <a:ahLst/>
              <a:cxnLst/>
              <a:rect l="l" t="t" r="r" b="b"/>
              <a:pathLst>
                <a:path w="2186727" h="625902">
                  <a:moveTo>
                    <a:pt x="0" y="0"/>
                  </a:moveTo>
                  <a:lnTo>
                    <a:pt x="2186727" y="0"/>
                  </a:lnTo>
                  <a:lnTo>
                    <a:pt x="2186727" y="625902"/>
                  </a:lnTo>
                  <a:lnTo>
                    <a:pt x="0" y="625902"/>
                  </a:lnTo>
                  <a:close/>
                </a:path>
              </a:pathLst>
            </a:custGeom>
            <a:solidFill>
              <a:srgbClr val="FFFFFF"/>
            </a:solidFill>
          </p:spPr>
        </p:sp>
        <p:sp>
          <p:nvSpPr>
            <p:cNvPr id="6" name="TextBox 6"/>
            <p:cNvSpPr txBox="1"/>
            <p:nvPr/>
          </p:nvSpPr>
          <p:spPr>
            <a:xfrm>
              <a:off x="0" y="-47625"/>
              <a:ext cx="2186727" cy="673527"/>
            </a:xfrm>
            <a:prstGeom prst="rect">
              <a:avLst/>
            </a:prstGeom>
          </p:spPr>
          <p:txBody>
            <a:bodyPr lIns="50800" tIns="50800" rIns="50800" bIns="50800" rtlCol="0" anchor="ctr"/>
            <a:lstStyle/>
            <a:p>
              <a:pPr algn="ctr">
                <a:lnSpc>
                  <a:spcPts val="2659"/>
                </a:lnSpc>
              </a:pPr>
              <a:endParaRPr/>
            </a:p>
          </p:txBody>
        </p:sp>
      </p:grpSp>
      <p:grpSp>
        <p:nvGrpSpPr>
          <p:cNvPr id="7" name="Group 7"/>
          <p:cNvGrpSpPr/>
          <p:nvPr/>
        </p:nvGrpSpPr>
        <p:grpSpPr>
          <a:xfrm>
            <a:off x="9297026" y="3633654"/>
            <a:ext cx="8990974" cy="2543284"/>
            <a:chOff x="0" y="0"/>
            <a:chExt cx="2186727" cy="618561"/>
          </a:xfrm>
        </p:grpSpPr>
        <p:sp>
          <p:nvSpPr>
            <p:cNvPr id="8" name="Freeform 8"/>
            <p:cNvSpPr/>
            <p:nvPr/>
          </p:nvSpPr>
          <p:spPr>
            <a:xfrm>
              <a:off x="0" y="0"/>
              <a:ext cx="2186727" cy="618561"/>
            </a:xfrm>
            <a:custGeom>
              <a:avLst/>
              <a:gdLst/>
              <a:ahLst/>
              <a:cxnLst/>
              <a:rect l="l" t="t" r="r" b="b"/>
              <a:pathLst>
                <a:path w="2186727" h="618561">
                  <a:moveTo>
                    <a:pt x="0" y="0"/>
                  </a:moveTo>
                  <a:lnTo>
                    <a:pt x="2186727" y="0"/>
                  </a:lnTo>
                  <a:lnTo>
                    <a:pt x="2186727" y="618561"/>
                  </a:lnTo>
                  <a:lnTo>
                    <a:pt x="0" y="618561"/>
                  </a:lnTo>
                  <a:close/>
                </a:path>
              </a:pathLst>
            </a:custGeom>
            <a:solidFill>
              <a:srgbClr val="FFFFFF"/>
            </a:solidFill>
          </p:spPr>
        </p:sp>
        <p:sp>
          <p:nvSpPr>
            <p:cNvPr id="9" name="TextBox 9"/>
            <p:cNvSpPr txBox="1"/>
            <p:nvPr/>
          </p:nvSpPr>
          <p:spPr>
            <a:xfrm>
              <a:off x="0" y="-47625"/>
              <a:ext cx="2186727" cy="666186"/>
            </a:xfrm>
            <a:prstGeom prst="rect">
              <a:avLst/>
            </a:prstGeom>
          </p:spPr>
          <p:txBody>
            <a:bodyPr lIns="50800" tIns="50800" rIns="50800" bIns="50800" rtlCol="0" anchor="ctr"/>
            <a:lstStyle/>
            <a:p>
              <a:pPr algn="ctr">
                <a:lnSpc>
                  <a:spcPts val="2659"/>
                </a:lnSpc>
              </a:pPr>
              <a:endParaRPr/>
            </a:p>
          </p:txBody>
        </p:sp>
      </p:grpSp>
      <p:grpSp>
        <p:nvGrpSpPr>
          <p:cNvPr id="10" name="Group 10"/>
          <p:cNvGrpSpPr/>
          <p:nvPr/>
        </p:nvGrpSpPr>
        <p:grpSpPr>
          <a:xfrm>
            <a:off x="9297026" y="6476027"/>
            <a:ext cx="8990974" cy="2653686"/>
            <a:chOff x="0" y="0"/>
            <a:chExt cx="2186727" cy="645412"/>
          </a:xfrm>
        </p:grpSpPr>
        <p:sp>
          <p:nvSpPr>
            <p:cNvPr id="11" name="Freeform 11"/>
            <p:cNvSpPr/>
            <p:nvPr/>
          </p:nvSpPr>
          <p:spPr>
            <a:xfrm>
              <a:off x="0" y="0"/>
              <a:ext cx="2186727" cy="645412"/>
            </a:xfrm>
            <a:custGeom>
              <a:avLst/>
              <a:gdLst/>
              <a:ahLst/>
              <a:cxnLst/>
              <a:rect l="l" t="t" r="r" b="b"/>
              <a:pathLst>
                <a:path w="2186727" h="645412">
                  <a:moveTo>
                    <a:pt x="0" y="0"/>
                  </a:moveTo>
                  <a:lnTo>
                    <a:pt x="2186727" y="0"/>
                  </a:lnTo>
                  <a:lnTo>
                    <a:pt x="2186727" y="645412"/>
                  </a:lnTo>
                  <a:lnTo>
                    <a:pt x="0" y="645412"/>
                  </a:lnTo>
                  <a:close/>
                </a:path>
              </a:pathLst>
            </a:custGeom>
            <a:solidFill>
              <a:srgbClr val="FFFFFF"/>
            </a:solidFill>
          </p:spPr>
        </p:sp>
        <p:sp>
          <p:nvSpPr>
            <p:cNvPr id="12" name="TextBox 12"/>
            <p:cNvSpPr txBox="1"/>
            <p:nvPr/>
          </p:nvSpPr>
          <p:spPr>
            <a:xfrm>
              <a:off x="0" y="-47625"/>
              <a:ext cx="2186727" cy="693037"/>
            </a:xfrm>
            <a:prstGeom prst="rect">
              <a:avLst/>
            </a:prstGeom>
          </p:spPr>
          <p:txBody>
            <a:bodyPr lIns="50800" tIns="50800" rIns="50800" bIns="50800" rtlCol="0" anchor="ctr"/>
            <a:lstStyle/>
            <a:p>
              <a:pPr algn="ctr">
                <a:lnSpc>
                  <a:spcPts val="2659"/>
                </a:lnSpc>
              </a:pPr>
              <a:endParaRPr/>
            </a:p>
          </p:txBody>
        </p:sp>
      </p:grpSp>
      <p:grpSp>
        <p:nvGrpSpPr>
          <p:cNvPr id="13" name="Group 13"/>
          <p:cNvGrpSpPr/>
          <p:nvPr/>
        </p:nvGrpSpPr>
        <p:grpSpPr>
          <a:xfrm>
            <a:off x="9571018" y="729598"/>
            <a:ext cx="2342742" cy="1769711"/>
            <a:chOff x="0" y="0"/>
            <a:chExt cx="569787" cy="430418"/>
          </a:xfrm>
        </p:grpSpPr>
        <p:sp>
          <p:nvSpPr>
            <p:cNvPr id="14" name="Freeform 14"/>
            <p:cNvSpPr/>
            <p:nvPr/>
          </p:nvSpPr>
          <p:spPr>
            <a:xfrm>
              <a:off x="0" y="0"/>
              <a:ext cx="569787" cy="430418"/>
            </a:xfrm>
            <a:custGeom>
              <a:avLst/>
              <a:gdLst/>
              <a:ahLst/>
              <a:cxnLst/>
              <a:rect l="l" t="t" r="r" b="b"/>
              <a:pathLst>
                <a:path w="569787" h="430418">
                  <a:moveTo>
                    <a:pt x="0" y="0"/>
                  </a:moveTo>
                  <a:lnTo>
                    <a:pt x="569787" y="0"/>
                  </a:lnTo>
                  <a:lnTo>
                    <a:pt x="569787" y="430418"/>
                  </a:lnTo>
                  <a:lnTo>
                    <a:pt x="0" y="430418"/>
                  </a:lnTo>
                  <a:close/>
                </a:path>
              </a:pathLst>
            </a:custGeom>
            <a:gradFill rotWithShape="1">
              <a:gsLst>
                <a:gs pos="0">
                  <a:srgbClr val="4874B0">
                    <a:alpha val="100000"/>
                  </a:srgbClr>
                </a:gs>
                <a:gs pos="100000">
                  <a:srgbClr val="053371">
                    <a:alpha val="100000"/>
                  </a:srgbClr>
                </a:gs>
              </a:gsLst>
              <a:path path="circle">
                <a:fillToRect r="100000" b="100000"/>
              </a:path>
              <a:tileRect l="-100000" t="-100000"/>
            </a:gradFill>
          </p:spPr>
        </p:sp>
        <p:sp>
          <p:nvSpPr>
            <p:cNvPr id="15" name="TextBox 15"/>
            <p:cNvSpPr txBox="1"/>
            <p:nvPr/>
          </p:nvSpPr>
          <p:spPr>
            <a:xfrm>
              <a:off x="0" y="-47625"/>
              <a:ext cx="569787" cy="478043"/>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9587075" y="3840713"/>
            <a:ext cx="2342742" cy="1769711"/>
            <a:chOff x="0" y="0"/>
            <a:chExt cx="569787" cy="430418"/>
          </a:xfrm>
        </p:grpSpPr>
        <p:sp>
          <p:nvSpPr>
            <p:cNvPr id="17" name="Freeform 17"/>
            <p:cNvSpPr/>
            <p:nvPr/>
          </p:nvSpPr>
          <p:spPr>
            <a:xfrm>
              <a:off x="0" y="0"/>
              <a:ext cx="569787" cy="430418"/>
            </a:xfrm>
            <a:custGeom>
              <a:avLst/>
              <a:gdLst/>
              <a:ahLst/>
              <a:cxnLst/>
              <a:rect l="l" t="t" r="r" b="b"/>
              <a:pathLst>
                <a:path w="569787" h="430418">
                  <a:moveTo>
                    <a:pt x="0" y="0"/>
                  </a:moveTo>
                  <a:lnTo>
                    <a:pt x="569787" y="0"/>
                  </a:lnTo>
                  <a:lnTo>
                    <a:pt x="569787" y="430418"/>
                  </a:lnTo>
                  <a:lnTo>
                    <a:pt x="0" y="430418"/>
                  </a:lnTo>
                  <a:close/>
                </a:path>
              </a:pathLst>
            </a:custGeom>
            <a:gradFill rotWithShape="1">
              <a:gsLst>
                <a:gs pos="0">
                  <a:srgbClr val="4874B0">
                    <a:alpha val="100000"/>
                  </a:srgbClr>
                </a:gs>
                <a:gs pos="100000">
                  <a:srgbClr val="053371">
                    <a:alpha val="100000"/>
                  </a:srgbClr>
                </a:gs>
              </a:gsLst>
              <a:path path="circle">
                <a:fillToRect r="100000" b="100000"/>
              </a:path>
              <a:tileRect l="-100000" t="-100000"/>
            </a:gradFill>
          </p:spPr>
        </p:sp>
        <p:sp>
          <p:nvSpPr>
            <p:cNvPr id="18" name="TextBox 18"/>
            <p:cNvSpPr txBox="1"/>
            <p:nvPr/>
          </p:nvSpPr>
          <p:spPr>
            <a:xfrm>
              <a:off x="0" y="-47625"/>
              <a:ext cx="569787" cy="478043"/>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9587075" y="6685577"/>
            <a:ext cx="2342742" cy="1769711"/>
            <a:chOff x="0" y="0"/>
            <a:chExt cx="569787" cy="430418"/>
          </a:xfrm>
        </p:grpSpPr>
        <p:sp>
          <p:nvSpPr>
            <p:cNvPr id="20" name="Freeform 20"/>
            <p:cNvSpPr/>
            <p:nvPr/>
          </p:nvSpPr>
          <p:spPr>
            <a:xfrm>
              <a:off x="0" y="0"/>
              <a:ext cx="569787" cy="430418"/>
            </a:xfrm>
            <a:custGeom>
              <a:avLst/>
              <a:gdLst/>
              <a:ahLst/>
              <a:cxnLst/>
              <a:rect l="l" t="t" r="r" b="b"/>
              <a:pathLst>
                <a:path w="569787" h="430418">
                  <a:moveTo>
                    <a:pt x="0" y="0"/>
                  </a:moveTo>
                  <a:lnTo>
                    <a:pt x="569787" y="0"/>
                  </a:lnTo>
                  <a:lnTo>
                    <a:pt x="569787" y="430418"/>
                  </a:lnTo>
                  <a:lnTo>
                    <a:pt x="0" y="430418"/>
                  </a:lnTo>
                  <a:close/>
                </a:path>
              </a:pathLst>
            </a:custGeom>
            <a:gradFill rotWithShape="1">
              <a:gsLst>
                <a:gs pos="0">
                  <a:srgbClr val="4874B0">
                    <a:alpha val="100000"/>
                  </a:srgbClr>
                </a:gs>
                <a:gs pos="100000">
                  <a:srgbClr val="053371">
                    <a:alpha val="100000"/>
                  </a:srgbClr>
                </a:gs>
              </a:gsLst>
              <a:path path="circle">
                <a:fillToRect r="100000" b="100000"/>
              </a:path>
              <a:tileRect l="-100000" t="-100000"/>
            </a:gradFill>
          </p:spPr>
        </p:sp>
        <p:sp>
          <p:nvSpPr>
            <p:cNvPr id="21" name="TextBox 21"/>
            <p:cNvSpPr txBox="1"/>
            <p:nvPr/>
          </p:nvSpPr>
          <p:spPr>
            <a:xfrm>
              <a:off x="0" y="-47625"/>
              <a:ext cx="569787" cy="478043"/>
            </a:xfrm>
            <a:prstGeom prst="rect">
              <a:avLst/>
            </a:prstGeom>
          </p:spPr>
          <p:txBody>
            <a:bodyPr lIns="50800" tIns="50800" rIns="50800" bIns="50800" rtlCol="0" anchor="ctr"/>
            <a:lstStyle/>
            <a:p>
              <a:pPr algn="ctr">
                <a:lnSpc>
                  <a:spcPts val="2659"/>
                </a:lnSpc>
              </a:pPr>
              <a:endParaRPr/>
            </a:p>
          </p:txBody>
        </p:sp>
      </p:grpSp>
      <p:sp>
        <p:nvSpPr>
          <p:cNvPr id="22" name="Freeform 22"/>
          <p:cNvSpPr/>
          <p:nvPr/>
        </p:nvSpPr>
        <p:spPr>
          <a:xfrm>
            <a:off x="9921539" y="876246"/>
            <a:ext cx="1641701" cy="1349180"/>
          </a:xfrm>
          <a:custGeom>
            <a:avLst/>
            <a:gdLst/>
            <a:ahLst/>
            <a:cxnLst/>
            <a:rect l="l" t="t" r="r" b="b"/>
            <a:pathLst>
              <a:path w="1641701" h="1349180">
                <a:moveTo>
                  <a:pt x="0" y="0"/>
                </a:moveTo>
                <a:lnTo>
                  <a:pt x="1641701" y="0"/>
                </a:lnTo>
                <a:lnTo>
                  <a:pt x="1641701" y="1349180"/>
                </a:lnTo>
                <a:lnTo>
                  <a:pt x="0" y="134918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3" name="Freeform 23"/>
          <p:cNvSpPr/>
          <p:nvPr/>
        </p:nvSpPr>
        <p:spPr>
          <a:xfrm>
            <a:off x="9981994" y="3969320"/>
            <a:ext cx="1520792" cy="1512496"/>
          </a:xfrm>
          <a:custGeom>
            <a:avLst/>
            <a:gdLst/>
            <a:ahLst/>
            <a:cxnLst/>
            <a:rect l="l" t="t" r="r" b="b"/>
            <a:pathLst>
              <a:path w="1520792" h="1512496">
                <a:moveTo>
                  <a:pt x="0" y="0"/>
                </a:moveTo>
                <a:lnTo>
                  <a:pt x="1520791" y="0"/>
                </a:lnTo>
                <a:lnTo>
                  <a:pt x="1520791" y="1512496"/>
                </a:lnTo>
                <a:lnTo>
                  <a:pt x="0" y="1512496"/>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24" name="Freeform 24"/>
          <p:cNvSpPr/>
          <p:nvPr/>
        </p:nvSpPr>
        <p:spPr>
          <a:xfrm>
            <a:off x="10014108" y="6809402"/>
            <a:ext cx="1488678" cy="1475144"/>
          </a:xfrm>
          <a:custGeom>
            <a:avLst/>
            <a:gdLst/>
            <a:ahLst/>
            <a:cxnLst/>
            <a:rect l="l" t="t" r="r" b="b"/>
            <a:pathLst>
              <a:path w="1488678" h="1475144">
                <a:moveTo>
                  <a:pt x="0" y="0"/>
                </a:moveTo>
                <a:lnTo>
                  <a:pt x="1488677" y="0"/>
                </a:lnTo>
                <a:lnTo>
                  <a:pt x="1488677" y="1475144"/>
                </a:lnTo>
                <a:lnTo>
                  <a:pt x="0" y="1475144"/>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25" name="TextBox 25"/>
          <p:cNvSpPr txBox="1"/>
          <p:nvPr/>
        </p:nvSpPr>
        <p:spPr>
          <a:xfrm>
            <a:off x="1385236" y="7574829"/>
            <a:ext cx="8933519" cy="1135783"/>
          </a:xfrm>
          <a:prstGeom prst="rect">
            <a:avLst/>
          </a:prstGeom>
        </p:spPr>
        <p:txBody>
          <a:bodyPr lIns="0" tIns="0" rIns="0" bIns="0" rtlCol="0" anchor="t">
            <a:spAutoFit/>
          </a:bodyPr>
          <a:lstStyle/>
          <a:p>
            <a:pPr algn="l">
              <a:lnSpc>
                <a:spcPts val="8655"/>
              </a:lnSpc>
            </a:pPr>
            <a:r>
              <a:rPr lang="en-US" sz="8165" spc="816">
                <a:solidFill>
                  <a:srgbClr val="FFFFFF"/>
                </a:solidFill>
                <a:latin typeface="League Spartan"/>
                <a:ea typeface="League Spartan"/>
                <a:cs typeface="League Spartan"/>
                <a:sym typeface="League Spartan"/>
              </a:rPr>
              <a:t>VẤN ĐỀ</a:t>
            </a:r>
          </a:p>
        </p:txBody>
      </p:sp>
      <p:sp>
        <p:nvSpPr>
          <p:cNvPr id="26" name="TextBox 26"/>
          <p:cNvSpPr txBox="1"/>
          <p:nvPr/>
        </p:nvSpPr>
        <p:spPr>
          <a:xfrm>
            <a:off x="12340781" y="730043"/>
            <a:ext cx="5583583" cy="2202789"/>
          </a:xfrm>
          <a:prstGeom prst="rect">
            <a:avLst/>
          </a:prstGeom>
        </p:spPr>
        <p:txBody>
          <a:bodyPr lIns="0" tIns="0" rIns="0" bIns="0" rtlCol="0" anchor="t">
            <a:spAutoFit/>
          </a:bodyPr>
          <a:lstStyle/>
          <a:p>
            <a:pPr marL="383446" lvl="1" indent="-191723" algn="l">
              <a:lnSpc>
                <a:spcPts val="2486"/>
              </a:lnSpc>
              <a:buFont typeface="Arial"/>
              <a:buChar char="•"/>
            </a:pPr>
            <a:r>
              <a:rPr lang="en-US" sz="1776">
                <a:solidFill>
                  <a:srgbClr val="194A8D"/>
                </a:solidFill>
                <a:latin typeface="Arimo"/>
                <a:ea typeface="Arimo"/>
                <a:cs typeface="Arimo"/>
                <a:sym typeface="Arimo"/>
              </a:rPr>
              <a:t>Hiện tại hệ thống cơ sở dữ liệu đang sử dụng mô hình kết nối trực tiếp với các vấn đề nghiêm trọng</a:t>
            </a:r>
          </a:p>
          <a:p>
            <a:pPr marL="383446" lvl="1" indent="-191723" algn="l">
              <a:lnSpc>
                <a:spcPts val="2486"/>
              </a:lnSpc>
              <a:buFont typeface="Arial"/>
              <a:buChar char="•"/>
            </a:pPr>
            <a:r>
              <a:rPr lang="en-US" sz="1776">
                <a:solidFill>
                  <a:srgbClr val="194A8D"/>
                </a:solidFill>
                <a:latin typeface="Arimo"/>
                <a:ea typeface="Arimo"/>
                <a:cs typeface="Arimo"/>
                <a:sym typeface="Arimo"/>
              </a:rPr>
              <a:t>Quá nhiều kết nối mở cùng lúc gây lỗi Too many connections.</a:t>
            </a:r>
          </a:p>
          <a:p>
            <a:pPr marL="383446" lvl="1" indent="-191723" algn="l">
              <a:lnSpc>
                <a:spcPts val="2486"/>
              </a:lnSpc>
              <a:buFont typeface="Arial"/>
              <a:buChar char="•"/>
            </a:pPr>
            <a:r>
              <a:rPr lang="en-US" sz="1776">
                <a:solidFill>
                  <a:srgbClr val="194A8D"/>
                </a:solidFill>
                <a:latin typeface="Arimo"/>
                <a:ea typeface="Arimo"/>
                <a:cs typeface="Arimo"/>
                <a:sym typeface="Arimo"/>
              </a:rPr>
              <a:t>Dữ liệu ghi chậm hoặc phản hồi timeout.</a:t>
            </a:r>
          </a:p>
          <a:p>
            <a:pPr marL="383446" lvl="1" indent="-191723" algn="l">
              <a:lnSpc>
                <a:spcPts val="2486"/>
              </a:lnSpc>
              <a:buFont typeface="Arial"/>
              <a:buChar char="•"/>
            </a:pPr>
            <a:r>
              <a:rPr lang="en-US" sz="1776">
                <a:solidFill>
                  <a:srgbClr val="194A8D"/>
                </a:solidFill>
                <a:latin typeface="Arimo"/>
                <a:ea typeface="Arimo"/>
                <a:cs typeface="Arimo"/>
                <a:sym typeface="Arimo"/>
              </a:rPr>
              <a:t>Khi DB primary fail, client mất nhiều thời gian reconnect</a:t>
            </a:r>
          </a:p>
        </p:txBody>
      </p:sp>
      <p:sp>
        <p:nvSpPr>
          <p:cNvPr id="27" name="TextBox 27"/>
          <p:cNvSpPr txBox="1"/>
          <p:nvPr/>
        </p:nvSpPr>
        <p:spPr>
          <a:xfrm>
            <a:off x="12377492" y="4161537"/>
            <a:ext cx="5583583" cy="1259814"/>
          </a:xfrm>
          <a:prstGeom prst="rect">
            <a:avLst/>
          </a:prstGeom>
        </p:spPr>
        <p:txBody>
          <a:bodyPr lIns="0" tIns="0" rIns="0" bIns="0" rtlCol="0" anchor="t">
            <a:spAutoFit/>
          </a:bodyPr>
          <a:lstStyle/>
          <a:p>
            <a:pPr marL="383446" lvl="1" indent="-191723" algn="l">
              <a:lnSpc>
                <a:spcPts val="2486"/>
              </a:lnSpc>
              <a:buFont typeface="Arial"/>
              <a:buChar char="•"/>
            </a:pPr>
            <a:r>
              <a:rPr lang="en-US" sz="1776">
                <a:solidFill>
                  <a:srgbClr val="194A8D"/>
                </a:solidFill>
                <a:latin typeface="Arimo"/>
                <a:ea typeface="Arimo"/>
                <a:cs typeface="Arimo"/>
                <a:sym typeface="Arimo"/>
              </a:rPr>
              <a:t> Độ trễ phản hồi tăng 2-3 lần trong giờ cao điểm.</a:t>
            </a:r>
          </a:p>
          <a:p>
            <a:pPr marL="383446" lvl="1" indent="-191723" algn="l">
              <a:lnSpc>
                <a:spcPts val="2486"/>
              </a:lnSpc>
              <a:buFont typeface="Arial"/>
              <a:buChar char="•"/>
            </a:pPr>
            <a:r>
              <a:rPr lang="en-US" sz="1776">
                <a:solidFill>
                  <a:srgbClr val="194A8D"/>
                </a:solidFill>
                <a:latin typeface="Arimo"/>
                <a:ea typeface="Arimo"/>
                <a:cs typeface="Arimo"/>
                <a:sym typeface="Arimo"/>
              </a:rPr>
              <a:t> Tỷ lệ lỗi tăng lên 12% khi xảy ra failover.</a:t>
            </a:r>
          </a:p>
          <a:p>
            <a:pPr marL="383446" lvl="1" indent="-191723" algn="l">
              <a:lnSpc>
                <a:spcPts val="2486"/>
              </a:lnSpc>
              <a:buFont typeface="Arial"/>
              <a:buChar char="•"/>
            </a:pPr>
            <a:r>
              <a:rPr lang="en-US" sz="1776">
                <a:solidFill>
                  <a:srgbClr val="194A8D"/>
                </a:solidFill>
                <a:latin typeface="Arimo"/>
                <a:ea typeface="Arimo"/>
                <a:cs typeface="Arimo"/>
                <a:sym typeface="Arimo"/>
              </a:rPr>
              <a:t> Tốn chi phí dư thừa cho việc nâng cấp RDS do không tái sử dụng được kết nối hiệu quả.</a:t>
            </a:r>
          </a:p>
        </p:txBody>
      </p:sp>
      <p:sp>
        <p:nvSpPr>
          <p:cNvPr id="28" name="TextBox 28"/>
          <p:cNvSpPr txBox="1"/>
          <p:nvPr/>
        </p:nvSpPr>
        <p:spPr>
          <a:xfrm>
            <a:off x="12340781" y="6761777"/>
            <a:ext cx="4953302" cy="1888464"/>
          </a:xfrm>
          <a:prstGeom prst="rect">
            <a:avLst/>
          </a:prstGeom>
        </p:spPr>
        <p:txBody>
          <a:bodyPr lIns="0" tIns="0" rIns="0" bIns="0" rtlCol="0" anchor="t">
            <a:spAutoFit/>
          </a:bodyPr>
          <a:lstStyle/>
          <a:p>
            <a:pPr marL="383446" lvl="1" indent="-191723" algn="l">
              <a:lnSpc>
                <a:spcPts val="2486"/>
              </a:lnSpc>
              <a:buFont typeface="Arial"/>
              <a:buChar char="•"/>
            </a:pPr>
            <a:r>
              <a:rPr lang="en-US" sz="1776">
                <a:solidFill>
                  <a:srgbClr val="194A8D"/>
                </a:solidFill>
                <a:latin typeface="Arimo"/>
                <a:ea typeface="Arimo"/>
                <a:cs typeface="Arimo"/>
                <a:sym typeface="Arimo"/>
              </a:rPr>
              <a:t>Nghẽn kết nối DB ở giờ cao điểm</a:t>
            </a:r>
          </a:p>
          <a:p>
            <a:pPr marL="383446" lvl="1" indent="-191723" algn="l">
              <a:lnSpc>
                <a:spcPts val="2486"/>
              </a:lnSpc>
              <a:buFont typeface="Arial"/>
              <a:buChar char="•"/>
            </a:pPr>
            <a:r>
              <a:rPr lang="en-US" sz="1776">
                <a:solidFill>
                  <a:srgbClr val="194A8D"/>
                </a:solidFill>
                <a:latin typeface="Arimo"/>
                <a:ea typeface="Arimo"/>
                <a:cs typeface="Arimo"/>
                <a:sym typeface="Arimo"/>
              </a:rPr>
              <a:t>Tăng chi phí vận hành không cần thiết</a:t>
            </a:r>
          </a:p>
          <a:p>
            <a:pPr marL="383446" lvl="1" indent="-191723" algn="l">
              <a:lnSpc>
                <a:spcPts val="2486"/>
              </a:lnSpc>
              <a:buFont typeface="Arial"/>
              <a:buChar char="•"/>
            </a:pPr>
            <a:r>
              <a:rPr lang="en-US" sz="1776">
                <a:solidFill>
                  <a:srgbClr val="194A8D"/>
                </a:solidFill>
                <a:latin typeface="Arimo"/>
                <a:ea typeface="Arimo"/>
                <a:cs typeface="Arimo"/>
                <a:sym typeface="Arimo"/>
              </a:rPr>
              <a:t>Thời gian chuyển đổi DB khi sự cố xảy ra kéo dài</a:t>
            </a:r>
          </a:p>
          <a:p>
            <a:pPr marL="383446" lvl="1" indent="-191723" algn="l">
              <a:lnSpc>
                <a:spcPts val="2486"/>
              </a:lnSpc>
              <a:buFont typeface="Arial"/>
              <a:buChar char="•"/>
            </a:pPr>
            <a:r>
              <a:rPr lang="en-US" sz="1776">
                <a:solidFill>
                  <a:srgbClr val="194A8D"/>
                </a:solidFill>
                <a:latin typeface="Arimo"/>
                <a:ea typeface="Arimo"/>
                <a:cs typeface="Arimo"/>
                <a:sym typeface="Arimo"/>
              </a:rPr>
              <a:t>Khó giám sát &amp; xử lý sự cố kịp thời</a:t>
            </a:r>
          </a:p>
          <a:p>
            <a:pPr marL="383446" lvl="1" indent="-191723" algn="l">
              <a:lnSpc>
                <a:spcPts val="2486"/>
              </a:lnSpc>
              <a:buFont typeface="Arial"/>
              <a:buChar char="•"/>
            </a:pPr>
            <a:r>
              <a:rPr lang="en-US" sz="1776">
                <a:solidFill>
                  <a:srgbClr val="194A8D"/>
                </a:solidFill>
                <a:latin typeface="Arimo"/>
                <a:ea typeface="Arimo"/>
                <a:cs typeface="Arimo"/>
                <a:sym typeface="Arimo"/>
              </a:rPr>
              <a:t>Ảnh hưởng đến tăng trưởng và uy tín dịch vụ</a:t>
            </a:r>
          </a:p>
        </p:txBody>
      </p:sp>
      <p:sp>
        <p:nvSpPr>
          <p:cNvPr id="29" name="TextBox 29"/>
          <p:cNvSpPr txBox="1"/>
          <p:nvPr/>
        </p:nvSpPr>
        <p:spPr>
          <a:xfrm>
            <a:off x="9627596" y="2615993"/>
            <a:ext cx="2229587" cy="316839"/>
          </a:xfrm>
          <a:prstGeom prst="rect">
            <a:avLst/>
          </a:prstGeom>
        </p:spPr>
        <p:txBody>
          <a:bodyPr lIns="0" tIns="0" rIns="0" bIns="0" rtlCol="0" anchor="t">
            <a:spAutoFit/>
          </a:bodyPr>
          <a:lstStyle/>
          <a:p>
            <a:pPr algn="ctr">
              <a:lnSpc>
                <a:spcPts val="2486"/>
              </a:lnSpc>
              <a:spcBef>
                <a:spcPct val="0"/>
              </a:spcBef>
            </a:pPr>
            <a:r>
              <a:rPr lang="en-US" sz="1776">
                <a:solidFill>
                  <a:srgbClr val="194A8D"/>
                </a:solidFill>
                <a:latin typeface="Arimo"/>
                <a:ea typeface="Arimo"/>
                <a:cs typeface="Arimo"/>
                <a:sym typeface="Arimo"/>
              </a:rPr>
              <a:t>Tình hình hiện tại</a:t>
            </a:r>
          </a:p>
        </p:txBody>
      </p:sp>
      <p:sp>
        <p:nvSpPr>
          <p:cNvPr id="30" name="TextBox 30"/>
          <p:cNvSpPr txBox="1"/>
          <p:nvPr/>
        </p:nvSpPr>
        <p:spPr>
          <a:xfrm>
            <a:off x="9684173" y="5680020"/>
            <a:ext cx="2229587" cy="316839"/>
          </a:xfrm>
          <a:prstGeom prst="rect">
            <a:avLst/>
          </a:prstGeom>
        </p:spPr>
        <p:txBody>
          <a:bodyPr lIns="0" tIns="0" rIns="0" bIns="0" rtlCol="0" anchor="t">
            <a:spAutoFit/>
          </a:bodyPr>
          <a:lstStyle/>
          <a:p>
            <a:pPr algn="ctr">
              <a:lnSpc>
                <a:spcPts val="2486"/>
              </a:lnSpc>
              <a:spcBef>
                <a:spcPct val="0"/>
              </a:spcBef>
            </a:pPr>
            <a:r>
              <a:rPr lang="en-US" sz="1776">
                <a:solidFill>
                  <a:srgbClr val="194A8D"/>
                </a:solidFill>
                <a:latin typeface="Arimo"/>
                <a:ea typeface="Arimo"/>
                <a:cs typeface="Arimo"/>
                <a:sym typeface="Arimo"/>
              </a:rPr>
              <a:t>Những vấn đề cốt lõi</a:t>
            </a:r>
          </a:p>
        </p:txBody>
      </p:sp>
      <p:sp>
        <p:nvSpPr>
          <p:cNvPr id="31" name="TextBox 31"/>
          <p:cNvSpPr txBox="1"/>
          <p:nvPr/>
        </p:nvSpPr>
        <p:spPr>
          <a:xfrm>
            <a:off x="9700230" y="8528381"/>
            <a:ext cx="2229587" cy="316839"/>
          </a:xfrm>
          <a:prstGeom prst="rect">
            <a:avLst/>
          </a:prstGeom>
        </p:spPr>
        <p:txBody>
          <a:bodyPr lIns="0" tIns="0" rIns="0" bIns="0" rtlCol="0" anchor="t">
            <a:spAutoFit/>
          </a:bodyPr>
          <a:lstStyle/>
          <a:p>
            <a:pPr algn="ctr">
              <a:lnSpc>
                <a:spcPts val="2486"/>
              </a:lnSpc>
              <a:spcBef>
                <a:spcPct val="0"/>
              </a:spcBef>
            </a:pPr>
            <a:r>
              <a:rPr lang="en-US" sz="1776">
                <a:solidFill>
                  <a:srgbClr val="194A8D"/>
                </a:solidFill>
                <a:latin typeface="Arimo"/>
                <a:ea typeface="Arimo"/>
                <a:cs typeface="Arimo"/>
                <a:sym typeface="Arimo"/>
              </a:rPr>
              <a:t>Hậu Quả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graphicFrame>
        <p:nvGraphicFramePr>
          <p:cNvPr id="2" name="Object 2"/>
          <p:cNvGraphicFramePr/>
          <p:nvPr/>
        </p:nvGraphicFramePr>
        <p:xfrm>
          <a:off x="1350602" y="1658981"/>
          <a:ext cx="3771900" cy="2514600"/>
        </p:xfrm>
        <a:graphic>
          <a:graphicData uri="http://schemas.openxmlformats.org/presentationml/2006/ole">
            <mc:AlternateContent xmlns:mc="http://schemas.openxmlformats.org/markup-compatibility/2006">
              <mc:Choice xmlns:v="urn:schemas-microsoft-com:vml" Requires="v">
                <p:oleObj name="Worksheet" r:id="rId2" imgW="4521200" imgH="3263900" progId="Excel.Sheet.12">
                  <p:embed/>
                </p:oleObj>
              </mc:Choice>
              <mc:Fallback>
                <p:oleObj name="Worksheet" r:id="rId2" imgW="4521200" imgH="3263900" progId="Excel.Sheet.12">
                  <p:embed/>
                  <p:pic>
                    <p:nvPicPr>
                      <p:cNvPr id="0" name=""/>
                      <p:cNvPicPr/>
                      <p:nvPr/>
                    </p:nvPicPr>
                    <p:blipFill>
                      <a:blip r:embed="rId3"/>
                      <a:stretch>
                        <a:fillRect/>
                      </a:stretch>
                    </p:blipFill>
                    <p:spPr>
                      <a:xfrm>
                        <a:off x="1350602" y="1658981"/>
                        <a:ext cx="3771900" cy="2514600"/>
                      </a:xfrm>
                      <a:prstGeom prst="rect">
                        <a:avLst/>
                      </a:prstGeom>
                    </p:spPr>
                  </p:pic>
                </p:oleObj>
              </mc:Fallback>
            </mc:AlternateContent>
          </a:graphicData>
        </a:graphic>
      </p:graphicFrame>
      <p:sp>
        <p:nvSpPr>
          <p:cNvPr id="3" name="TextBox 3"/>
          <p:cNvSpPr txBox="1"/>
          <p:nvPr/>
        </p:nvSpPr>
        <p:spPr>
          <a:xfrm>
            <a:off x="742831" y="351420"/>
            <a:ext cx="10355135" cy="1021184"/>
          </a:xfrm>
          <a:prstGeom prst="rect">
            <a:avLst/>
          </a:prstGeom>
        </p:spPr>
        <p:txBody>
          <a:bodyPr lIns="0" tIns="0" rIns="0" bIns="0" rtlCol="0" anchor="t">
            <a:spAutoFit/>
          </a:bodyPr>
          <a:lstStyle/>
          <a:p>
            <a:pPr algn="ctr">
              <a:lnSpc>
                <a:spcPts val="8633"/>
              </a:lnSpc>
            </a:pPr>
            <a:r>
              <a:rPr lang="en-US" sz="4519" b="1" spc="451">
                <a:solidFill>
                  <a:srgbClr val="FFFFFF"/>
                </a:solidFill>
                <a:latin typeface="Arimo Bold"/>
                <a:ea typeface="Arimo Bold"/>
                <a:cs typeface="Arimo Bold"/>
                <a:sym typeface="Arimo Bold"/>
              </a:rPr>
              <a:t>Phân tích các bên liên quan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1275246" y="487933"/>
            <a:ext cx="10940396"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Cơ hội thị trường &amp; tiềm năng</a:t>
            </a:r>
          </a:p>
        </p:txBody>
      </p:sp>
      <p:sp>
        <p:nvSpPr>
          <p:cNvPr id="3" name="TextBox 3"/>
          <p:cNvSpPr txBox="1"/>
          <p:nvPr/>
        </p:nvSpPr>
        <p:spPr>
          <a:xfrm>
            <a:off x="1275246" y="1739470"/>
            <a:ext cx="15737507" cy="7106756"/>
          </a:xfrm>
          <a:prstGeom prst="rect">
            <a:avLst/>
          </a:prstGeom>
        </p:spPr>
        <p:txBody>
          <a:bodyPr lIns="0" tIns="0" rIns="0" bIns="0" rtlCol="0" anchor="t">
            <a:spAutoFit/>
          </a:bodyPr>
          <a:lstStyle/>
          <a:p>
            <a:pPr marL="823058" lvl="1" indent="-411529" algn="l">
              <a:lnSpc>
                <a:spcPts val="4040"/>
              </a:lnSpc>
              <a:buFont typeface="Arial"/>
              <a:buChar char="•"/>
            </a:pPr>
            <a:r>
              <a:rPr lang="en-US" sz="3812" u="none" strike="noStrike" spc="381">
                <a:solidFill>
                  <a:srgbClr val="FFFFFF"/>
                </a:solidFill>
                <a:latin typeface="Arimo"/>
                <a:ea typeface="Arimo"/>
                <a:cs typeface="Arimo"/>
                <a:sym typeface="Arimo"/>
              </a:rPr>
              <a:t>Sử dụng RDS Proxy giúp tái sử dụng kết nối, giảm tải DB, đồng thời đảm bảo tính sẵn sàng cao, phù hợp với định hướng cloud-native.</a:t>
            </a:r>
          </a:p>
          <a:p>
            <a:pPr marL="823058" lvl="1" indent="-411529" algn="l">
              <a:lnSpc>
                <a:spcPts val="4040"/>
              </a:lnSpc>
              <a:buFont typeface="Arial"/>
              <a:buChar char="•"/>
            </a:pPr>
            <a:r>
              <a:rPr lang="en-US" sz="3812" u="none" strike="noStrike" spc="381">
                <a:solidFill>
                  <a:srgbClr val="FFFFFF"/>
                </a:solidFill>
                <a:latin typeface="Arimo"/>
                <a:ea typeface="Arimo"/>
                <a:cs typeface="Arimo"/>
                <a:sym typeface="Arimo"/>
              </a:rPr>
              <a:t>Giải pháp đặc biệt phù hợp với các hệ thống thương mại điện tử, fintech, y tế số và edtech — nơi downtime hoặc chậm trễ truy vấn ảnh hưởng trực tiếp đến doanh thu và uy tín dịch vụ.</a:t>
            </a:r>
          </a:p>
          <a:p>
            <a:pPr marL="823058" lvl="1" indent="-411529" algn="l">
              <a:lnSpc>
                <a:spcPts val="4040"/>
              </a:lnSpc>
              <a:buFont typeface="Arial"/>
              <a:buChar char="•"/>
            </a:pPr>
            <a:r>
              <a:rPr lang="en-US" sz="3812" u="none" strike="noStrike" spc="381">
                <a:solidFill>
                  <a:srgbClr val="FFFFFF"/>
                </a:solidFill>
                <a:latin typeface="Arimo"/>
                <a:ea typeface="Arimo"/>
                <a:cs typeface="Arimo"/>
                <a:sym typeface="Arimo"/>
              </a:rPr>
              <a:t>Hạ tầng linh hoạt, dễ tích hợp với CI/CD và có thể scale tự động qua nhiều khu vực AWS giúp doanh nghiệp dễ dàng thâm nhập thị trường quốc tế mà không cần tái cấu trúc hệ thống.</a:t>
            </a:r>
          </a:p>
          <a:p>
            <a:pPr marL="823058" lvl="1" indent="-411529" algn="l">
              <a:lnSpc>
                <a:spcPts val="4040"/>
              </a:lnSpc>
              <a:buFont typeface="Arial"/>
              <a:buChar char="•"/>
            </a:pPr>
            <a:r>
              <a:rPr lang="en-US" sz="3812" u="none" strike="noStrike" spc="381">
                <a:solidFill>
                  <a:srgbClr val="FFFFFF"/>
                </a:solidFill>
                <a:latin typeface="Arimo"/>
                <a:ea typeface="Arimo"/>
                <a:cs typeface="Arimo"/>
                <a:sym typeface="Arimo"/>
              </a:rPr>
              <a:t>Mô hình này có thể được nhân rộng cho các hệ thống khác trong doanh nghiệp giúp tiết kiệm công sức phát triển và chi phí vận hành.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grpSp>
        <p:nvGrpSpPr>
          <p:cNvPr id="2" name="Group 2"/>
          <p:cNvGrpSpPr/>
          <p:nvPr/>
        </p:nvGrpSpPr>
        <p:grpSpPr>
          <a:xfrm>
            <a:off x="-633877" y="-554823"/>
            <a:ext cx="19639468" cy="5698323"/>
            <a:chOff x="0" y="0"/>
            <a:chExt cx="5172535" cy="1500793"/>
          </a:xfrm>
        </p:grpSpPr>
        <p:sp>
          <p:nvSpPr>
            <p:cNvPr id="3" name="Freeform 3"/>
            <p:cNvSpPr/>
            <p:nvPr/>
          </p:nvSpPr>
          <p:spPr>
            <a:xfrm>
              <a:off x="0" y="0"/>
              <a:ext cx="5172535" cy="1500793"/>
            </a:xfrm>
            <a:custGeom>
              <a:avLst/>
              <a:gdLst/>
              <a:ahLst/>
              <a:cxnLst/>
              <a:rect l="l" t="t" r="r" b="b"/>
              <a:pathLst>
                <a:path w="5172535" h="1500793">
                  <a:moveTo>
                    <a:pt x="0" y="0"/>
                  </a:moveTo>
                  <a:lnTo>
                    <a:pt x="5172535" y="0"/>
                  </a:lnTo>
                  <a:lnTo>
                    <a:pt x="5172535" y="1500793"/>
                  </a:lnTo>
                  <a:lnTo>
                    <a:pt x="0" y="1500793"/>
                  </a:lnTo>
                  <a:close/>
                </a:path>
              </a:pathLst>
            </a:custGeom>
            <a:solidFill>
              <a:srgbClr val="FFFFFF"/>
            </a:solidFill>
          </p:spPr>
        </p:sp>
        <p:sp>
          <p:nvSpPr>
            <p:cNvPr id="4" name="TextBox 4"/>
            <p:cNvSpPr txBox="1"/>
            <p:nvPr/>
          </p:nvSpPr>
          <p:spPr>
            <a:xfrm>
              <a:off x="0" y="-47625"/>
              <a:ext cx="5172535" cy="1548418"/>
            </a:xfrm>
            <a:prstGeom prst="rect">
              <a:avLst/>
            </a:prstGeom>
          </p:spPr>
          <p:txBody>
            <a:bodyPr lIns="50800" tIns="50800" rIns="50800" bIns="50800" rtlCol="0" anchor="ctr"/>
            <a:lstStyle/>
            <a:p>
              <a:pPr algn="ctr">
                <a:lnSpc>
                  <a:spcPts val="2659"/>
                </a:lnSpc>
              </a:pPr>
              <a:r>
                <a:rPr lang="en-US" sz="1899">
                  <a:solidFill>
                    <a:srgbClr val="FFFFFF"/>
                  </a:solidFill>
                  <a:latin typeface="Arimo"/>
                  <a:ea typeface="Arimo"/>
                  <a:cs typeface="Arimo"/>
                  <a:sym typeface="Arimo"/>
                </a:rPr>
                <a:t> </a:t>
              </a:r>
            </a:p>
          </p:txBody>
        </p:sp>
      </p:grpSp>
      <p:grpSp>
        <p:nvGrpSpPr>
          <p:cNvPr id="5" name="Group 5"/>
          <p:cNvGrpSpPr/>
          <p:nvPr/>
        </p:nvGrpSpPr>
        <p:grpSpPr>
          <a:xfrm>
            <a:off x="1187324" y="1028700"/>
            <a:ext cx="16071976" cy="8724821"/>
            <a:chOff x="0" y="0"/>
            <a:chExt cx="4232948" cy="2297895"/>
          </a:xfrm>
        </p:grpSpPr>
        <p:sp>
          <p:nvSpPr>
            <p:cNvPr id="6" name="Freeform 6"/>
            <p:cNvSpPr/>
            <p:nvPr/>
          </p:nvSpPr>
          <p:spPr>
            <a:xfrm>
              <a:off x="0" y="0"/>
              <a:ext cx="4232949" cy="2297895"/>
            </a:xfrm>
            <a:custGeom>
              <a:avLst/>
              <a:gdLst/>
              <a:ahLst/>
              <a:cxnLst/>
              <a:rect l="l" t="t" r="r" b="b"/>
              <a:pathLst>
                <a:path w="4232949" h="2297895">
                  <a:moveTo>
                    <a:pt x="0" y="0"/>
                  </a:moveTo>
                  <a:lnTo>
                    <a:pt x="4232949" y="0"/>
                  </a:lnTo>
                  <a:lnTo>
                    <a:pt x="4232949" y="2297895"/>
                  </a:lnTo>
                  <a:lnTo>
                    <a:pt x="0" y="2297895"/>
                  </a:lnTo>
                  <a:close/>
                </a:path>
              </a:pathLst>
            </a:custGeom>
            <a:solidFill>
              <a:srgbClr val="6299E4"/>
            </a:solidFill>
          </p:spPr>
        </p:sp>
        <p:sp>
          <p:nvSpPr>
            <p:cNvPr id="7" name="TextBox 7"/>
            <p:cNvSpPr txBox="1"/>
            <p:nvPr/>
          </p:nvSpPr>
          <p:spPr>
            <a:xfrm>
              <a:off x="0" y="-47625"/>
              <a:ext cx="4232948" cy="2345520"/>
            </a:xfrm>
            <a:prstGeom prst="rect">
              <a:avLst/>
            </a:prstGeom>
          </p:spPr>
          <p:txBody>
            <a:bodyPr lIns="50800" tIns="50800" rIns="50800" bIns="50800" rtlCol="0" anchor="ctr"/>
            <a:lstStyle/>
            <a:p>
              <a:pPr algn="ctr">
                <a:lnSpc>
                  <a:spcPts val="2659"/>
                </a:lnSpc>
              </a:pPr>
              <a:r>
                <a:rPr lang="en-US" sz="1899">
                  <a:solidFill>
                    <a:srgbClr val="FFFFFF"/>
                  </a:solidFill>
                  <a:latin typeface="Arimo"/>
                  <a:ea typeface="Arimo"/>
                  <a:cs typeface="Arimo"/>
                  <a:sym typeface="Arimo"/>
                </a:rPr>
                <a:t> </a:t>
              </a:r>
            </a:p>
          </p:txBody>
        </p:sp>
      </p:grpSp>
      <p:sp>
        <p:nvSpPr>
          <p:cNvPr id="9" name="TextBox 9"/>
          <p:cNvSpPr txBox="1"/>
          <p:nvPr/>
        </p:nvSpPr>
        <p:spPr>
          <a:xfrm>
            <a:off x="1665818" y="1778834"/>
            <a:ext cx="15114989" cy="1135783"/>
          </a:xfrm>
          <a:prstGeom prst="rect">
            <a:avLst/>
          </a:prstGeom>
        </p:spPr>
        <p:txBody>
          <a:bodyPr lIns="0" tIns="0" rIns="0" bIns="0" rtlCol="0" anchor="t">
            <a:spAutoFit/>
          </a:bodyPr>
          <a:lstStyle/>
          <a:p>
            <a:pPr algn="ctr">
              <a:lnSpc>
                <a:spcPts val="8655"/>
              </a:lnSpc>
            </a:pPr>
            <a:r>
              <a:rPr lang="en-US" sz="8165" spc="816">
                <a:solidFill>
                  <a:srgbClr val="FFFFFF"/>
                </a:solidFill>
                <a:latin typeface="League Spartan"/>
                <a:ea typeface="League Spartan"/>
                <a:cs typeface="League Spartan"/>
                <a:sym typeface="League Spartan"/>
              </a:rPr>
              <a:t>KIẾN TRÚC GIẢI PHÁP</a:t>
            </a:r>
          </a:p>
        </p:txBody>
      </p:sp>
      <p:sp>
        <p:nvSpPr>
          <p:cNvPr id="10" name="TextBox 10"/>
          <p:cNvSpPr txBox="1"/>
          <p:nvPr/>
        </p:nvSpPr>
        <p:spPr>
          <a:xfrm>
            <a:off x="2588655" y="2581243"/>
            <a:ext cx="5177826"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Sơ đồ kiến trúc</a:t>
            </a:r>
          </a:p>
        </p:txBody>
      </p:sp>
      <p:pic>
        <p:nvPicPr>
          <p:cNvPr id="12" name="Picture 11" descr="A computer screen shot of a diagram&#10;&#10;AI-generated content may be incorrect.">
            <a:extLst>
              <a:ext uri="{FF2B5EF4-FFF2-40B4-BE49-F238E27FC236}">
                <a16:creationId xmlns:a16="http://schemas.microsoft.com/office/drawing/2014/main" id="{CF06F936-E37B-E1FD-AD7D-260368D5F5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73358" y="3602426"/>
            <a:ext cx="13938242" cy="596067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graphicFrame>
        <p:nvGraphicFramePr>
          <p:cNvPr id="2" name="Object 2"/>
          <p:cNvGraphicFramePr/>
          <p:nvPr/>
        </p:nvGraphicFramePr>
        <p:xfrm>
          <a:off x="707629" y="1028700"/>
          <a:ext cx="3771900" cy="3771900"/>
        </p:xfrm>
        <a:graphic>
          <a:graphicData uri="http://schemas.openxmlformats.org/presentationml/2006/ole">
            <mc:AlternateContent xmlns:mc="http://schemas.openxmlformats.org/markup-compatibility/2006">
              <mc:Choice xmlns:v="urn:schemas-microsoft-com:vml" Requires="v">
                <p:oleObj name="Worksheet" r:id="rId2" imgW="4521200" imgH="4521200" progId="Excel.Sheet.12">
                  <p:embed/>
                </p:oleObj>
              </mc:Choice>
              <mc:Fallback>
                <p:oleObj name="Worksheet" r:id="rId2" imgW="4521200" imgH="4521200" progId="Excel.Sheet.12">
                  <p:embed/>
                  <p:pic>
                    <p:nvPicPr>
                      <p:cNvPr id="0" name=""/>
                      <p:cNvPicPr/>
                      <p:nvPr/>
                    </p:nvPicPr>
                    <p:blipFill>
                      <a:blip r:embed="rId3"/>
                      <a:stretch>
                        <a:fillRect/>
                      </a:stretch>
                    </p:blipFill>
                    <p:spPr>
                      <a:xfrm>
                        <a:off x="707629" y="1028700"/>
                        <a:ext cx="3771900" cy="3771900"/>
                      </a:xfrm>
                      <a:prstGeom prst="rect">
                        <a:avLst/>
                      </a:prstGeom>
                    </p:spPr>
                  </p:pic>
                </p:oleObj>
              </mc:Fallback>
            </mc:AlternateContent>
          </a:graphicData>
        </a:graphic>
      </p:graphicFrame>
      <p:sp>
        <p:nvSpPr>
          <p:cNvPr id="3" name="TextBox 3"/>
          <p:cNvSpPr txBox="1"/>
          <p:nvPr/>
        </p:nvSpPr>
        <p:spPr>
          <a:xfrm>
            <a:off x="707629" y="-143800"/>
            <a:ext cx="10355135"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Lựa chọn dịch vụ AWS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707629" y="-143800"/>
            <a:ext cx="10355135"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Thiết kế từng phần</a:t>
            </a:r>
          </a:p>
        </p:txBody>
      </p:sp>
      <p:graphicFrame>
        <p:nvGraphicFramePr>
          <p:cNvPr id="3" name="Object 3"/>
          <p:cNvGraphicFramePr/>
          <p:nvPr/>
        </p:nvGraphicFramePr>
        <p:xfrm>
          <a:off x="707629" y="1183720"/>
          <a:ext cx="2514600" cy="2514600"/>
        </p:xfrm>
        <a:graphic>
          <a:graphicData uri="http://schemas.openxmlformats.org/presentationml/2006/ole">
            <mc:AlternateContent xmlns:mc="http://schemas.openxmlformats.org/markup-compatibility/2006">
              <mc:Choice xmlns:v="urn:schemas-microsoft-com:vml" Requires="v">
                <p:oleObj name="Worksheet" r:id="rId2" imgW="3009900" imgH="3009900" progId="Excel.Sheet.12">
                  <p:embed/>
                </p:oleObj>
              </mc:Choice>
              <mc:Fallback>
                <p:oleObj name="Worksheet" r:id="rId2" imgW="3009900" imgH="3009900" progId="Excel.Sheet.12">
                  <p:embed/>
                  <p:pic>
                    <p:nvPicPr>
                      <p:cNvPr id="0" name=""/>
                      <p:cNvPicPr/>
                      <p:nvPr/>
                    </p:nvPicPr>
                    <p:blipFill>
                      <a:blip r:embed="rId3"/>
                      <a:stretch>
                        <a:fillRect/>
                      </a:stretch>
                    </p:blipFill>
                    <p:spPr>
                      <a:xfrm>
                        <a:off x="707629" y="1183720"/>
                        <a:ext cx="2514600" cy="2514600"/>
                      </a:xfrm>
                      <a:prstGeom prst="rect">
                        <a:avLst/>
                      </a:prstGeom>
                    </p:spPr>
                  </p:pic>
                </p:oleObj>
              </mc:Fallback>
            </mc:AlternateContent>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Freeform 2"/>
          <p:cNvSpPr/>
          <p:nvPr/>
        </p:nvSpPr>
        <p:spPr>
          <a:xfrm rot="-5400000" flipV="1">
            <a:off x="15177010" y="-1253949"/>
            <a:ext cx="2720897" cy="5228794"/>
          </a:xfrm>
          <a:custGeom>
            <a:avLst/>
            <a:gdLst/>
            <a:ahLst/>
            <a:cxnLst/>
            <a:rect l="l" t="t" r="r" b="b"/>
            <a:pathLst>
              <a:path w="2720897" h="5228794">
                <a:moveTo>
                  <a:pt x="0" y="5228795"/>
                </a:moveTo>
                <a:lnTo>
                  <a:pt x="2720897" y="5228795"/>
                </a:lnTo>
                <a:lnTo>
                  <a:pt x="2720897" y="0"/>
                </a:lnTo>
                <a:lnTo>
                  <a:pt x="0" y="0"/>
                </a:lnTo>
                <a:lnTo>
                  <a:pt x="0" y="5228795"/>
                </a:lnTo>
                <a:close/>
              </a:path>
            </a:pathLst>
          </a:custGeom>
          <a:blipFill>
            <a:blip r:embed="rId2"/>
            <a:stretch>
              <a:fillRect/>
            </a:stretch>
          </a:blipFill>
        </p:spPr>
      </p:sp>
      <p:sp>
        <p:nvSpPr>
          <p:cNvPr id="3" name="Freeform 3"/>
          <p:cNvSpPr/>
          <p:nvPr/>
        </p:nvSpPr>
        <p:spPr>
          <a:xfrm rot="-5400000">
            <a:off x="390093" y="-1471468"/>
            <a:ext cx="2720897" cy="5228794"/>
          </a:xfrm>
          <a:custGeom>
            <a:avLst/>
            <a:gdLst/>
            <a:ahLst/>
            <a:cxnLst/>
            <a:rect l="l" t="t" r="r" b="b"/>
            <a:pathLst>
              <a:path w="2720897" h="5228794">
                <a:moveTo>
                  <a:pt x="0" y="0"/>
                </a:moveTo>
                <a:lnTo>
                  <a:pt x="2720897" y="0"/>
                </a:lnTo>
                <a:lnTo>
                  <a:pt x="2720897" y="5228794"/>
                </a:lnTo>
                <a:lnTo>
                  <a:pt x="0" y="5228794"/>
                </a:lnTo>
                <a:lnTo>
                  <a:pt x="0" y="0"/>
                </a:lnTo>
                <a:close/>
              </a:path>
            </a:pathLst>
          </a:custGeom>
          <a:blipFill>
            <a:blip r:embed="rId2"/>
            <a:stretch>
              <a:fillRect/>
            </a:stretch>
          </a:blipFill>
        </p:spPr>
      </p:sp>
      <p:grpSp>
        <p:nvGrpSpPr>
          <p:cNvPr id="4" name="Group 4"/>
          <p:cNvGrpSpPr/>
          <p:nvPr/>
        </p:nvGrpSpPr>
        <p:grpSpPr>
          <a:xfrm>
            <a:off x="1312286" y="2233694"/>
            <a:ext cx="4920028" cy="7484343"/>
            <a:chOff x="0" y="0"/>
            <a:chExt cx="1295810" cy="1971185"/>
          </a:xfrm>
        </p:grpSpPr>
        <p:sp>
          <p:nvSpPr>
            <p:cNvPr id="5" name="Freeform 5"/>
            <p:cNvSpPr/>
            <p:nvPr/>
          </p:nvSpPr>
          <p:spPr>
            <a:xfrm>
              <a:off x="0" y="0"/>
              <a:ext cx="1295810" cy="1971185"/>
            </a:xfrm>
            <a:custGeom>
              <a:avLst/>
              <a:gdLst/>
              <a:ahLst/>
              <a:cxnLst/>
              <a:rect l="l" t="t" r="r" b="b"/>
              <a:pathLst>
                <a:path w="1295810" h="1971185">
                  <a:moveTo>
                    <a:pt x="0" y="0"/>
                  </a:moveTo>
                  <a:lnTo>
                    <a:pt x="1295810" y="0"/>
                  </a:lnTo>
                  <a:lnTo>
                    <a:pt x="1295810" y="1971185"/>
                  </a:lnTo>
                  <a:lnTo>
                    <a:pt x="0" y="1971185"/>
                  </a:lnTo>
                  <a:close/>
                </a:path>
              </a:pathLst>
            </a:custGeom>
            <a:solidFill>
              <a:srgbClr val="FFFFFF"/>
            </a:solidFill>
          </p:spPr>
        </p:sp>
        <p:sp>
          <p:nvSpPr>
            <p:cNvPr id="6" name="TextBox 6"/>
            <p:cNvSpPr txBox="1"/>
            <p:nvPr/>
          </p:nvSpPr>
          <p:spPr>
            <a:xfrm>
              <a:off x="0" y="-47625"/>
              <a:ext cx="1295810" cy="2018810"/>
            </a:xfrm>
            <a:prstGeom prst="rect">
              <a:avLst/>
            </a:prstGeom>
          </p:spPr>
          <p:txBody>
            <a:bodyPr lIns="50800" tIns="50800" rIns="50800" bIns="50800" rtlCol="0" anchor="ctr"/>
            <a:lstStyle/>
            <a:p>
              <a:pPr algn="ctr">
                <a:lnSpc>
                  <a:spcPts val="2659"/>
                </a:lnSpc>
              </a:pPr>
              <a:endParaRPr/>
            </a:p>
          </p:txBody>
        </p:sp>
      </p:grpSp>
      <p:sp>
        <p:nvSpPr>
          <p:cNvPr id="7" name="TextBox 7"/>
          <p:cNvSpPr txBox="1"/>
          <p:nvPr/>
        </p:nvSpPr>
        <p:spPr>
          <a:xfrm>
            <a:off x="1312286" y="2789471"/>
            <a:ext cx="4920028" cy="875260"/>
          </a:xfrm>
          <a:prstGeom prst="rect">
            <a:avLst/>
          </a:prstGeom>
        </p:spPr>
        <p:txBody>
          <a:bodyPr lIns="0" tIns="0" rIns="0" bIns="0" rtlCol="0" anchor="t">
            <a:spAutoFit/>
          </a:bodyPr>
          <a:lstStyle/>
          <a:p>
            <a:pPr marL="0" lvl="0" indent="0" algn="ctr">
              <a:lnSpc>
                <a:spcPts val="7487"/>
              </a:lnSpc>
              <a:spcBef>
                <a:spcPct val="0"/>
              </a:spcBef>
            </a:pPr>
            <a:r>
              <a:rPr lang="en-US" sz="3919" b="1" u="none" strike="noStrike" spc="391">
                <a:solidFill>
                  <a:srgbClr val="194A8D"/>
                </a:solidFill>
                <a:latin typeface="Arimo Bold"/>
                <a:ea typeface="Arimo Bold"/>
                <a:cs typeface="Arimo Bold"/>
                <a:sym typeface="Arimo Bold"/>
              </a:rPr>
              <a:t>VPC</a:t>
            </a:r>
          </a:p>
        </p:txBody>
      </p:sp>
      <p:grpSp>
        <p:nvGrpSpPr>
          <p:cNvPr id="8" name="Group 8"/>
          <p:cNvGrpSpPr/>
          <p:nvPr/>
        </p:nvGrpSpPr>
        <p:grpSpPr>
          <a:xfrm>
            <a:off x="6617927" y="2233694"/>
            <a:ext cx="4920028" cy="7480143"/>
            <a:chOff x="0" y="0"/>
            <a:chExt cx="1295810" cy="1970079"/>
          </a:xfrm>
        </p:grpSpPr>
        <p:sp>
          <p:nvSpPr>
            <p:cNvPr id="9" name="Freeform 9"/>
            <p:cNvSpPr/>
            <p:nvPr/>
          </p:nvSpPr>
          <p:spPr>
            <a:xfrm>
              <a:off x="0" y="0"/>
              <a:ext cx="1295810" cy="1970079"/>
            </a:xfrm>
            <a:custGeom>
              <a:avLst/>
              <a:gdLst/>
              <a:ahLst/>
              <a:cxnLst/>
              <a:rect l="l" t="t" r="r" b="b"/>
              <a:pathLst>
                <a:path w="1295810" h="1970079">
                  <a:moveTo>
                    <a:pt x="0" y="0"/>
                  </a:moveTo>
                  <a:lnTo>
                    <a:pt x="1295810" y="0"/>
                  </a:lnTo>
                  <a:lnTo>
                    <a:pt x="1295810" y="1970079"/>
                  </a:lnTo>
                  <a:lnTo>
                    <a:pt x="0" y="1970079"/>
                  </a:lnTo>
                  <a:close/>
                </a:path>
              </a:pathLst>
            </a:custGeom>
            <a:solidFill>
              <a:srgbClr val="FFFFFF"/>
            </a:solidFill>
          </p:spPr>
        </p:sp>
        <p:sp>
          <p:nvSpPr>
            <p:cNvPr id="10" name="TextBox 10"/>
            <p:cNvSpPr txBox="1"/>
            <p:nvPr/>
          </p:nvSpPr>
          <p:spPr>
            <a:xfrm>
              <a:off x="0" y="-47625"/>
              <a:ext cx="1295810" cy="2017704"/>
            </a:xfrm>
            <a:prstGeom prst="rect">
              <a:avLst/>
            </a:prstGeom>
          </p:spPr>
          <p:txBody>
            <a:bodyPr lIns="50800" tIns="50800" rIns="50800" bIns="50800" rtlCol="0" anchor="ctr"/>
            <a:lstStyle/>
            <a:p>
              <a:pPr algn="ctr">
                <a:lnSpc>
                  <a:spcPts val="2659"/>
                </a:lnSpc>
              </a:pPr>
              <a:endParaRPr/>
            </a:p>
          </p:txBody>
        </p:sp>
      </p:grpSp>
      <p:sp>
        <p:nvSpPr>
          <p:cNvPr id="11" name="TextBox 11"/>
          <p:cNvSpPr txBox="1"/>
          <p:nvPr/>
        </p:nvSpPr>
        <p:spPr>
          <a:xfrm>
            <a:off x="7085544" y="2789471"/>
            <a:ext cx="4254914" cy="875260"/>
          </a:xfrm>
          <a:prstGeom prst="rect">
            <a:avLst/>
          </a:prstGeom>
        </p:spPr>
        <p:txBody>
          <a:bodyPr lIns="0" tIns="0" rIns="0" bIns="0" rtlCol="0" anchor="t">
            <a:spAutoFit/>
          </a:bodyPr>
          <a:lstStyle/>
          <a:p>
            <a:pPr marL="0" lvl="0" indent="0" algn="ctr">
              <a:lnSpc>
                <a:spcPts val="7487"/>
              </a:lnSpc>
              <a:spcBef>
                <a:spcPct val="0"/>
              </a:spcBef>
            </a:pPr>
            <a:r>
              <a:rPr lang="en-US" sz="3919" b="1" u="none" strike="noStrike" spc="391">
                <a:solidFill>
                  <a:srgbClr val="194A8D"/>
                </a:solidFill>
                <a:latin typeface="Arimo Bold"/>
                <a:ea typeface="Arimo Bold"/>
                <a:cs typeface="Arimo Bold"/>
                <a:sym typeface="Arimo Bold"/>
              </a:rPr>
              <a:t>IAM</a:t>
            </a:r>
          </a:p>
        </p:txBody>
      </p:sp>
      <p:grpSp>
        <p:nvGrpSpPr>
          <p:cNvPr id="12" name="Group 12"/>
          <p:cNvGrpSpPr/>
          <p:nvPr/>
        </p:nvGrpSpPr>
        <p:grpSpPr>
          <a:xfrm>
            <a:off x="11923569" y="2233694"/>
            <a:ext cx="5335731" cy="7475943"/>
            <a:chOff x="0" y="0"/>
            <a:chExt cx="1405295" cy="1968973"/>
          </a:xfrm>
        </p:grpSpPr>
        <p:sp>
          <p:nvSpPr>
            <p:cNvPr id="13" name="Freeform 13"/>
            <p:cNvSpPr/>
            <p:nvPr/>
          </p:nvSpPr>
          <p:spPr>
            <a:xfrm>
              <a:off x="0" y="0"/>
              <a:ext cx="1405296" cy="1968973"/>
            </a:xfrm>
            <a:custGeom>
              <a:avLst/>
              <a:gdLst/>
              <a:ahLst/>
              <a:cxnLst/>
              <a:rect l="l" t="t" r="r" b="b"/>
              <a:pathLst>
                <a:path w="1405296" h="1968973">
                  <a:moveTo>
                    <a:pt x="0" y="0"/>
                  </a:moveTo>
                  <a:lnTo>
                    <a:pt x="1405296" y="0"/>
                  </a:lnTo>
                  <a:lnTo>
                    <a:pt x="1405296" y="1968973"/>
                  </a:lnTo>
                  <a:lnTo>
                    <a:pt x="0" y="1968973"/>
                  </a:lnTo>
                  <a:close/>
                </a:path>
              </a:pathLst>
            </a:custGeom>
            <a:solidFill>
              <a:srgbClr val="FFFFFF"/>
            </a:solidFill>
          </p:spPr>
        </p:sp>
        <p:sp>
          <p:nvSpPr>
            <p:cNvPr id="14" name="TextBox 14"/>
            <p:cNvSpPr txBox="1"/>
            <p:nvPr/>
          </p:nvSpPr>
          <p:spPr>
            <a:xfrm>
              <a:off x="0" y="-47625"/>
              <a:ext cx="1405295" cy="2016598"/>
            </a:xfrm>
            <a:prstGeom prst="rect">
              <a:avLst/>
            </a:prstGeom>
          </p:spPr>
          <p:txBody>
            <a:bodyPr lIns="50800" tIns="50800" rIns="50800" bIns="50800" rtlCol="0" anchor="ctr"/>
            <a:lstStyle/>
            <a:p>
              <a:pPr algn="ctr">
                <a:lnSpc>
                  <a:spcPts val="2659"/>
                </a:lnSpc>
              </a:pPr>
              <a:endParaRPr/>
            </a:p>
          </p:txBody>
        </p:sp>
      </p:grpSp>
      <p:sp>
        <p:nvSpPr>
          <p:cNvPr id="15" name="TextBox 15"/>
          <p:cNvSpPr txBox="1"/>
          <p:nvPr/>
        </p:nvSpPr>
        <p:spPr>
          <a:xfrm>
            <a:off x="12131420" y="2789471"/>
            <a:ext cx="4920028" cy="875260"/>
          </a:xfrm>
          <a:prstGeom prst="rect">
            <a:avLst/>
          </a:prstGeom>
        </p:spPr>
        <p:txBody>
          <a:bodyPr lIns="0" tIns="0" rIns="0" bIns="0" rtlCol="0" anchor="t">
            <a:spAutoFit/>
          </a:bodyPr>
          <a:lstStyle/>
          <a:p>
            <a:pPr marL="0" lvl="0" indent="0" algn="ctr">
              <a:lnSpc>
                <a:spcPts val="7487"/>
              </a:lnSpc>
              <a:spcBef>
                <a:spcPct val="0"/>
              </a:spcBef>
            </a:pPr>
            <a:r>
              <a:rPr lang="en-US" sz="3919" b="1" spc="391">
                <a:solidFill>
                  <a:srgbClr val="194A8D"/>
                </a:solidFill>
                <a:latin typeface="Arimo Bold"/>
                <a:ea typeface="Arimo Bold"/>
                <a:cs typeface="Arimo Bold"/>
                <a:sym typeface="Arimo Bold"/>
              </a:rPr>
              <a:t>S</a:t>
            </a:r>
            <a:r>
              <a:rPr lang="en-US" sz="3919" b="1" u="none" strike="noStrike" spc="391">
                <a:solidFill>
                  <a:srgbClr val="194A8D"/>
                </a:solidFill>
                <a:latin typeface="Arimo Bold"/>
                <a:ea typeface="Arimo Bold"/>
                <a:cs typeface="Arimo Bold"/>
                <a:sym typeface="Arimo Bold"/>
              </a:rPr>
              <a:t>ecrets Manager </a:t>
            </a:r>
          </a:p>
        </p:txBody>
      </p:sp>
      <p:sp>
        <p:nvSpPr>
          <p:cNvPr id="16" name="TextBox 16"/>
          <p:cNvSpPr txBox="1"/>
          <p:nvPr/>
        </p:nvSpPr>
        <p:spPr>
          <a:xfrm>
            <a:off x="1553191" y="3899269"/>
            <a:ext cx="4083661" cy="4475480"/>
          </a:xfrm>
          <a:prstGeom prst="rect">
            <a:avLst/>
          </a:prstGeom>
        </p:spPr>
        <p:txBody>
          <a:bodyPr lIns="0" tIns="0" rIns="0" bIns="0" rtlCol="0" anchor="t">
            <a:spAutoFit/>
          </a:bodyPr>
          <a:lstStyle/>
          <a:p>
            <a:pPr marL="561336" lvl="1" indent="-280668" algn="l">
              <a:lnSpc>
                <a:spcPts val="3639"/>
              </a:lnSpc>
              <a:spcBef>
                <a:spcPct val="0"/>
              </a:spcBef>
              <a:buFont typeface="Arial"/>
              <a:buChar char="•"/>
            </a:pPr>
            <a:r>
              <a:rPr lang="en-US" sz="2599">
                <a:solidFill>
                  <a:srgbClr val="194A8D"/>
                </a:solidFill>
                <a:latin typeface="Arimo"/>
                <a:ea typeface="Arimo"/>
                <a:cs typeface="Arimo"/>
                <a:sym typeface="Arimo"/>
              </a:rPr>
              <a:t>Toàn bộ hệ thống triển khai trong Amazon VPC, với phân tách rõ Public Subnet (ALB) và Private Subnet (ECS, RDS).</a:t>
            </a:r>
          </a:p>
          <a:p>
            <a:pPr marL="561336" lvl="1" indent="-280668" algn="l">
              <a:lnSpc>
                <a:spcPts val="3639"/>
              </a:lnSpc>
              <a:spcBef>
                <a:spcPct val="0"/>
              </a:spcBef>
              <a:buFont typeface="Arial"/>
              <a:buChar char="•"/>
            </a:pPr>
            <a:r>
              <a:rPr lang="en-US" sz="2599">
                <a:solidFill>
                  <a:srgbClr val="194A8D"/>
                </a:solidFill>
                <a:latin typeface="Arimo"/>
                <a:ea typeface="Arimo"/>
                <a:cs typeface="Arimo"/>
                <a:sym typeface="Arimo"/>
              </a:rPr>
              <a:t>RDS, RDS Proxy, và ECS chỉ được truy cập nội bộ, không public IP.</a:t>
            </a:r>
          </a:p>
          <a:p>
            <a:pPr algn="l">
              <a:lnSpc>
                <a:spcPts val="2799"/>
              </a:lnSpc>
              <a:spcBef>
                <a:spcPct val="0"/>
              </a:spcBef>
            </a:pPr>
            <a:endParaRPr lang="en-US" sz="2599">
              <a:solidFill>
                <a:srgbClr val="194A8D"/>
              </a:solidFill>
              <a:latin typeface="Arimo"/>
              <a:ea typeface="Arimo"/>
              <a:cs typeface="Arimo"/>
              <a:sym typeface="Arimo"/>
            </a:endParaRPr>
          </a:p>
        </p:txBody>
      </p:sp>
      <p:sp>
        <p:nvSpPr>
          <p:cNvPr id="17" name="TextBox 17"/>
          <p:cNvSpPr txBox="1"/>
          <p:nvPr/>
        </p:nvSpPr>
        <p:spPr>
          <a:xfrm>
            <a:off x="7036111" y="3899269"/>
            <a:ext cx="4083661" cy="4914900"/>
          </a:xfrm>
          <a:prstGeom prst="rect">
            <a:avLst/>
          </a:prstGeom>
        </p:spPr>
        <p:txBody>
          <a:bodyPr lIns="0" tIns="0" rIns="0" bIns="0" rtlCol="0" anchor="t">
            <a:spAutoFit/>
          </a:bodyPr>
          <a:lstStyle/>
          <a:p>
            <a:pPr marL="561336" lvl="1" indent="-280668" algn="l">
              <a:lnSpc>
                <a:spcPts val="3639"/>
              </a:lnSpc>
              <a:spcBef>
                <a:spcPct val="0"/>
              </a:spcBef>
              <a:buFont typeface="Arial"/>
              <a:buChar char="•"/>
            </a:pPr>
            <a:r>
              <a:rPr lang="en-US" sz="2599">
                <a:solidFill>
                  <a:srgbClr val="194A8D"/>
                </a:solidFill>
                <a:latin typeface="Arimo"/>
                <a:ea typeface="Arimo"/>
                <a:cs typeface="Arimo"/>
                <a:sym typeface="Arimo"/>
              </a:rPr>
              <a:t>Sử dụng IAM Role cho từng ECS Task để kiểm soát quyền truy cập chính xác đến RDS Proxy, S3, Secrets Manager.</a:t>
            </a:r>
          </a:p>
          <a:p>
            <a:pPr marL="561336" lvl="1" indent="-280668" algn="l">
              <a:lnSpc>
                <a:spcPts val="3639"/>
              </a:lnSpc>
              <a:spcBef>
                <a:spcPct val="0"/>
              </a:spcBef>
              <a:buFont typeface="Arial"/>
              <a:buChar char="•"/>
            </a:pPr>
            <a:r>
              <a:rPr lang="en-US" sz="2599">
                <a:solidFill>
                  <a:srgbClr val="194A8D"/>
                </a:solidFill>
                <a:latin typeface="Arimo"/>
                <a:ea typeface="Arimo"/>
                <a:cs typeface="Arimo"/>
                <a:sym typeface="Arimo"/>
              </a:rPr>
              <a:t>Nguyên tắc Least Privilege được áp dụng cho tất cả các role, policy.</a:t>
            </a:r>
          </a:p>
          <a:p>
            <a:pPr algn="ctr">
              <a:lnSpc>
                <a:spcPts val="2659"/>
              </a:lnSpc>
              <a:spcBef>
                <a:spcPct val="0"/>
              </a:spcBef>
            </a:pPr>
            <a:endParaRPr lang="en-US" sz="2599">
              <a:solidFill>
                <a:srgbClr val="194A8D"/>
              </a:solidFill>
              <a:latin typeface="Arimo"/>
              <a:ea typeface="Arimo"/>
              <a:cs typeface="Arimo"/>
              <a:sym typeface="Arimo"/>
            </a:endParaRPr>
          </a:p>
        </p:txBody>
      </p:sp>
      <p:sp>
        <p:nvSpPr>
          <p:cNvPr id="18" name="TextBox 18"/>
          <p:cNvSpPr txBox="1"/>
          <p:nvPr/>
        </p:nvSpPr>
        <p:spPr>
          <a:xfrm>
            <a:off x="12338055" y="3950481"/>
            <a:ext cx="4083661" cy="4000500"/>
          </a:xfrm>
          <a:prstGeom prst="rect">
            <a:avLst/>
          </a:prstGeom>
        </p:spPr>
        <p:txBody>
          <a:bodyPr lIns="0" tIns="0" rIns="0" bIns="0" rtlCol="0" anchor="t">
            <a:spAutoFit/>
          </a:bodyPr>
          <a:lstStyle/>
          <a:p>
            <a:pPr marL="561336" lvl="1" indent="-280668" algn="l">
              <a:lnSpc>
                <a:spcPts val="3639"/>
              </a:lnSpc>
              <a:spcBef>
                <a:spcPct val="0"/>
              </a:spcBef>
              <a:buFont typeface="Arial"/>
              <a:buChar char="•"/>
            </a:pPr>
            <a:r>
              <a:rPr lang="en-US" sz="2599">
                <a:solidFill>
                  <a:srgbClr val="194A8D"/>
                </a:solidFill>
                <a:latin typeface="Arimo"/>
                <a:ea typeface="Arimo"/>
                <a:cs typeface="Arimo"/>
                <a:sym typeface="Arimo"/>
              </a:rPr>
              <a:t>Không lưu mật khẩu Database trong mã nguồn hoặc biến môi trường mà lưu thông tin xác thực mà lưu trong Secrets Manager</a:t>
            </a:r>
          </a:p>
          <a:p>
            <a:pPr marL="561336" lvl="1" indent="-280668" algn="l">
              <a:lnSpc>
                <a:spcPts val="3639"/>
              </a:lnSpc>
              <a:spcBef>
                <a:spcPct val="0"/>
              </a:spcBef>
              <a:buFont typeface="Arial"/>
              <a:buChar char="•"/>
            </a:pPr>
            <a:r>
              <a:rPr lang="en-US" sz="2599">
                <a:solidFill>
                  <a:srgbClr val="194A8D"/>
                </a:solidFill>
                <a:latin typeface="Arimo"/>
                <a:ea typeface="Arimo"/>
                <a:cs typeface="Arimo"/>
                <a:sym typeface="Arimo"/>
              </a:rPr>
              <a:t>ECS chỉ có quyền đọc secret qua IAM Role.</a:t>
            </a:r>
          </a:p>
          <a:p>
            <a:pPr algn="ctr">
              <a:lnSpc>
                <a:spcPts val="2659"/>
              </a:lnSpc>
              <a:spcBef>
                <a:spcPct val="0"/>
              </a:spcBef>
            </a:pPr>
            <a:endParaRPr lang="en-US" sz="2599">
              <a:solidFill>
                <a:srgbClr val="194A8D"/>
              </a:solidFill>
              <a:latin typeface="Arimo"/>
              <a:ea typeface="Arimo"/>
              <a:cs typeface="Arimo"/>
              <a:sym typeface="Arimo"/>
            </a:endParaRPr>
          </a:p>
        </p:txBody>
      </p:sp>
      <p:sp>
        <p:nvSpPr>
          <p:cNvPr id="19" name="TextBox 19"/>
          <p:cNvSpPr txBox="1"/>
          <p:nvPr/>
        </p:nvSpPr>
        <p:spPr>
          <a:xfrm>
            <a:off x="6298372" y="809554"/>
            <a:ext cx="6438388"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Kiến trúc bảo mật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grpSp>
        <p:nvGrpSpPr>
          <p:cNvPr id="2" name="Group 2"/>
          <p:cNvGrpSpPr/>
          <p:nvPr/>
        </p:nvGrpSpPr>
        <p:grpSpPr>
          <a:xfrm>
            <a:off x="-633877" y="-554823"/>
            <a:ext cx="19639468" cy="5698323"/>
            <a:chOff x="0" y="0"/>
            <a:chExt cx="5172535" cy="1500793"/>
          </a:xfrm>
        </p:grpSpPr>
        <p:sp>
          <p:nvSpPr>
            <p:cNvPr id="3" name="Freeform 3"/>
            <p:cNvSpPr/>
            <p:nvPr/>
          </p:nvSpPr>
          <p:spPr>
            <a:xfrm>
              <a:off x="0" y="0"/>
              <a:ext cx="5172535" cy="1500793"/>
            </a:xfrm>
            <a:custGeom>
              <a:avLst/>
              <a:gdLst/>
              <a:ahLst/>
              <a:cxnLst/>
              <a:rect l="l" t="t" r="r" b="b"/>
              <a:pathLst>
                <a:path w="5172535" h="1500793">
                  <a:moveTo>
                    <a:pt x="0" y="0"/>
                  </a:moveTo>
                  <a:lnTo>
                    <a:pt x="5172535" y="0"/>
                  </a:lnTo>
                  <a:lnTo>
                    <a:pt x="5172535" y="1500793"/>
                  </a:lnTo>
                  <a:lnTo>
                    <a:pt x="0" y="1500793"/>
                  </a:lnTo>
                  <a:close/>
                </a:path>
              </a:pathLst>
            </a:custGeom>
            <a:solidFill>
              <a:srgbClr val="FFFFFF"/>
            </a:solidFill>
          </p:spPr>
        </p:sp>
        <p:sp>
          <p:nvSpPr>
            <p:cNvPr id="4" name="TextBox 4"/>
            <p:cNvSpPr txBox="1"/>
            <p:nvPr/>
          </p:nvSpPr>
          <p:spPr>
            <a:xfrm>
              <a:off x="0" y="-47625"/>
              <a:ext cx="5172535" cy="1548418"/>
            </a:xfrm>
            <a:prstGeom prst="rect">
              <a:avLst/>
            </a:prstGeom>
          </p:spPr>
          <p:txBody>
            <a:bodyPr lIns="50800" tIns="50800" rIns="50800" bIns="50800" rtlCol="0" anchor="ctr"/>
            <a:lstStyle/>
            <a:p>
              <a:pPr algn="ctr">
                <a:lnSpc>
                  <a:spcPts val="2659"/>
                </a:lnSpc>
              </a:pPr>
              <a:r>
                <a:rPr lang="en-US" sz="1899">
                  <a:solidFill>
                    <a:srgbClr val="FFFFFF"/>
                  </a:solidFill>
                  <a:latin typeface="Arimo"/>
                  <a:ea typeface="Arimo"/>
                  <a:cs typeface="Arimo"/>
                  <a:sym typeface="Arimo"/>
                </a:rPr>
                <a:t> </a:t>
              </a:r>
            </a:p>
          </p:txBody>
        </p:sp>
      </p:grpSp>
      <p:grpSp>
        <p:nvGrpSpPr>
          <p:cNvPr id="5" name="Group 5"/>
          <p:cNvGrpSpPr/>
          <p:nvPr/>
        </p:nvGrpSpPr>
        <p:grpSpPr>
          <a:xfrm>
            <a:off x="1187324" y="1028700"/>
            <a:ext cx="7956676" cy="8229600"/>
            <a:chOff x="0" y="0"/>
            <a:chExt cx="2095586" cy="2167467"/>
          </a:xfrm>
        </p:grpSpPr>
        <p:sp>
          <p:nvSpPr>
            <p:cNvPr id="6" name="Freeform 6"/>
            <p:cNvSpPr/>
            <p:nvPr/>
          </p:nvSpPr>
          <p:spPr>
            <a:xfrm>
              <a:off x="0" y="0"/>
              <a:ext cx="2095585" cy="2167467"/>
            </a:xfrm>
            <a:custGeom>
              <a:avLst/>
              <a:gdLst/>
              <a:ahLst/>
              <a:cxnLst/>
              <a:rect l="l" t="t" r="r" b="b"/>
              <a:pathLst>
                <a:path w="2095585" h="2167467">
                  <a:moveTo>
                    <a:pt x="0" y="0"/>
                  </a:moveTo>
                  <a:lnTo>
                    <a:pt x="2095585" y="0"/>
                  </a:lnTo>
                  <a:lnTo>
                    <a:pt x="2095585" y="2167467"/>
                  </a:lnTo>
                  <a:lnTo>
                    <a:pt x="0" y="2167467"/>
                  </a:lnTo>
                  <a:close/>
                </a:path>
              </a:pathLst>
            </a:custGeom>
            <a:solidFill>
              <a:srgbClr val="6299E4"/>
            </a:solidFill>
          </p:spPr>
        </p:sp>
        <p:sp>
          <p:nvSpPr>
            <p:cNvPr id="7" name="TextBox 7"/>
            <p:cNvSpPr txBox="1"/>
            <p:nvPr/>
          </p:nvSpPr>
          <p:spPr>
            <a:xfrm>
              <a:off x="0" y="-47625"/>
              <a:ext cx="2095586" cy="2215092"/>
            </a:xfrm>
            <a:prstGeom prst="rect">
              <a:avLst/>
            </a:prstGeom>
          </p:spPr>
          <p:txBody>
            <a:bodyPr lIns="50800" tIns="50800" rIns="50800" bIns="50800" rtlCol="0" anchor="ctr"/>
            <a:lstStyle/>
            <a:p>
              <a:pPr algn="ctr">
                <a:lnSpc>
                  <a:spcPts val="2659"/>
                </a:lnSpc>
              </a:pPr>
              <a:r>
                <a:rPr lang="en-US" sz="1899">
                  <a:solidFill>
                    <a:srgbClr val="FFFFFF"/>
                  </a:solidFill>
                  <a:latin typeface="Arimo"/>
                  <a:ea typeface="Arimo"/>
                  <a:cs typeface="Arimo"/>
                  <a:sym typeface="Arimo"/>
                </a:rPr>
                <a:t> </a:t>
              </a:r>
            </a:p>
          </p:txBody>
        </p:sp>
      </p:grpSp>
      <p:sp>
        <p:nvSpPr>
          <p:cNvPr id="8" name="TextBox 8"/>
          <p:cNvSpPr txBox="1"/>
          <p:nvPr/>
        </p:nvSpPr>
        <p:spPr>
          <a:xfrm>
            <a:off x="9928189" y="2399113"/>
            <a:ext cx="6988865" cy="1135783"/>
          </a:xfrm>
          <a:prstGeom prst="rect">
            <a:avLst/>
          </a:prstGeom>
        </p:spPr>
        <p:txBody>
          <a:bodyPr lIns="0" tIns="0" rIns="0" bIns="0" rtlCol="0" anchor="t">
            <a:spAutoFit/>
          </a:bodyPr>
          <a:lstStyle/>
          <a:p>
            <a:pPr algn="ctr">
              <a:lnSpc>
                <a:spcPts val="8655"/>
              </a:lnSpc>
            </a:pPr>
            <a:r>
              <a:rPr lang="en-US" sz="8165" spc="816">
                <a:solidFill>
                  <a:srgbClr val="FFFFFF"/>
                </a:solidFill>
                <a:latin typeface="League Spartan"/>
                <a:ea typeface="League Spartan"/>
                <a:cs typeface="League Spartan"/>
                <a:sym typeface="League Spartan"/>
              </a:rPr>
              <a:t>VISION</a:t>
            </a:r>
          </a:p>
        </p:txBody>
      </p:sp>
      <p:grpSp>
        <p:nvGrpSpPr>
          <p:cNvPr id="9" name="Group 9"/>
          <p:cNvGrpSpPr/>
          <p:nvPr/>
        </p:nvGrpSpPr>
        <p:grpSpPr>
          <a:xfrm>
            <a:off x="9444283" y="1028700"/>
            <a:ext cx="7956676" cy="8229600"/>
            <a:chOff x="0" y="0"/>
            <a:chExt cx="2095586" cy="2167467"/>
          </a:xfrm>
        </p:grpSpPr>
        <p:sp>
          <p:nvSpPr>
            <p:cNvPr id="10" name="Freeform 10"/>
            <p:cNvSpPr/>
            <p:nvPr/>
          </p:nvSpPr>
          <p:spPr>
            <a:xfrm>
              <a:off x="0" y="0"/>
              <a:ext cx="2095585" cy="2167467"/>
            </a:xfrm>
            <a:custGeom>
              <a:avLst/>
              <a:gdLst/>
              <a:ahLst/>
              <a:cxnLst/>
              <a:rect l="l" t="t" r="r" b="b"/>
              <a:pathLst>
                <a:path w="2095585" h="2167467">
                  <a:moveTo>
                    <a:pt x="0" y="0"/>
                  </a:moveTo>
                  <a:lnTo>
                    <a:pt x="2095585" y="0"/>
                  </a:lnTo>
                  <a:lnTo>
                    <a:pt x="2095585" y="2167467"/>
                  </a:lnTo>
                  <a:lnTo>
                    <a:pt x="0" y="2167467"/>
                  </a:lnTo>
                  <a:close/>
                </a:path>
              </a:pathLst>
            </a:custGeom>
            <a:solidFill>
              <a:srgbClr val="6299E4"/>
            </a:solidFill>
          </p:spPr>
        </p:sp>
        <p:sp>
          <p:nvSpPr>
            <p:cNvPr id="11" name="TextBox 11"/>
            <p:cNvSpPr txBox="1"/>
            <p:nvPr/>
          </p:nvSpPr>
          <p:spPr>
            <a:xfrm>
              <a:off x="0" y="-47625"/>
              <a:ext cx="2095586" cy="2215092"/>
            </a:xfrm>
            <a:prstGeom prst="rect">
              <a:avLst/>
            </a:prstGeom>
          </p:spPr>
          <p:txBody>
            <a:bodyPr lIns="50800" tIns="50800" rIns="50800" bIns="50800" rtlCol="0" anchor="ctr"/>
            <a:lstStyle/>
            <a:p>
              <a:pPr algn="ctr">
                <a:lnSpc>
                  <a:spcPts val="2659"/>
                </a:lnSpc>
              </a:pPr>
              <a:r>
                <a:rPr lang="en-US" sz="1899" spc="189">
                  <a:solidFill>
                    <a:srgbClr val="FFFFFF"/>
                  </a:solidFill>
                  <a:latin typeface="Arimo"/>
                  <a:ea typeface="Arimo"/>
                  <a:cs typeface="Arimo"/>
                  <a:sym typeface="Arimo"/>
                </a:rPr>
                <a:t> 03</a:t>
              </a:r>
            </a:p>
            <a:p>
              <a:pPr algn="ctr">
                <a:lnSpc>
                  <a:spcPts val="2659"/>
                </a:lnSpc>
              </a:pPr>
              <a:endParaRPr lang="en-US" sz="1899" spc="189">
                <a:solidFill>
                  <a:srgbClr val="FFFFFF"/>
                </a:solidFill>
                <a:latin typeface="Arimo"/>
                <a:ea typeface="Arimo"/>
                <a:cs typeface="Arimo"/>
                <a:sym typeface="Arimo"/>
              </a:endParaRPr>
            </a:p>
          </p:txBody>
        </p:sp>
      </p:grpSp>
      <p:sp>
        <p:nvSpPr>
          <p:cNvPr id="12" name="TextBox 12"/>
          <p:cNvSpPr txBox="1"/>
          <p:nvPr/>
        </p:nvSpPr>
        <p:spPr>
          <a:xfrm>
            <a:off x="1879402" y="1651998"/>
            <a:ext cx="6988865" cy="642341"/>
          </a:xfrm>
          <a:prstGeom prst="rect">
            <a:avLst/>
          </a:prstGeom>
        </p:spPr>
        <p:txBody>
          <a:bodyPr lIns="0" tIns="0" rIns="0" bIns="0" rtlCol="0" anchor="t">
            <a:spAutoFit/>
          </a:bodyPr>
          <a:lstStyle/>
          <a:p>
            <a:pPr algn="ctr">
              <a:lnSpc>
                <a:spcPts val="4791"/>
              </a:lnSpc>
            </a:pPr>
            <a:r>
              <a:rPr lang="en-US" sz="4520" b="1" spc="452">
                <a:solidFill>
                  <a:srgbClr val="FFFFFF"/>
                </a:solidFill>
                <a:latin typeface="Arimo Bold"/>
                <a:ea typeface="Arimo Bold"/>
                <a:cs typeface="Arimo Bold"/>
                <a:sym typeface="Arimo Bold"/>
              </a:rPr>
              <a:t>Khả năng mở rộng</a:t>
            </a:r>
          </a:p>
        </p:txBody>
      </p:sp>
      <p:sp>
        <p:nvSpPr>
          <p:cNvPr id="13" name="TextBox 13"/>
          <p:cNvSpPr txBox="1"/>
          <p:nvPr/>
        </p:nvSpPr>
        <p:spPr>
          <a:xfrm>
            <a:off x="1671230" y="2750907"/>
            <a:ext cx="1630978" cy="1135783"/>
          </a:xfrm>
          <a:prstGeom prst="rect">
            <a:avLst/>
          </a:prstGeom>
        </p:spPr>
        <p:txBody>
          <a:bodyPr lIns="0" tIns="0" rIns="0" bIns="0" rtlCol="0" anchor="t">
            <a:spAutoFit/>
          </a:bodyPr>
          <a:lstStyle/>
          <a:p>
            <a:pPr algn="l">
              <a:lnSpc>
                <a:spcPts val="8655"/>
              </a:lnSpc>
            </a:pPr>
            <a:r>
              <a:rPr lang="en-US" sz="8165" spc="816">
                <a:solidFill>
                  <a:srgbClr val="FFFFFF">
                    <a:alpha val="43922"/>
                  </a:srgbClr>
                </a:solidFill>
                <a:latin typeface="League Spartan"/>
                <a:ea typeface="League Spartan"/>
                <a:cs typeface="League Spartan"/>
                <a:sym typeface="League Spartan"/>
              </a:rPr>
              <a:t>01</a:t>
            </a:r>
          </a:p>
        </p:txBody>
      </p:sp>
      <p:sp>
        <p:nvSpPr>
          <p:cNvPr id="14" name="TextBox 14"/>
          <p:cNvSpPr txBox="1"/>
          <p:nvPr/>
        </p:nvSpPr>
        <p:spPr>
          <a:xfrm>
            <a:off x="10032275" y="1651998"/>
            <a:ext cx="6988865" cy="642341"/>
          </a:xfrm>
          <a:prstGeom prst="rect">
            <a:avLst/>
          </a:prstGeom>
        </p:spPr>
        <p:txBody>
          <a:bodyPr lIns="0" tIns="0" rIns="0" bIns="0" rtlCol="0" anchor="t">
            <a:spAutoFit/>
          </a:bodyPr>
          <a:lstStyle/>
          <a:p>
            <a:pPr marL="0" lvl="0" indent="0" algn="ctr">
              <a:lnSpc>
                <a:spcPts val="4791"/>
              </a:lnSpc>
              <a:spcBef>
                <a:spcPct val="0"/>
              </a:spcBef>
            </a:pPr>
            <a:r>
              <a:rPr lang="en-US" sz="4520" b="1" u="none" strike="noStrike" spc="452">
                <a:solidFill>
                  <a:srgbClr val="FFFFFF"/>
                </a:solidFill>
                <a:latin typeface="Arimo Bold"/>
                <a:ea typeface="Arimo Bold"/>
                <a:cs typeface="Arimo Bold"/>
                <a:sym typeface="Arimo Bold"/>
              </a:rPr>
              <a:t>Hiệu suất</a:t>
            </a:r>
          </a:p>
        </p:txBody>
      </p:sp>
      <p:sp>
        <p:nvSpPr>
          <p:cNvPr id="15" name="TextBox 15"/>
          <p:cNvSpPr txBox="1"/>
          <p:nvPr/>
        </p:nvSpPr>
        <p:spPr>
          <a:xfrm>
            <a:off x="3498063" y="2568817"/>
            <a:ext cx="5370203" cy="1938153"/>
          </a:xfrm>
          <a:prstGeom prst="rect">
            <a:avLst/>
          </a:prstGeom>
        </p:spPr>
        <p:txBody>
          <a:bodyPr lIns="0" tIns="0" rIns="0" bIns="0" rtlCol="0" anchor="t">
            <a:spAutoFit/>
          </a:bodyPr>
          <a:lstStyle/>
          <a:p>
            <a:pPr algn="l">
              <a:lnSpc>
                <a:spcPts val="3091"/>
              </a:lnSpc>
              <a:spcBef>
                <a:spcPct val="0"/>
              </a:spcBef>
            </a:pPr>
            <a:r>
              <a:rPr lang="en-US" sz="2207">
                <a:solidFill>
                  <a:srgbClr val="FFFFFF"/>
                </a:solidFill>
                <a:latin typeface="Arimo"/>
                <a:ea typeface="Arimo"/>
                <a:cs typeface="Arimo"/>
                <a:sym typeface="Arimo"/>
              </a:rPr>
              <a:t>Amazon ECS hỗ trợ auto scaling theo CPU/memory hoặc số lượng request. Cho phép ứng dụng backend mở rộng mà không gián đoạn dịch vụ.</a:t>
            </a:r>
          </a:p>
          <a:p>
            <a:pPr algn="l">
              <a:lnSpc>
                <a:spcPts val="3091"/>
              </a:lnSpc>
              <a:spcBef>
                <a:spcPct val="0"/>
              </a:spcBef>
            </a:pPr>
            <a:endParaRPr lang="en-US" sz="2207">
              <a:solidFill>
                <a:srgbClr val="FFFFFF"/>
              </a:solidFill>
              <a:latin typeface="Arimo"/>
              <a:ea typeface="Arimo"/>
              <a:cs typeface="Arimo"/>
              <a:sym typeface="Arimo"/>
            </a:endParaRPr>
          </a:p>
        </p:txBody>
      </p:sp>
      <p:sp>
        <p:nvSpPr>
          <p:cNvPr id="16" name="TextBox 16"/>
          <p:cNvSpPr txBox="1"/>
          <p:nvPr/>
        </p:nvSpPr>
        <p:spPr>
          <a:xfrm>
            <a:off x="1671230" y="4611745"/>
            <a:ext cx="1826834" cy="1135783"/>
          </a:xfrm>
          <a:prstGeom prst="rect">
            <a:avLst/>
          </a:prstGeom>
        </p:spPr>
        <p:txBody>
          <a:bodyPr lIns="0" tIns="0" rIns="0" bIns="0" rtlCol="0" anchor="t">
            <a:spAutoFit/>
          </a:bodyPr>
          <a:lstStyle/>
          <a:p>
            <a:pPr marL="0" lvl="0" indent="0" algn="l">
              <a:lnSpc>
                <a:spcPts val="8655"/>
              </a:lnSpc>
              <a:spcBef>
                <a:spcPct val="0"/>
              </a:spcBef>
            </a:pPr>
            <a:r>
              <a:rPr lang="en-US" sz="8165" b="1" u="none" strike="noStrike" spc="816">
                <a:solidFill>
                  <a:srgbClr val="FFFFFF">
                    <a:alpha val="43922"/>
                  </a:srgbClr>
                </a:solidFill>
                <a:latin typeface="League Spartan"/>
                <a:ea typeface="League Spartan"/>
                <a:cs typeface="League Spartan"/>
                <a:sym typeface="League Spartan"/>
              </a:rPr>
              <a:t>02</a:t>
            </a:r>
          </a:p>
        </p:txBody>
      </p:sp>
      <p:sp>
        <p:nvSpPr>
          <p:cNvPr id="17" name="TextBox 17"/>
          <p:cNvSpPr txBox="1"/>
          <p:nvPr/>
        </p:nvSpPr>
        <p:spPr>
          <a:xfrm>
            <a:off x="3498063" y="4449820"/>
            <a:ext cx="5370203" cy="1550735"/>
          </a:xfrm>
          <a:prstGeom prst="rect">
            <a:avLst/>
          </a:prstGeom>
        </p:spPr>
        <p:txBody>
          <a:bodyPr lIns="0" tIns="0" rIns="0" bIns="0" rtlCol="0" anchor="t">
            <a:spAutoFit/>
          </a:bodyPr>
          <a:lstStyle/>
          <a:p>
            <a:pPr algn="l">
              <a:lnSpc>
                <a:spcPts val="3091"/>
              </a:lnSpc>
              <a:spcBef>
                <a:spcPct val="0"/>
              </a:spcBef>
            </a:pPr>
            <a:r>
              <a:rPr lang="en-US" sz="2207">
                <a:solidFill>
                  <a:srgbClr val="FFFFFF"/>
                </a:solidFill>
                <a:latin typeface="Arimo"/>
                <a:ea typeface="Arimo"/>
                <a:cs typeface="Arimo"/>
                <a:sym typeface="Arimo"/>
              </a:rPr>
              <a:t>Elastic Load Balancer (ALB) có khả năng tự động mở rộng để xử lý hàng triệu yêu cầu đồng thời từ người dùng.</a:t>
            </a:r>
          </a:p>
          <a:p>
            <a:pPr algn="l">
              <a:lnSpc>
                <a:spcPts val="3091"/>
              </a:lnSpc>
              <a:spcBef>
                <a:spcPct val="0"/>
              </a:spcBef>
            </a:pPr>
            <a:endParaRPr lang="en-US" sz="2207">
              <a:solidFill>
                <a:srgbClr val="FFFFFF"/>
              </a:solidFill>
              <a:latin typeface="Arimo"/>
              <a:ea typeface="Arimo"/>
              <a:cs typeface="Arimo"/>
              <a:sym typeface="Arimo"/>
            </a:endParaRPr>
          </a:p>
        </p:txBody>
      </p:sp>
      <p:sp>
        <p:nvSpPr>
          <p:cNvPr id="18" name="TextBox 18"/>
          <p:cNvSpPr txBox="1"/>
          <p:nvPr/>
        </p:nvSpPr>
        <p:spPr>
          <a:xfrm>
            <a:off x="9824103" y="2624394"/>
            <a:ext cx="1435123" cy="1135783"/>
          </a:xfrm>
          <a:prstGeom prst="rect">
            <a:avLst/>
          </a:prstGeom>
        </p:spPr>
        <p:txBody>
          <a:bodyPr lIns="0" tIns="0" rIns="0" bIns="0" rtlCol="0" anchor="t">
            <a:spAutoFit/>
          </a:bodyPr>
          <a:lstStyle/>
          <a:p>
            <a:pPr algn="l">
              <a:lnSpc>
                <a:spcPts val="8655"/>
              </a:lnSpc>
            </a:pPr>
            <a:r>
              <a:rPr lang="en-US" sz="8165" spc="816">
                <a:solidFill>
                  <a:srgbClr val="FFFFFF">
                    <a:alpha val="43922"/>
                  </a:srgbClr>
                </a:solidFill>
                <a:latin typeface="League Spartan"/>
                <a:ea typeface="League Spartan"/>
                <a:cs typeface="League Spartan"/>
                <a:sym typeface="League Spartan"/>
              </a:rPr>
              <a:t>01</a:t>
            </a:r>
          </a:p>
        </p:txBody>
      </p:sp>
      <p:sp>
        <p:nvSpPr>
          <p:cNvPr id="19" name="TextBox 19"/>
          <p:cNvSpPr txBox="1"/>
          <p:nvPr/>
        </p:nvSpPr>
        <p:spPr>
          <a:xfrm>
            <a:off x="11650936" y="2462469"/>
            <a:ext cx="5370203" cy="1550735"/>
          </a:xfrm>
          <a:prstGeom prst="rect">
            <a:avLst/>
          </a:prstGeom>
        </p:spPr>
        <p:txBody>
          <a:bodyPr lIns="0" tIns="0" rIns="0" bIns="0" rtlCol="0" anchor="t">
            <a:spAutoFit/>
          </a:bodyPr>
          <a:lstStyle/>
          <a:p>
            <a:pPr algn="l">
              <a:lnSpc>
                <a:spcPts val="3091"/>
              </a:lnSpc>
              <a:spcBef>
                <a:spcPct val="0"/>
              </a:spcBef>
            </a:pPr>
            <a:r>
              <a:rPr lang="en-US" sz="2207">
                <a:solidFill>
                  <a:srgbClr val="FFFFFF"/>
                </a:solidFill>
                <a:latin typeface="Arimo"/>
                <a:ea typeface="Arimo"/>
                <a:cs typeface="Arimo"/>
                <a:sym typeface="Arimo"/>
              </a:rPr>
              <a:t>Tái sử dụng kết nối giúp giảm độ trễ khi thiết lập kết nối từ ứng dụng đến RDS (giảm ~50%).</a:t>
            </a:r>
          </a:p>
          <a:p>
            <a:pPr algn="l">
              <a:lnSpc>
                <a:spcPts val="3091"/>
              </a:lnSpc>
              <a:spcBef>
                <a:spcPct val="0"/>
              </a:spcBef>
            </a:pPr>
            <a:endParaRPr lang="en-US" sz="2207">
              <a:solidFill>
                <a:srgbClr val="FFFFFF"/>
              </a:solidFill>
              <a:latin typeface="Arimo"/>
              <a:ea typeface="Arimo"/>
              <a:cs typeface="Arimo"/>
              <a:sym typeface="Arimo"/>
            </a:endParaRPr>
          </a:p>
        </p:txBody>
      </p:sp>
      <p:sp>
        <p:nvSpPr>
          <p:cNvPr id="20" name="TextBox 20"/>
          <p:cNvSpPr txBox="1"/>
          <p:nvPr/>
        </p:nvSpPr>
        <p:spPr>
          <a:xfrm>
            <a:off x="9824103" y="4244493"/>
            <a:ext cx="1826834" cy="1135783"/>
          </a:xfrm>
          <a:prstGeom prst="rect">
            <a:avLst/>
          </a:prstGeom>
        </p:spPr>
        <p:txBody>
          <a:bodyPr lIns="0" tIns="0" rIns="0" bIns="0" rtlCol="0" anchor="t">
            <a:spAutoFit/>
          </a:bodyPr>
          <a:lstStyle/>
          <a:p>
            <a:pPr algn="l">
              <a:lnSpc>
                <a:spcPts val="8655"/>
              </a:lnSpc>
            </a:pPr>
            <a:r>
              <a:rPr lang="en-US" sz="8165" spc="816">
                <a:solidFill>
                  <a:srgbClr val="FFFFFF">
                    <a:alpha val="43922"/>
                  </a:srgbClr>
                </a:solidFill>
                <a:latin typeface="League Spartan"/>
                <a:ea typeface="League Spartan"/>
                <a:cs typeface="League Spartan"/>
                <a:sym typeface="League Spartan"/>
              </a:rPr>
              <a:t>02</a:t>
            </a:r>
          </a:p>
        </p:txBody>
      </p:sp>
      <p:sp>
        <p:nvSpPr>
          <p:cNvPr id="21" name="TextBox 21"/>
          <p:cNvSpPr txBox="1"/>
          <p:nvPr/>
        </p:nvSpPr>
        <p:spPr>
          <a:xfrm>
            <a:off x="11650936" y="3956054"/>
            <a:ext cx="5370203" cy="1550735"/>
          </a:xfrm>
          <a:prstGeom prst="rect">
            <a:avLst/>
          </a:prstGeom>
        </p:spPr>
        <p:txBody>
          <a:bodyPr lIns="0" tIns="0" rIns="0" bIns="0" rtlCol="0" anchor="t">
            <a:spAutoFit/>
          </a:bodyPr>
          <a:lstStyle/>
          <a:p>
            <a:pPr algn="l">
              <a:lnSpc>
                <a:spcPts val="3091"/>
              </a:lnSpc>
              <a:spcBef>
                <a:spcPct val="0"/>
              </a:spcBef>
            </a:pPr>
            <a:r>
              <a:rPr lang="en-US" sz="2207">
                <a:solidFill>
                  <a:srgbClr val="FFFFFF"/>
                </a:solidFill>
                <a:latin typeface="Arimo"/>
                <a:ea typeface="Arimo"/>
                <a:cs typeface="Arimo"/>
                <a:sym typeface="Arimo"/>
              </a:rPr>
              <a:t>RDS Proxy giữ kết nối sẵn tới Database giúp ứng dụng không cần tạo mới kết nối mỗi lần truy cập.</a:t>
            </a:r>
          </a:p>
          <a:p>
            <a:pPr algn="l">
              <a:lnSpc>
                <a:spcPts val="3091"/>
              </a:lnSpc>
              <a:spcBef>
                <a:spcPct val="0"/>
              </a:spcBef>
            </a:pPr>
            <a:endParaRPr lang="en-US" sz="2207">
              <a:solidFill>
                <a:srgbClr val="FFFFFF"/>
              </a:solidFill>
              <a:latin typeface="Arimo"/>
              <a:ea typeface="Arimo"/>
              <a:cs typeface="Arimo"/>
              <a:sym typeface="Arimo"/>
            </a:endParaRPr>
          </a:p>
        </p:txBody>
      </p:sp>
      <p:sp>
        <p:nvSpPr>
          <p:cNvPr id="22" name="TextBox 22"/>
          <p:cNvSpPr txBox="1"/>
          <p:nvPr/>
        </p:nvSpPr>
        <p:spPr>
          <a:xfrm>
            <a:off x="1671230" y="6506729"/>
            <a:ext cx="1826834" cy="1135783"/>
          </a:xfrm>
          <a:prstGeom prst="rect">
            <a:avLst/>
          </a:prstGeom>
        </p:spPr>
        <p:txBody>
          <a:bodyPr lIns="0" tIns="0" rIns="0" bIns="0" rtlCol="0" anchor="t">
            <a:spAutoFit/>
          </a:bodyPr>
          <a:lstStyle/>
          <a:p>
            <a:pPr algn="l">
              <a:lnSpc>
                <a:spcPts val="8655"/>
              </a:lnSpc>
            </a:pPr>
            <a:r>
              <a:rPr lang="en-US" sz="8165" spc="816">
                <a:solidFill>
                  <a:srgbClr val="FFFFFF">
                    <a:alpha val="43922"/>
                  </a:srgbClr>
                </a:solidFill>
                <a:latin typeface="League Spartan"/>
                <a:ea typeface="League Spartan"/>
                <a:cs typeface="League Spartan"/>
                <a:sym typeface="League Spartan"/>
              </a:rPr>
              <a:t>03</a:t>
            </a:r>
          </a:p>
        </p:txBody>
      </p:sp>
      <p:sp>
        <p:nvSpPr>
          <p:cNvPr id="23" name="TextBox 23"/>
          <p:cNvSpPr txBox="1"/>
          <p:nvPr/>
        </p:nvSpPr>
        <p:spPr>
          <a:xfrm>
            <a:off x="3498063" y="6058807"/>
            <a:ext cx="5370203" cy="1938153"/>
          </a:xfrm>
          <a:prstGeom prst="rect">
            <a:avLst/>
          </a:prstGeom>
        </p:spPr>
        <p:txBody>
          <a:bodyPr lIns="0" tIns="0" rIns="0" bIns="0" rtlCol="0" anchor="t">
            <a:spAutoFit/>
          </a:bodyPr>
          <a:lstStyle/>
          <a:p>
            <a:pPr algn="l">
              <a:lnSpc>
                <a:spcPts val="3091"/>
              </a:lnSpc>
              <a:spcBef>
                <a:spcPct val="0"/>
              </a:spcBef>
            </a:pPr>
            <a:r>
              <a:rPr lang="en-US" sz="2207">
                <a:solidFill>
                  <a:srgbClr val="FFFFFF"/>
                </a:solidFill>
                <a:latin typeface="Arimo"/>
                <a:ea typeface="Arimo"/>
                <a:cs typeface="Arimo"/>
                <a:sym typeface="Arimo"/>
              </a:rPr>
              <a:t>Amazon RDS Proxy giúp chia sẻ kết nối giữa các ứng dụng đến RDS, giảm số lượng kết nối vật lý tới Database hỗ trợ mở rộng quy mô ứng dụng dễ dàng mà không quá tải database backend.</a:t>
            </a:r>
          </a:p>
        </p:txBody>
      </p:sp>
      <p:sp>
        <p:nvSpPr>
          <p:cNvPr id="24" name="TextBox 24"/>
          <p:cNvSpPr txBox="1"/>
          <p:nvPr/>
        </p:nvSpPr>
        <p:spPr>
          <a:xfrm>
            <a:off x="9824103" y="5868740"/>
            <a:ext cx="1826834" cy="1135783"/>
          </a:xfrm>
          <a:prstGeom prst="rect">
            <a:avLst/>
          </a:prstGeom>
        </p:spPr>
        <p:txBody>
          <a:bodyPr lIns="0" tIns="0" rIns="0" bIns="0" rtlCol="0" anchor="t">
            <a:spAutoFit/>
          </a:bodyPr>
          <a:lstStyle/>
          <a:p>
            <a:pPr algn="l">
              <a:lnSpc>
                <a:spcPts val="8655"/>
              </a:lnSpc>
            </a:pPr>
            <a:r>
              <a:rPr lang="en-US" sz="8165" spc="816">
                <a:solidFill>
                  <a:srgbClr val="FFFFFF">
                    <a:alpha val="43922"/>
                  </a:srgbClr>
                </a:solidFill>
                <a:latin typeface="League Spartan"/>
                <a:ea typeface="League Spartan"/>
                <a:cs typeface="League Spartan"/>
                <a:sym typeface="League Spartan"/>
              </a:rPr>
              <a:t>03</a:t>
            </a:r>
          </a:p>
        </p:txBody>
      </p:sp>
      <p:sp>
        <p:nvSpPr>
          <p:cNvPr id="25" name="TextBox 25"/>
          <p:cNvSpPr txBox="1"/>
          <p:nvPr/>
        </p:nvSpPr>
        <p:spPr>
          <a:xfrm>
            <a:off x="11650936" y="5580301"/>
            <a:ext cx="5370203" cy="1550735"/>
          </a:xfrm>
          <a:prstGeom prst="rect">
            <a:avLst/>
          </a:prstGeom>
        </p:spPr>
        <p:txBody>
          <a:bodyPr lIns="0" tIns="0" rIns="0" bIns="0" rtlCol="0" anchor="t">
            <a:spAutoFit/>
          </a:bodyPr>
          <a:lstStyle/>
          <a:p>
            <a:pPr algn="l">
              <a:lnSpc>
                <a:spcPts val="3091"/>
              </a:lnSpc>
              <a:spcBef>
                <a:spcPct val="0"/>
              </a:spcBef>
            </a:pPr>
            <a:r>
              <a:rPr lang="en-US" sz="2207">
                <a:solidFill>
                  <a:srgbClr val="FFFFFF"/>
                </a:solidFill>
                <a:latin typeface="Arimo"/>
                <a:ea typeface="Arimo"/>
                <a:cs typeface="Arimo"/>
                <a:sym typeface="Arimo"/>
              </a:rPr>
              <a:t>Failover time giảm đáng kể nhờ RDS Proxy điều hướng traffic khi RDS primary instance gặp sự cố (từ ~60s còn ~5–10s).</a:t>
            </a:r>
          </a:p>
          <a:p>
            <a:pPr algn="l">
              <a:lnSpc>
                <a:spcPts val="3091"/>
              </a:lnSpc>
              <a:spcBef>
                <a:spcPct val="0"/>
              </a:spcBef>
            </a:pPr>
            <a:endParaRPr lang="en-US" sz="2207">
              <a:solidFill>
                <a:srgbClr val="FFFFFF"/>
              </a:solidFill>
              <a:latin typeface="Arimo"/>
              <a:ea typeface="Arimo"/>
              <a:cs typeface="Arimo"/>
              <a:sym typeface="Arimo"/>
            </a:endParaRPr>
          </a:p>
        </p:txBody>
      </p:sp>
      <p:sp>
        <p:nvSpPr>
          <p:cNvPr id="26" name="TextBox 26"/>
          <p:cNvSpPr txBox="1"/>
          <p:nvPr/>
        </p:nvSpPr>
        <p:spPr>
          <a:xfrm>
            <a:off x="9824103" y="7359636"/>
            <a:ext cx="1826834" cy="1135783"/>
          </a:xfrm>
          <a:prstGeom prst="rect">
            <a:avLst/>
          </a:prstGeom>
        </p:spPr>
        <p:txBody>
          <a:bodyPr lIns="0" tIns="0" rIns="0" bIns="0" rtlCol="0" anchor="t">
            <a:spAutoFit/>
          </a:bodyPr>
          <a:lstStyle/>
          <a:p>
            <a:pPr algn="l">
              <a:lnSpc>
                <a:spcPts val="8655"/>
              </a:lnSpc>
            </a:pPr>
            <a:r>
              <a:rPr lang="en-US" sz="8165" spc="816">
                <a:solidFill>
                  <a:srgbClr val="FFFFFF">
                    <a:alpha val="43922"/>
                  </a:srgbClr>
                </a:solidFill>
                <a:latin typeface="League Spartan"/>
                <a:ea typeface="League Spartan"/>
                <a:cs typeface="League Spartan"/>
                <a:sym typeface="League Spartan"/>
              </a:rPr>
              <a:t>04</a:t>
            </a:r>
          </a:p>
        </p:txBody>
      </p:sp>
      <p:sp>
        <p:nvSpPr>
          <p:cNvPr id="27" name="TextBox 27"/>
          <p:cNvSpPr txBox="1"/>
          <p:nvPr/>
        </p:nvSpPr>
        <p:spPr>
          <a:xfrm>
            <a:off x="11650936" y="7073886"/>
            <a:ext cx="5370203" cy="1550735"/>
          </a:xfrm>
          <a:prstGeom prst="rect">
            <a:avLst/>
          </a:prstGeom>
        </p:spPr>
        <p:txBody>
          <a:bodyPr lIns="0" tIns="0" rIns="0" bIns="0" rtlCol="0" anchor="t">
            <a:spAutoFit/>
          </a:bodyPr>
          <a:lstStyle/>
          <a:p>
            <a:pPr algn="l">
              <a:lnSpc>
                <a:spcPts val="3091"/>
              </a:lnSpc>
              <a:spcBef>
                <a:spcPct val="0"/>
              </a:spcBef>
            </a:pPr>
            <a:r>
              <a:rPr lang="en-US" sz="2207">
                <a:solidFill>
                  <a:srgbClr val="FFFFFF"/>
                </a:solidFill>
                <a:latin typeface="Arimo"/>
                <a:ea typeface="Arimo"/>
                <a:cs typeface="Arimo"/>
                <a:sym typeface="Arimo"/>
              </a:rPr>
              <a:t>Tối ưu cấu hình RDS Proxy theo khung giờ có thể lập lịch thay đổi MaxConnectionPercent hoặc IdleTimeout tùy theo giờ</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grpSp>
        <p:nvGrpSpPr>
          <p:cNvPr id="2" name="Group 2"/>
          <p:cNvGrpSpPr/>
          <p:nvPr/>
        </p:nvGrpSpPr>
        <p:grpSpPr>
          <a:xfrm>
            <a:off x="-633877" y="-554823"/>
            <a:ext cx="19639468" cy="5698323"/>
            <a:chOff x="0" y="0"/>
            <a:chExt cx="5172535" cy="1500793"/>
          </a:xfrm>
        </p:grpSpPr>
        <p:sp>
          <p:nvSpPr>
            <p:cNvPr id="3" name="Freeform 3"/>
            <p:cNvSpPr/>
            <p:nvPr/>
          </p:nvSpPr>
          <p:spPr>
            <a:xfrm>
              <a:off x="0" y="0"/>
              <a:ext cx="5172535" cy="1500793"/>
            </a:xfrm>
            <a:custGeom>
              <a:avLst/>
              <a:gdLst/>
              <a:ahLst/>
              <a:cxnLst/>
              <a:rect l="l" t="t" r="r" b="b"/>
              <a:pathLst>
                <a:path w="5172535" h="1500793">
                  <a:moveTo>
                    <a:pt x="0" y="0"/>
                  </a:moveTo>
                  <a:lnTo>
                    <a:pt x="5172535" y="0"/>
                  </a:lnTo>
                  <a:lnTo>
                    <a:pt x="5172535" y="1500793"/>
                  </a:lnTo>
                  <a:lnTo>
                    <a:pt x="0" y="1500793"/>
                  </a:lnTo>
                  <a:close/>
                </a:path>
              </a:pathLst>
            </a:custGeom>
            <a:solidFill>
              <a:srgbClr val="FFFFFF"/>
            </a:solidFill>
          </p:spPr>
        </p:sp>
        <p:sp>
          <p:nvSpPr>
            <p:cNvPr id="4" name="TextBox 4"/>
            <p:cNvSpPr txBox="1"/>
            <p:nvPr/>
          </p:nvSpPr>
          <p:spPr>
            <a:xfrm>
              <a:off x="0" y="-47625"/>
              <a:ext cx="5172535" cy="1548418"/>
            </a:xfrm>
            <a:prstGeom prst="rect">
              <a:avLst/>
            </a:prstGeom>
          </p:spPr>
          <p:txBody>
            <a:bodyPr lIns="50800" tIns="50800" rIns="50800" bIns="50800" rtlCol="0" anchor="ctr"/>
            <a:lstStyle/>
            <a:p>
              <a:pPr algn="ctr">
                <a:lnSpc>
                  <a:spcPts val="2659"/>
                </a:lnSpc>
              </a:pPr>
              <a:r>
                <a:rPr lang="en-US" sz="1899">
                  <a:solidFill>
                    <a:srgbClr val="FFFFFF"/>
                  </a:solidFill>
                  <a:latin typeface="Arimo"/>
                  <a:ea typeface="Arimo"/>
                  <a:cs typeface="Arimo"/>
                  <a:sym typeface="Arimo"/>
                </a:rPr>
                <a:t> </a:t>
              </a:r>
            </a:p>
          </p:txBody>
        </p:sp>
      </p:grpSp>
      <p:sp>
        <p:nvSpPr>
          <p:cNvPr id="5" name="Freeform 5"/>
          <p:cNvSpPr/>
          <p:nvPr/>
        </p:nvSpPr>
        <p:spPr>
          <a:xfrm>
            <a:off x="-297830" y="-1579357"/>
            <a:ext cx="19484227" cy="12835235"/>
          </a:xfrm>
          <a:custGeom>
            <a:avLst/>
            <a:gdLst/>
            <a:ahLst/>
            <a:cxnLst/>
            <a:rect l="l" t="t" r="r" b="b"/>
            <a:pathLst>
              <a:path w="19484227" h="12835235">
                <a:moveTo>
                  <a:pt x="0" y="0"/>
                </a:moveTo>
                <a:lnTo>
                  <a:pt x="19484227" y="0"/>
                </a:lnTo>
                <a:lnTo>
                  <a:pt x="19484227" y="12835234"/>
                </a:lnTo>
                <a:lnTo>
                  <a:pt x="0" y="12835234"/>
                </a:lnTo>
                <a:lnTo>
                  <a:pt x="0" y="0"/>
                </a:lnTo>
                <a:close/>
              </a:path>
            </a:pathLst>
          </a:custGeom>
          <a:blipFill>
            <a:blip r:embed="rId2">
              <a:alphaModFix amt="20999"/>
            </a:blip>
            <a:stretch>
              <a:fillRect/>
            </a:stretch>
          </a:blipFill>
        </p:spPr>
      </p:sp>
      <p:sp>
        <p:nvSpPr>
          <p:cNvPr id="6" name="TextBox 6"/>
          <p:cNvSpPr txBox="1"/>
          <p:nvPr/>
        </p:nvSpPr>
        <p:spPr>
          <a:xfrm>
            <a:off x="2517070" y="711403"/>
            <a:ext cx="13854426" cy="1135783"/>
          </a:xfrm>
          <a:prstGeom prst="rect">
            <a:avLst/>
          </a:prstGeom>
        </p:spPr>
        <p:txBody>
          <a:bodyPr lIns="0" tIns="0" rIns="0" bIns="0" rtlCol="0" anchor="t">
            <a:spAutoFit/>
          </a:bodyPr>
          <a:lstStyle/>
          <a:p>
            <a:pPr algn="ctr">
              <a:lnSpc>
                <a:spcPts val="8655"/>
              </a:lnSpc>
            </a:pPr>
            <a:r>
              <a:rPr lang="en-US" sz="8165" spc="816">
                <a:solidFill>
                  <a:srgbClr val="6299E4"/>
                </a:solidFill>
                <a:latin typeface="League Spartan"/>
                <a:ea typeface="League Spartan"/>
                <a:cs typeface="League Spartan"/>
                <a:sym typeface="League Spartan"/>
              </a:rPr>
              <a:t>TRIỂN KHAI KỸ THUẬT </a:t>
            </a:r>
          </a:p>
        </p:txBody>
      </p:sp>
      <p:sp>
        <p:nvSpPr>
          <p:cNvPr id="7" name="TextBox 7"/>
          <p:cNvSpPr txBox="1"/>
          <p:nvPr/>
        </p:nvSpPr>
        <p:spPr>
          <a:xfrm>
            <a:off x="1028700" y="1513811"/>
            <a:ext cx="15982645" cy="1021184"/>
          </a:xfrm>
          <a:prstGeom prst="rect">
            <a:avLst/>
          </a:prstGeom>
        </p:spPr>
        <p:txBody>
          <a:bodyPr lIns="0" tIns="0" rIns="0" bIns="0" rtlCol="0" anchor="t">
            <a:spAutoFit/>
          </a:bodyPr>
          <a:lstStyle/>
          <a:p>
            <a:pPr algn="l">
              <a:lnSpc>
                <a:spcPts val="8633"/>
              </a:lnSpc>
            </a:pPr>
            <a:r>
              <a:rPr lang="en-US" sz="4519" b="1" spc="451">
                <a:solidFill>
                  <a:srgbClr val="6299E4"/>
                </a:solidFill>
                <a:latin typeface="Arimo Bold"/>
                <a:ea typeface="Arimo Bold"/>
                <a:cs typeface="Arimo Bold"/>
                <a:sym typeface="Arimo Bold"/>
              </a:rPr>
              <a:t>Giai đoạn thực hiện và các sản phầm bàn giao</a:t>
            </a:r>
          </a:p>
        </p:txBody>
      </p:sp>
      <p:graphicFrame>
        <p:nvGraphicFramePr>
          <p:cNvPr id="8" name="Object 8"/>
          <p:cNvGraphicFramePr/>
          <p:nvPr/>
        </p:nvGraphicFramePr>
        <p:xfrm>
          <a:off x="1028700" y="2815619"/>
          <a:ext cx="3771900" cy="2514600"/>
        </p:xfrm>
        <a:graphic>
          <a:graphicData uri="http://schemas.openxmlformats.org/presentationml/2006/ole">
            <mc:AlternateContent xmlns:mc="http://schemas.openxmlformats.org/markup-compatibility/2006">
              <mc:Choice xmlns:v="urn:schemas-microsoft-com:vml" Requires="v">
                <p:oleObj name="Worksheet" r:id="rId3" imgW="4521200" imgH="3263900" progId="Excel.Sheet.12">
                  <p:embed/>
                </p:oleObj>
              </mc:Choice>
              <mc:Fallback>
                <p:oleObj name="Worksheet" r:id="rId3" imgW="4521200" imgH="3263900" progId="Excel.Sheet.12">
                  <p:embed/>
                  <p:pic>
                    <p:nvPicPr>
                      <p:cNvPr id="0" name=""/>
                      <p:cNvPicPr/>
                      <p:nvPr/>
                    </p:nvPicPr>
                    <p:blipFill>
                      <a:blip r:embed="rId4"/>
                      <a:stretch>
                        <a:fillRect/>
                      </a:stretch>
                    </p:blipFill>
                    <p:spPr>
                      <a:xfrm>
                        <a:off x="1028700" y="2815619"/>
                        <a:ext cx="3771900" cy="2514600"/>
                      </a:xfrm>
                      <a:prstGeom prst="rect">
                        <a:avLst/>
                      </a:prstGeom>
                    </p:spPr>
                  </p:pic>
                </p:oleObj>
              </mc:Fallback>
            </mc:AlternateContent>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1028700" y="7516"/>
            <a:ext cx="5560497"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Yêu cầu kỹ thuật</a:t>
            </a:r>
          </a:p>
        </p:txBody>
      </p:sp>
      <p:graphicFrame>
        <p:nvGraphicFramePr>
          <p:cNvPr id="3" name="Object 3"/>
          <p:cNvGraphicFramePr/>
          <p:nvPr/>
        </p:nvGraphicFramePr>
        <p:xfrm>
          <a:off x="1028700" y="1569882"/>
          <a:ext cx="3771900" cy="1676400"/>
        </p:xfrm>
        <a:graphic>
          <a:graphicData uri="http://schemas.openxmlformats.org/presentationml/2006/ole">
            <mc:AlternateContent xmlns:mc="http://schemas.openxmlformats.org/markup-compatibility/2006">
              <mc:Choice xmlns:v="urn:schemas-microsoft-com:vml" Requires="v">
                <p:oleObj name="Worksheet" r:id="rId2" imgW="4521200" imgH="2425700" progId="Excel.Sheet.12">
                  <p:embed/>
                </p:oleObj>
              </mc:Choice>
              <mc:Fallback>
                <p:oleObj name="Worksheet" r:id="rId2" imgW="4521200" imgH="2425700" progId="Excel.Sheet.12">
                  <p:embed/>
                  <p:pic>
                    <p:nvPicPr>
                      <p:cNvPr id="0" name=""/>
                      <p:cNvPicPr/>
                      <p:nvPr/>
                    </p:nvPicPr>
                    <p:blipFill>
                      <a:blip r:embed="rId3"/>
                      <a:stretch>
                        <a:fillRect/>
                      </a:stretch>
                    </p:blipFill>
                    <p:spPr>
                      <a:xfrm>
                        <a:off x="1028700" y="1569882"/>
                        <a:ext cx="3771900" cy="1676400"/>
                      </a:xfrm>
                      <a:prstGeom prst="rect">
                        <a:avLst/>
                      </a:prstGeom>
                    </p:spPr>
                  </p:pic>
                </p:oleObj>
              </mc:Fallback>
            </mc:AlternateContent>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graphicFrame>
        <p:nvGraphicFramePr>
          <p:cNvPr id="2" name="Object 2"/>
          <p:cNvGraphicFramePr/>
          <p:nvPr/>
        </p:nvGraphicFramePr>
        <p:xfrm>
          <a:off x="713559" y="472711"/>
          <a:ext cx="2514600" cy="2514600"/>
        </p:xfrm>
        <a:graphic>
          <a:graphicData uri="http://schemas.openxmlformats.org/presentationml/2006/ole">
            <mc:AlternateContent xmlns:mc="http://schemas.openxmlformats.org/markup-compatibility/2006">
              <mc:Choice xmlns:v="urn:schemas-microsoft-com:vml" Requires="v">
                <p:oleObj name="Worksheet" r:id="rId2" imgW="3009900" imgH="3009900" progId="Excel.Sheet.12">
                  <p:embed/>
                </p:oleObj>
              </mc:Choice>
              <mc:Fallback>
                <p:oleObj name="Worksheet" r:id="rId2" imgW="3009900" imgH="3009900" progId="Excel.Sheet.12">
                  <p:embed/>
                  <p:pic>
                    <p:nvPicPr>
                      <p:cNvPr id="0" name=""/>
                      <p:cNvPicPr/>
                      <p:nvPr/>
                    </p:nvPicPr>
                    <p:blipFill>
                      <a:blip r:embed="rId3"/>
                      <a:stretch>
                        <a:fillRect/>
                      </a:stretch>
                    </p:blipFill>
                    <p:spPr>
                      <a:xfrm>
                        <a:off x="713559" y="472711"/>
                        <a:ext cx="2514600" cy="2514600"/>
                      </a:xfrm>
                      <a:prstGeom prst="rect">
                        <a:avLst/>
                      </a:prstGeom>
                    </p:spPr>
                  </p:pic>
                </p:oleObj>
              </mc:Fallback>
            </mc:AlternateContent>
          </a:graphicData>
        </a:graphic>
      </p:graphicFrame>
      <p:graphicFrame>
        <p:nvGraphicFramePr>
          <p:cNvPr id="3" name="Object 3"/>
          <p:cNvGraphicFramePr/>
          <p:nvPr/>
        </p:nvGraphicFramePr>
        <p:xfrm>
          <a:off x="713559" y="6392851"/>
          <a:ext cx="2514600" cy="1676400"/>
        </p:xfrm>
        <a:graphic>
          <a:graphicData uri="http://schemas.openxmlformats.org/presentationml/2006/ole">
            <mc:AlternateContent xmlns:mc="http://schemas.openxmlformats.org/markup-compatibility/2006">
              <mc:Choice xmlns:v="urn:schemas-microsoft-com:vml" Requires="v">
                <p:oleObj name="Worksheet" r:id="rId4" imgW="3009900" imgH="2171700" progId="Excel.Sheet.12">
                  <p:embed/>
                </p:oleObj>
              </mc:Choice>
              <mc:Fallback>
                <p:oleObj name="Worksheet" r:id="rId4" imgW="3009900" imgH="2171700" progId="Excel.Sheet.12">
                  <p:embed/>
                  <p:pic>
                    <p:nvPicPr>
                      <p:cNvPr id="0" name=""/>
                      <p:cNvPicPr/>
                      <p:nvPr/>
                    </p:nvPicPr>
                    <p:blipFill>
                      <a:blip r:embed="rId5"/>
                      <a:stretch>
                        <a:fillRect/>
                      </a:stretch>
                    </p:blipFill>
                    <p:spPr>
                      <a:xfrm>
                        <a:off x="713559" y="6392851"/>
                        <a:ext cx="2514600" cy="1676400"/>
                      </a:xfrm>
                      <a:prstGeom prst="rect">
                        <a:avLst/>
                      </a:prstGeom>
                    </p:spPr>
                  </p:pic>
                </p:oleObj>
              </mc:Fallback>
            </mc:AlternateContent>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1028700" y="7516"/>
            <a:ext cx="6843569"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Chiến lược kiểm thử</a:t>
            </a:r>
          </a:p>
        </p:txBody>
      </p:sp>
      <p:sp>
        <p:nvSpPr>
          <p:cNvPr id="3" name="TextBox 3"/>
          <p:cNvSpPr txBox="1"/>
          <p:nvPr/>
        </p:nvSpPr>
        <p:spPr>
          <a:xfrm>
            <a:off x="622455" y="1482255"/>
            <a:ext cx="16840499" cy="8116406"/>
          </a:xfrm>
          <a:prstGeom prst="rect">
            <a:avLst/>
          </a:prstGeom>
        </p:spPr>
        <p:txBody>
          <a:bodyPr lIns="0" tIns="0" rIns="0" bIns="0" rtlCol="0" anchor="t">
            <a:spAutoFit/>
          </a:bodyPr>
          <a:lstStyle/>
          <a:p>
            <a:pPr marL="823058" lvl="1" indent="-411529" algn="l">
              <a:lnSpc>
                <a:spcPts val="4040"/>
              </a:lnSpc>
              <a:buFont typeface="Arial"/>
              <a:buChar char="•"/>
            </a:pPr>
            <a:r>
              <a:rPr lang="en-US" sz="3812" spc="381">
                <a:solidFill>
                  <a:srgbClr val="FFFFFF"/>
                </a:solidFill>
                <a:latin typeface="Arimo"/>
                <a:ea typeface="Arimo"/>
                <a:cs typeface="Arimo"/>
                <a:sym typeface="Arimo"/>
              </a:rPr>
              <a:t>Kiểm th</a:t>
            </a:r>
            <a:r>
              <a:rPr lang="en-US" sz="3812" u="none" strike="noStrike" spc="381">
                <a:solidFill>
                  <a:srgbClr val="FFFFFF"/>
                </a:solidFill>
                <a:latin typeface="Arimo"/>
                <a:ea typeface="Arimo"/>
                <a:cs typeface="Arimo"/>
                <a:sym typeface="Arimo"/>
              </a:rPr>
              <a:t>ử tích hợp: Kiểm tra kết nối thực giữa ECS, RDS Proxy, Secrets Manager; xác thực IAM và vòng đời secret. → Đảm bảo kết nối ổn định, không timeout. Dùng Postman, REST-assured.</a:t>
            </a:r>
          </a:p>
          <a:p>
            <a:pPr marL="823058" lvl="1" indent="-411529" algn="l">
              <a:lnSpc>
                <a:spcPts val="4040"/>
              </a:lnSpc>
              <a:buFont typeface="Arial"/>
              <a:buChar char="•"/>
            </a:pPr>
            <a:r>
              <a:rPr lang="en-US" sz="3812" u="none" strike="noStrike" spc="381">
                <a:solidFill>
                  <a:srgbClr val="FFFFFF"/>
                </a:solidFill>
                <a:latin typeface="Arimo"/>
                <a:ea typeface="Arimo"/>
                <a:cs typeface="Arimo"/>
                <a:sym typeface="Arimo"/>
              </a:rPr>
              <a:t>Kiểm thử hiệu suất: Tải đồng thời, truy vấn giờ cao điểm → So sánh hiệu suất trước/sau dùng Proxy, đánh giá khả năng mở rộng. Dùng JMeter, k6.</a:t>
            </a:r>
          </a:p>
          <a:p>
            <a:pPr marL="823058" lvl="1" indent="-411529" algn="l">
              <a:lnSpc>
                <a:spcPts val="4040"/>
              </a:lnSpc>
              <a:buFont typeface="Arial"/>
              <a:buChar char="•"/>
            </a:pPr>
            <a:r>
              <a:rPr lang="en-US" sz="3812" u="none" strike="noStrike" spc="381">
                <a:solidFill>
                  <a:srgbClr val="FFFFFF"/>
                </a:solidFill>
                <a:latin typeface="Arimo"/>
                <a:ea typeface="Arimo"/>
                <a:cs typeface="Arimo"/>
                <a:sym typeface="Arimo"/>
              </a:rPr>
              <a:t>Kiểm thử chuyển đổi dự phòng: Mô phỏng lỗi DB chính (Multi-AZ) → Đảm bảo RDS Proxy chuyển nhanh (&lt;10s), không gián đoạn. Dùng AWS CLI, CloudWatch Logs.</a:t>
            </a:r>
          </a:p>
          <a:p>
            <a:pPr marL="823058" lvl="1" indent="-411529" algn="l">
              <a:lnSpc>
                <a:spcPts val="4040"/>
              </a:lnSpc>
              <a:buFont typeface="Arial"/>
              <a:buChar char="•"/>
            </a:pPr>
            <a:r>
              <a:rPr lang="en-US" sz="3812" u="none" strike="noStrike" spc="381">
                <a:solidFill>
                  <a:srgbClr val="FFFFFF"/>
                </a:solidFill>
                <a:latin typeface="Arimo"/>
                <a:ea typeface="Arimo"/>
                <a:cs typeface="Arimo"/>
                <a:sym typeface="Arimo"/>
              </a:rPr>
              <a:t>Kiểm thử bảo mật: Đảm bảo IAM Role tối thiểu, secrets không bị lộ → Tuân thủ nguyên tắc quyền tối thiểu. Dùng AWS Inspector, ScoutSuite.</a:t>
            </a:r>
          </a:p>
          <a:p>
            <a:pPr marL="823058" lvl="1" indent="-411529" algn="l">
              <a:lnSpc>
                <a:spcPts val="4040"/>
              </a:lnSpc>
              <a:buFont typeface="Arial"/>
              <a:buChar char="•"/>
            </a:pPr>
            <a:r>
              <a:rPr lang="en-US" sz="3812" u="none" strike="noStrike" spc="381">
                <a:solidFill>
                  <a:srgbClr val="FFFFFF"/>
                </a:solidFill>
                <a:latin typeface="Arimo"/>
                <a:ea typeface="Arimo"/>
                <a:cs typeface="Arimo"/>
                <a:sym typeface="Arimo"/>
              </a:rPr>
              <a:t>Kiểm thử giám sát: Đảm bảo log/metrics đầy đủ, alarms cảnh báo đúng lúc → Hỗ trợ DevOps giám sát và xử lý sự cố kịp thời. Dùng CloudWatch, SNS.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1028700" y="7516"/>
            <a:ext cx="11480637"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Kế hoạch triển khai và khôi phục</a:t>
            </a:r>
          </a:p>
        </p:txBody>
      </p:sp>
      <p:graphicFrame>
        <p:nvGraphicFramePr>
          <p:cNvPr id="3" name="Object 3"/>
          <p:cNvGraphicFramePr/>
          <p:nvPr/>
        </p:nvGraphicFramePr>
        <p:xfrm>
          <a:off x="601009" y="1028700"/>
          <a:ext cx="3771900" cy="3352800"/>
        </p:xfrm>
        <a:graphic>
          <a:graphicData uri="http://schemas.openxmlformats.org/presentationml/2006/ole">
            <mc:AlternateContent xmlns:mc="http://schemas.openxmlformats.org/markup-compatibility/2006">
              <mc:Choice xmlns:v="urn:schemas-microsoft-com:vml" Requires="v">
                <p:oleObj name="Worksheet" r:id="rId2" imgW="4521200" imgH="4102100" progId="Excel.Sheet.12">
                  <p:embed/>
                </p:oleObj>
              </mc:Choice>
              <mc:Fallback>
                <p:oleObj name="Worksheet" r:id="rId2" imgW="4521200" imgH="4102100" progId="Excel.Sheet.12">
                  <p:embed/>
                  <p:pic>
                    <p:nvPicPr>
                      <p:cNvPr id="0" name=""/>
                      <p:cNvPicPr/>
                      <p:nvPr/>
                    </p:nvPicPr>
                    <p:blipFill>
                      <a:blip r:embed="rId3"/>
                      <a:stretch>
                        <a:fillRect/>
                      </a:stretch>
                    </p:blipFill>
                    <p:spPr>
                      <a:xfrm>
                        <a:off x="601009" y="1028700"/>
                        <a:ext cx="3771900" cy="3352800"/>
                      </a:xfrm>
                      <a:prstGeom prst="rect">
                        <a:avLst/>
                      </a:prstGeom>
                    </p:spPr>
                  </p:pic>
                </p:oleObj>
              </mc:Fallback>
            </mc:AlternateContent>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5784769" y="1245568"/>
            <a:ext cx="6843569"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Quản Lý Cấu Hình</a:t>
            </a:r>
          </a:p>
        </p:txBody>
      </p:sp>
      <p:grpSp>
        <p:nvGrpSpPr>
          <p:cNvPr id="3" name="Group 3"/>
          <p:cNvGrpSpPr/>
          <p:nvPr/>
        </p:nvGrpSpPr>
        <p:grpSpPr>
          <a:xfrm>
            <a:off x="1595871" y="2802657"/>
            <a:ext cx="4920028" cy="5143299"/>
            <a:chOff x="0" y="0"/>
            <a:chExt cx="1295810" cy="1354614"/>
          </a:xfrm>
        </p:grpSpPr>
        <p:sp>
          <p:nvSpPr>
            <p:cNvPr id="4" name="Freeform 4"/>
            <p:cNvSpPr/>
            <p:nvPr/>
          </p:nvSpPr>
          <p:spPr>
            <a:xfrm>
              <a:off x="0" y="0"/>
              <a:ext cx="1295810" cy="1354614"/>
            </a:xfrm>
            <a:custGeom>
              <a:avLst/>
              <a:gdLst/>
              <a:ahLst/>
              <a:cxnLst/>
              <a:rect l="l" t="t" r="r" b="b"/>
              <a:pathLst>
                <a:path w="1295810" h="1354614">
                  <a:moveTo>
                    <a:pt x="0" y="0"/>
                  </a:moveTo>
                  <a:lnTo>
                    <a:pt x="1295810" y="0"/>
                  </a:lnTo>
                  <a:lnTo>
                    <a:pt x="1295810" y="1354614"/>
                  </a:lnTo>
                  <a:lnTo>
                    <a:pt x="0" y="1354614"/>
                  </a:lnTo>
                  <a:close/>
                </a:path>
              </a:pathLst>
            </a:custGeom>
            <a:solidFill>
              <a:srgbClr val="FFFFFF"/>
            </a:solidFill>
          </p:spPr>
        </p:sp>
        <p:sp>
          <p:nvSpPr>
            <p:cNvPr id="5" name="TextBox 5"/>
            <p:cNvSpPr txBox="1"/>
            <p:nvPr/>
          </p:nvSpPr>
          <p:spPr>
            <a:xfrm>
              <a:off x="0" y="-47625"/>
              <a:ext cx="1295810" cy="1402239"/>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6901513" y="2802657"/>
            <a:ext cx="4920028" cy="5143299"/>
            <a:chOff x="0" y="0"/>
            <a:chExt cx="1295810" cy="1354614"/>
          </a:xfrm>
        </p:grpSpPr>
        <p:sp>
          <p:nvSpPr>
            <p:cNvPr id="7" name="Freeform 7"/>
            <p:cNvSpPr/>
            <p:nvPr/>
          </p:nvSpPr>
          <p:spPr>
            <a:xfrm>
              <a:off x="0" y="0"/>
              <a:ext cx="1295810" cy="1354614"/>
            </a:xfrm>
            <a:custGeom>
              <a:avLst/>
              <a:gdLst/>
              <a:ahLst/>
              <a:cxnLst/>
              <a:rect l="l" t="t" r="r" b="b"/>
              <a:pathLst>
                <a:path w="1295810" h="1354614">
                  <a:moveTo>
                    <a:pt x="0" y="0"/>
                  </a:moveTo>
                  <a:lnTo>
                    <a:pt x="1295810" y="0"/>
                  </a:lnTo>
                  <a:lnTo>
                    <a:pt x="1295810" y="1354614"/>
                  </a:lnTo>
                  <a:lnTo>
                    <a:pt x="0" y="1354614"/>
                  </a:lnTo>
                  <a:close/>
                </a:path>
              </a:pathLst>
            </a:custGeom>
            <a:solidFill>
              <a:srgbClr val="FFFFFF"/>
            </a:solidFill>
          </p:spPr>
        </p:sp>
        <p:sp>
          <p:nvSpPr>
            <p:cNvPr id="8" name="TextBox 8"/>
            <p:cNvSpPr txBox="1"/>
            <p:nvPr/>
          </p:nvSpPr>
          <p:spPr>
            <a:xfrm>
              <a:off x="0" y="-47625"/>
              <a:ext cx="1295810" cy="1402239"/>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2207154" y="2802657"/>
            <a:ext cx="4920028" cy="5143299"/>
            <a:chOff x="0" y="0"/>
            <a:chExt cx="1295810" cy="1354614"/>
          </a:xfrm>
        </p:grpSpPr>
        <p:sp>
          <p:nvSpPr>
            <p:cNvPr id="10" name="Freeform 10"/>
            <p:cNvSpPr/>
            <p:nvPr/>
          </p:nvSpPr>
          <p:spPr>
            <a:xfrm>
              <a:off x="0" y="0"/>
              <a:ext cx="1295810" cy="1354614"/>
            </a:xfrm>
            <a:custGeom>
              <a:avLst/>
              <a:gdLst/>
              <a:ahLst/>
              <a:cxnLst/>
              <a:rect l="l" t="t" r="r" b="b"/>
              <a:pathLst>
                <a:path w="1295810" h="1354614">
                  <a:moveTo>
                    <a:pt x="0" y="0"/>
                  </a:moveTo>
                  <a:lnTo>
                    <a:pt x="1295810" y="0"/>
                  </a:lnTo>
                  <a:lnTo>
                    <a:pt x="1295810" y="1354614"/>
                  </a:lnTo>
                  <a:lnTo>
                    <a:pt x="0" y="1354614"/>
                  </a:lnTo>
                  <a:close/>
                </a:path>
              </a:pathLst>
            </a:custGeom>
            <a:solidFill>
              <a:srgbClr val="FFFFFF"/>
            </a:solidFill>
          </p:spPr>
        </p:sp>
        <p:sp>
          <p:nvSpPr>
            <p:cNvPr id="11" name="TextBox 11"/>
            <p:cNvSpPr txBox="1"/>
            <p:nvPr/>
          </p:nvSpPr>
          <p:spPr>
            <a:xfrm>
              <a:off x="0" y="-47625"/>
              <a:ext cx="1295810" cy="1402239"/>
            </a:xfrm>
            <a:prstGeom prst="rect">
              <a:avLst/>
            </a:prstGeom>
          </p:spPr>
          <p:txBody>
            <a:bodyPr lIns="50800" tIns="50800" rIns="50800" bIns="50800" rtlCol="0" anchor="ctr"/>
            <a:lstStyle/>
            <a:p>
              <a:pPr algn="ctr">
                <a:lnSpc>
                  <a:spcPts val="2659"/>
                </a:lnSpc>
              </a:pPr>
              <a:endParaRPr/>
            </a:p>
          </p:txBody>
        </p:sp>
      </p:grpSp>
      <p:sp>
        <p:nvSpPr>
          <p:cNvPr id="12" name="TextBox 12"/>
          <p:cNvSpPr txBox="1"/>
          <p:nvPr/>
        </p:nvSpPr>
        <p:spPr>
          <a:xfrm>
            <a:off x="2067761" y="3121024"/>
            <a:ext cx="3947927" cy="4480274"/>
          </a:xfrm>
          <a:prstGeom prst="rect">
            <a:avLst/>
          </a:prstGeom>
        </p:spPr>
        <p:txBody>
          <a:bodyPr lIns="0" tIns="0" rIns="0" bIns="0" rtlCol="0" anchor="t">
            <a:spAutoFit/>
          </a:bodyPr>
          <a:lstStyle/>
          <a:p>
            <a:pPr marL="605293" lvl="1" indent="-302647" algn="l">
              <a:lnSpc>
                <a:spcPts val="3925"/>
              </a:lnSpc>
              <a:buFont typeface="Arial"/>
              <a:buChar char="•"/>
            </a:pPr>
            <a:r>
              <a:rPr lang="en-US" sz="2803">
                <a:solidFill>
                  <a:srgbClr val="194A8D"/>
                </a:solidFill>
                <a:latin typeface="Arimo"/>
                <a:ea typeface="Arimo"/>
                <a:cs typeface="Arimo"/>
                <a:sym typeface="Arimo"/>
              </a:rPr>
              <a:t> ECS (Fargate): Chạy container, nhận cấu hình runtime qua biến môi trường.</a:t>
            </a:r>
          </a:p>
          <a:p>
            <a:pPr marL="605293" lvl="1" indent="-302647" algn="l">
              <a:lnSpc>
                <a:spcPts val="3925"/>
              </a:lnSpc>
              <a:buFont typeface="Arial"/>
              <a:buChar char="•"/>
            </a:pPr>
            <a:r>
              <a:rPr lang="en-US" sz="2803">
                <a:solidFill>
                  <a:srgbClr val="194A8D"/>
                </a:solidFill>
                <a:latin typeface="Arimo"/>
                <a:ea typeface="Arimo"/>
                <a:cs typeface="Arimo"/>
                <a:sym typeface="Arimo"/>
              </a:rPr>
              <a:t> RDS Proxy: Kết nối DB qua secret được quản lý bởi Secrets Manager.</a:t>
            </a:r>
          </a:p>
        </p:txBody>
      </p:sp>
      <p:sp>
        <p:nvSpPr>
          <p:cNvPr id="13" name="TextBox 13"/>
          <p:cNvSpPr txBox="1"/>
          <p:nvPr/>
        </p:nvSpPr>
        <p:spPr>
          <a:xfrm>
            <a:off x="7319696" y="3121660"/>
            <a:ext cx="4083661" cy="3967481"/>
          </a:xfrm>
          <a:prstGeom prst="rect">
            <a:avLst/>
          </a:prstGeom>
        </p:spPr>
        <p:txBody>
          <a:bodyPr lIns="0" tIns="0" rIns="0" bIns="0" rtlCol="0" anchor="t">
            <a:spAutoFit/>
          </a:bodyPr>
          <a:lstStyle/>
          <a:p>
            <a:pPr marL="604515" lvl="1" indent="-302257" algn="l">
              <a:lnSpc>
                <a:spcPts val="3919"/>
              </a:lnSpc>
              <a:buFont typeface="Arial"/>
              <a:buChar char="•"/>
            </a:pPr>
            <a:r>
              <a:rPr lang="en-US" sz="2799">
                <a:solidFill>
                  <a:srgbClr val="194A8D"/>
                </a:solidFill>
                <a:latin typeface="Arimo"/>
                <a:ea typeface="Arimo"/>
                <a:cs typeface="Arimo"/>
                <a:sym typeface="Arimo"/>
              </a:rPr>
              <a:t>RDS Multi-AZ: Không cấu hình trực tiếp, truy cập qua Proxy.</a:t>
            </a:r>
          </a:p>
          <a:p>
            <a:pPr marL="604515" lvl="1" indent="-302257" algn="l">
              <a:lnSpc>
                <a:spcPts val="3919"/>
              </a:lnSpc>
              <a:buFont typeface="Arial"/>
              <a:buChar char="•"/>
            </a:pPr>
            <a:r>
              <a:rPr lang="en-US" sz="2799">
                <a:solidFill>
                  <a:srgbClr val="194A8D"/>
                </a:solidFill>
                <a:latin typeface="Arimo"/>
                <a:ea typeface="Arimo"/>
                <a:cs typeface="Arimo"/>
                <a:sym typeface="Arimo"/>
              </a:rPr>
              <a:t> Secrets Manager: Lưu thông tin nhạy cảm (DB credentials, JWT...), hỗ trợ tự động xoay vòng.</a:t>
            </a:r>
          </a:p>
        </p:txBody>
      </p:sp>
      <p:sp>
        <p:nvSpPr>
          <p:cNvPr id="14" name="TextBox 14"/>
          <p:cNvSpPr txBox="1"/>
          <p:nvPr/>
        </p:nvSpPr>
        <p:spPr>
          <a:xfrm>
            <a:off x="12621641" y="3104816"/>
            <a:ext cx="4083661" cy="4462781"/>
          </a:xfrm>
          <a:prstGeom prst="rect">
            <a:avLst/>
          </a:prstGeom>
        </p:spPr>
        <p:txBody>
          <a:bodyPr lIns="0" tIns="0" rIns="0" bIns="0" rtlCol="0" anchor="t">
            <a:spAutoFit/>
          </a:bodyPr>
          <a:lstStyle/>
          <a:p>
            <a:pPr marL="604515" lvl="1" indent="-302257" algn="l">
              <a:lnSpc>
                <a:spcPts val="3919"/>
              </a:lnSpc>
              <a:buFont typeface="Arial"/>
              <a:buChar char="•"/>
            </a:pPr>
            <a:r>
              <a:rPr lang="en-US" sz="2799">
                <a:solidFill>
                  <a:srgbClr val="194A8D"/>
                </a:solidFill>
                <a:latin typeface="Arimo"/>
                <a:ea typeface="Arimo"/>
                <a:cs typeface="Arimo"/>
                <a:sym typeface="Arimo"/>
              </a:rPr>
              <a:t>CloudWatch: Theo dõi log, cảnh báo khi cấu hình thay đổi hoặc lỗi xảy ra </a:t>
            </a:r>
          </a:p>
          <a:p>
            <a:pPr marL="604515" lvl="1" indent="-302257" algn="l">
              <a:lnSpc>
                <a:spcPts val="3919"/>
              </a:lnSpc>
              <a:buFont typeface="Arial"/>
              <a:buChar char="•"/>
            </a:pPr>
            <a:r>
              <a:rPr lang="en-US" sz="2799">
                <a:solidFill>
                  <a:srgbClr val="194A8D"/>
                </a:solidFill>
                <a:latin typeface="Arimo"/>
                <a:ea typeface="Arimo"/>
                <a:cs typeface="Arimo"/>
                <a:sym typeface="Arimo"/>
              </a:rPr>
              <a:t>IAM Role (ECS Task): Cấp quyền tối thiểu cho ECS truy cập đúng secrets và thông tin cần thiết.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114125" y="348179"/>
            <a:ext cx="18059749" cy="2231158"/>
          </a:xfrm>
          <a:prstGeom prst="rect">
            <a:avLst/>
          </a:prstGeom>
        </p:spPr>
        <p:txBody>
          <a:bodyPr lIns="0" tIns="0" rIns="0" bIns="0" rtlCol="0" anchor="t">
            <a:spAutoFit/>
          </a:bodyPr>
          <a:lstStyle/>
          <a:p>
            <a:pPr algn="ctr">
              <a:lnSpc>
                <a:spcPts val="8655"/>
              </a:lnSpc>
            </a:pPr>
            <a:r>
              <a:rPr lang="en-US" sz="8165" spc="816">
                <a:solidFill>
                  <a:srgbClr val="FFFFFF"/>
                </a:solidFill>
                <a:latin typeface="League Spartan"/>
                <a:ea typeface="League Spartan"/>
                <a:cs typeface="League Spartan"/>
                <a:sym typeface="League Spartan"/>
              </a:rPr>
              <a:t>DÒNG THỜI GIAN &amp; CÁC MỐC QUAN TRỌNG </a:t>
            </a:r>
          </a:p>
        </p:txBody>
      </p:sp>
      <p:sp>
        <p:nvSpPr>
          <p:cNvPr id="3" name="TextBox 3"/>
          <p:cNvSpPr txBox="1"/>
          <p:nvPr/>
        </p:nvSpPr>
        <p:spPr>
          <a:xfrm>
            <a:off x="2379302" y="4948398"/>
            <a:ext cx="3332003" cy="2116559"/>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Phân tích giai đoạn </a:t>
            </a:r>
          </a:p>
        </p:txBody>
      </p:sp>
      <p:grpSp>
        <p:nvGrpSpPr>
          <p:cNvPr id="4" name="Group 4"/>
          <p:cNvGrpSpPr/>
          <p:nvPr/>
        </p:nvGrpSpPr>
        <p:grpSpPr>
          <a:xfrm>
            <a:off x="8257139" y="2665371"/>
            <a:ext cx="8709530" cy="1084959"/>
            <a:chOff x="0" y="0"/>
            <a:chExt cx="2644579" cy="329439"/>
          </a:xfrm>
        </p:grpSpPr>
        <p:sp>
          <p:nvSpPr>
            <p:cNvPr id="5" name="Freeform 5"/>
            <p:cNvSpPr/>
            <p:nvPr/>
          </p:nvSpPr>
          <p:spPr>
            <a:xfrm>
              <a:off x="0" y="0"/>
              <a:ext cx="2644579" cy="329439"/>
            </a:xfrm>
            <a:custGeom>
              <a:avLst/>
              <a:gdLst/>
              <a:ahLst/>
              <a:cxnLst/>
              <a:rect l="l" t="t" r="r" b="b"/>
              <a:pathLst>
                <a:path w="2644579" h="329439">
                  <a:moveTo>
                    <a:pt x="0" y="0"/>
                  </a:moveTo>
                  <a:lnTo>
                    <a:pt x="2644579" y="0"/>
                  </a:lnTo>
                  <a:lnTo>
                    <a:pt x="2644579" y="329439"/>
                  </a:lnTo>
                  <a:lnTo>
                    <a:pt x="0" y="329439"/>
                  </a:lnTo>
                  <a:close/>
                </a:path>
              </a:pathLst>
            </a:custGeom>
            <a:solidFill>
              <a:srgbClr val="FFFFFF"/>
            </a:solidFill>
          </p:spPr>
        </p:sp>
        <p:sp>
          <p:nvSpPr>
            <p:cNvPr id="6" name="TextBox 6"/>
            <p:cNvSpPr txBox="1"/>
            <p:nvPr/>
          </p:nvSpPr>
          <p:spPr>
            <a:xfrm>
              <a:off x="0" y="-47625"/>
              <a:ext cx="2644579" cy="377064"/>
            </a:xfrm>
            <a:prstGeom prst="rect">
              <a:avLst/>
            </a:prstGeom>
          </p:spPr>
          <p:txBody>
            <a:bodyPr lIns="50800" tIns="50800" rIns="50800" bIns="50800" rtlCol="0" anchor="ctr"/>
            <a:lstStyle/>
            <a:p>
              <a:pPr algn="ctr">
                <a:lnSpc>
                  <a:spcPts val="2659"/>
                </a:lnSpc>
              </a:pPr>
              <a:endParaRPr/>
            </a:p>
          </p:txBody>
        </p:sp>
      </p:grpSp>
      <p:grpSp>
        <p:nvGrpSpPr>
          <p:cNvPr id="7" name="Group 7"/>
          <p:cNvGrpSpPr/>
          <p:nvPr/>
        </p:nvGrpSpPr>
        <p:grpSpPr>
          <a:xfrm>
            <a:off x="7412050" y="2480668"/>
            <a:ext cx="1731950" cy="1269661"/>
            <a:chOff x="0" y="0"/>
            <a:chExt cx="812800" cy="595849"/>
          </a:xfrm>
        </p:grpSpPr>
        <p:sp>
          <p:nvSpPr>
            <p:cNvPr id="8" name="Freeform 8"/>
            <p:cNvSpPr/>
            <p:nvPr/>
          </p:nvSpPr>
          <p:spPr>
            <a:xfrm>
              <a:off x="0" y="0"/>
              <a:ext cx="812800" cy="595849"/>
            </a:xfrm>
            <a:custGeom>
              <a:avLst/>
              <a:gdLst/>
              <a:ahLst/>
              <a:cxnLst/>
              <a:rect l="l" t="t" r="r" b="b"/>
              <a:pathLst>
                <a:path w="812800" h="595849">
                  <a:moveTo>
                    <a:pt x="406400" y="0"/>
                  </a:moveTo>
                  <a:cubicBezTo>
                    <a:pt x="181951" y="0"/>
                    <a:pt x="0" y="133385"/>
                    <a:pt x="0" y="297925"/>
                  </a:cubicBezTo>
                  <a:cubicBezTo>
                    <a:pt x="0" y="462464"/>
                    <a:pt x="181951" y="595849"/>
                    <a:pt x="406400" y="595849"/>
                  </a:cubicBezTo>
                  <a:cubicBezTo>
                    <a:pt x="630849" y="595849"/>
                    <a:pt x="812800" y="462464"/>
                    <a:pt x="812800" y="297925"/>
                  </a:cubicBezTo>
                  <a:cubicBezTo>
                    <a:pt x="812800" y="133385"/>
                    <a:pt x="630849" y="0"/>
                    <a:pt x="406400" y="0"/>
                  </a:cubicBezTo>
                  <a:close/>
                </a:path>
              </a:pathLst>
            </a:custGeom>
            <a:solidFill>
              <a:srgbClr val="194A8D"/>
            </a:solidFill>
          </p:spPr>
        </p:sp>
        <p:sp>
          <p:nvSpPr>
            <p:cNvPr id="9" name="TextBox 9"/>
            <p:cNvSpPr txBox="1"/>
            <p:nvPr/>
          </p:nvSpPr>
          <p:spPr>
            <a:xfrm>
              <a:off x="76200" y="8236"/>
              <a:ext cx="660400" cy="531752"/>
            </a:xfrm>
            <a:prstGeom prst="rect">
              <a:avLst/>
            </a:prstGeom>
          </p:spPr>
          <p:txBody>
            <a:bodyPr lIns="50800" tIns="50800" rIns="50800" bIns="50800" rtlCol="0" anchor="ctr"/>
            <a:lstStyle/>
            <a:p>
              <a:pPr algn="ctr">
                <a:lnSpc>
                  <a:spcPts val="2659"/>
                </a:lnSpc>
              </a:pPr>
              <a:endParaRPr/>
            </a:p>
          </p:txBody>
        </p:sp>
      </p:grpSp>
      <p:sp>
        <p:nvSpPr>
          <p:cNvPr id="10" name="TextBox 10"/>
          <p:cNvSpPr txBox="1"/>
          <p:nvPr/>
        </p:nvSpPr>
        <p:spPr>
          <a:xfrm>
            <a:off x="7438226" y="2804690"/>
            <a:ext cx="1679599" cy="740698"/>
          </a:xfrm>
          <a:prstGeom prst="rect">
            <a:avLst/>
          </a:prstGeom>
        </p:spPr>
        <p:txBody>
          <a:bodyPr lIns="0" tIns="0" rIns="0" bIns="0" rtlCol="0" anchor="t">
            <a:spAutoFit/>
          </a:bodyPr>
          <a:lstStyle/>
          <a:p>
            <a:pPr algn="ctr">
              <a:lnSpc>
                <a:spcPts val="5633"/>
              </a:lnSpc>
            </a:pPr>
            <a:r>
              <a:rPr lang="en-US" sz="5314" spc="531">
                <a:solidFill>
                  <a:srgbClr val="FFFFFF"/>
                </a:solidFill>
                <a:latin typeface="League Spartan"/>
                <a:ea typeface="League Spartan"/>
                <a:cs typeface="League Spartan"/>
                <a:sym typeface="League Spartan"/>
              </a:rPr>
              <a:t>01</a:t>
            </a:r>
          </a:p>
        </p:txBody>
      </p:sp>
      <p:sp>
        <p:nvSpPr>
          <p:cNvPr id="11" name="TextBox 11"/>
          <p:cNvSpPr txBox="1"/>
          <p:nvPr/>
        </p:nvSpPr>
        <p:spPr>
          <a:xfrm>
            <a:off x="9498571" y="2833491"/>
            <a:ext cx="6522677" cy="711896"/>
          </a:xfrm>
          <a:prstGeom prst="rect">
            <a:avLst/>
          </a:prstGeom>
        </p:spPr>
        <p:txBody>
          <a:bodyPr lIns="0" tIns="0" rIns="0" bIns="0" rtlCol="0" anchor="t">
            <a:spAutoFit/>
          </a:bodyPr>
          <a:lstStyle/>
          <a:p>
            <a:pPr algn="l">
              <a:lnSpc>
                <a:spcPts val="2856"/>
              </a:lnSpc>
              <a:spcBef>
                <a:spcPct val="0"/>
              </a:spcBef>
            </a:pPr>
            <a:r>
              <a:rPr lang="en-US" sz="2040">
                <a:solidFill>
                  <a:srgbClr val="194A8D"/>
                </a:solidFill>
                <a:latin typeface="Arimo"/>
                <a:ea typeface="Arimo"/>
                <a:cs typeface="Arimo"/>
                <a:sym typeface="Arimo"/>
              </a:rPr>
              <a:t>Khởi tạo hạ tầng: Tạo VPC riêng, subnet chia AZ, ECS cluster, ALB, tạo RDS instance</a:t>
            </a:r>
          </a:p>
        </p:txBody>
      </p:sp>
      <p:grpSp>
        <p:nvGrpSpPr>
          <p:cNvPr id="12" name="Group 12"/>
          <p:cNvGrpSpPr/>
          <p:nvPr/>
        </p:nvGrpSpPr>
        <p:grpSpPr>
          <a:xfrm>
            <a:off x="8257139" y="4154107"/>
            <a:ext cx="8709530" cy="1084959"/>
            <a:chOff x="0" y="0"/>
            <a:chExt cx="2644579" cy="329439"/>
          </a:xfrm>
        </p:grpSpPr>
        <p:sp>
          <p:nvSpPr>
            <p:cNvPr id="13" name="Freeform 13"/>
            <p:cNvSpPr/>
            <p:nvPr/>
          </p:nvSpPr>
          <p:spPr>
            <a:xfrm>
              <a:off x="0" y="0"/>
              <a:ext cx="2644579" cy="329439"/>
            </a:xfrm>
            <a:custGeom>
              <a:avLst/>
              <a:gdLst/>
              <a:ahLst/>
              <a:cxnLst/>
              <a:rect l="l" t="t" r="r" b="b"/>
              <a:pathLst>
                <a:path w="2644579" h="329439">
                  <a:moveTo>
                    <a:pt x="0" y="0"/>
                  </a:moveTo>
                  <a:lnTo>
                    <a:pt x="2644579" y="0"/>
                  </a:lnTo>
                  <a:lnTo>
                    <a:pt x="2644579" y="329439"/>
                  </a:lnTo>
                  <a:lnTo>
                    <a:pt x="0" y="329439"/>
                  </a:lnTo>
                  <a:close/>
                </a:path>
              </a:pathLst>
            </a:custGeom>
            <a:solidFill>
              <a:srgbClr val="FFFFFF"/>
            </a:solidFill>
          </p:spPr>
        </p:sp>
        <p:sp>
          <p:nvSpPr>
            <p:cNvPr id="14" name="TextBox 14"/>
            <p:cNvSpPr txBox="1"/>
            <p:nvPr/>
          </p:nvSpPr>
          <p:spPr>
            <a:xfrm>
              <a:off x="0" y="-47625"/>
              <a:ext cx="2644579" cy="377064"/>
            </a:xfrm>
            <a:prstGeom prst="rect">
              <a:avLst/>
            </a:prstGeom>
          </p:spPr>
          <p:txBody>
            <a:bodyPr lIns="50800" tIns="50800" rIns="50800" bIns="50800" rtlCol="0" anchor="ctr"/>
            <a:lstStyle/>
            <a:p>
              <a:pPr algn="ctr">
                <a:lnSpc>
                  <a:spcPts val="2659"/>
                </a:lnSpc>
              </a:pPr>
              <a:endParaRPr/>
            </a:p>
          </p:txBody>
        </p:sp>
      </p:grpSp>
      <p:grpSp>
        <p:nvGrpSpPr>
          <p:cNvPr id="15" name="Group 15"/>
          <p:cNvGrpSpPr/>
          <p:nvPr/>
        </p:nvGrpSpPr>
        <p:grpSpPr>
          <a:xfrm>
            <a:off x="7438226" y="4217054"/>
            <a:ext cx="1731950" cy="1269661"/>
            <a:chOff x="0" y="0"/>
            <a:chExt cx="812800" cy="595849"/>
          </a:xfrm>
        </p:grpSpPr>
        <p:sp>
          <p:nvSpPr>
            <p:cNvPr id="16" name="Freeform 16"/>
            <p:cNvSpPr/>
            <p:nvPr/>
          </p:nvSpPr>
          <p:spPr>
            <a:xfrm>
              <a:off x="0" y="0"/>
              <a:ext cx="812800" cy="595849"/>
            </a:xfrm>
            <a:custGeom>
              <a:avLst/>
              <a:gdLst/>
              <a:ahLst/>
              <a:cxnLst/>
              <a:rect l="l" t="t" r="r" b="b"/>
              <a:pathLst>
                <a:path w="812800" h="595849">
                  <a:moveTo>
                    <a:pt x="406400" y="0"/>
                  </a:moveTo>
                  <a:cubicBezTo>
                    <a:pt x="181951" y="0"/>
                    <a:pt x="0" y="133385"/>
                    <a:pt x="0" y="297925"/>
                  </a:cubicBezTo>
                  <a:cubicBezTo>
                    <a:pt x="0" y="462464"/>
                    <a:pt x="181951" y="595849"/>
                    <a:pt x="406400" y="595849"/>
                  </a:cubicBezTo>
                  <a:cubicBezTo>
                    <a:pt x="630849" y="595849"/>
                    <a:pt x="812800" y="462464"/>
                    <a:pt x="812800" y="297925"/>
                  </a:cubicBezTo>
                  <a:cubicBezTo>
                    <a:pt x="812800" y="133385"/>
                    <a:pt x="630849" y="0"/>
                    <a:pt x="406400" y="0"/>
                  </a:cubicBezTo>
                  <a:close/>
                </a:path>
              </a:pathLst>
            </a:custGeom>
            <a:solidFill>
              <a:srgbClr val="194A8D"/>
            </a:solidFill>
          </p:spPr>
        </p:sp>
        <p:sp>
          <p:nvSpPr>
            <p:cNvPr id="17" name="TextBox 17"/>
            <p:cNvSpPr txBox="1"/>
            <p:nvPr/>
          </p:nvSpPr>
          <p:spPr>
            <a:xfrm>
              <a:off x="76200" y="8236"/>
              <a:ext cx="660400" cy="531752"/>
            </a:xfrm>
            <a:prstGeom prst="rect">
              <a:avLst/>
            </a:prstGeom>
          </p:spPr>
          <p:txBody>
            <a:bodyPr lIns="50800" tIns="50800" rIns="50800" bIns="50800" rtlCol="0" anchor="ctr"/>
            <a:lstStyle/>
            <a:p>
              <a:pPr algn="ctr">
                <a:lnSpc>
                  <a:spcPts val="2659"/>
                </a:lnSpc>
              </a:pPr>
              <a:endParaRPr/>
            </a:p>
          </p:txBody>
        </p:sp>
      </p:grpSp>
      <p:sp>
        <p:nvSpPr>
          <p:cNvPr id="18" name="TextBox 18"/>
          <p:cNvSpPr txBox="1"/>
          <p:nvPr/>
        </p:nvSpPr>
        <p:spPr>
          <a:xfrm>
            <a:off x="7464401" y="4541076"/>
            <a:ext cx="1679599" cy="740698"/>
          </a:xfrm>
          <a:prstGeom prst="rect">
            <a:avLst/>
          </a:prstGeom>
        </p:spPr>
        <p:txBody>
          <a:bodyPr lIns="0" tIns="0" rIns="0" bIns="0" rtlCol="0" anchor="t">
            <a:spAutoFit/>
          </a:bodyPr>
          <a:lstStyle/>
          <a:p>
            <a:pPr algn="ctr">
              <a:lnSpc>
                <a:spcPts val="5633"/>
              </a:lnSpc>
            </a:pPr>
            <a:r>
              <a:rPr lang="en-US" sz="5314" spc="531">
                <a:solidFill>
                  <a:srgbClr val="FFFFFF"/>
                </a:solidFill>
                <a:latin typeface="League Spartan"/>
                <a:ea typeface="League Spartan"/>
                <a:cs typeface="League Spartan"/>
                <a:sym typeface="League Spartan"/>
              </a:rPr>
              <a:t>02</a:t>
            </a:r>
          </a:p>
        </p:txBody>
      </p:sp>
      <p:sp>
        <p:nvSpPr>
          <p:cNvPr id="19" name="TextBox 19"/>
          <p:cNvSpPr txBox="1"/>
          <p:nvPr/>
        </p:nvSpPr>
        <p:spPr>
          <a:xfrm>
            <a:off x="9498571" y="4322227"/>
            <a:ext cx="6522677" cy="711896"/>
          </a:xfrm>
          <a:prstGeom prst="rect">
            <a:avLst/>
          </a:prstGeom>
        </p:spPr>
        <p:txBody>
          <a:bodyPr lIns="0" tIns="0" rIns="0" bIns="0" rtlCol="0" anchor="t">
            <a:spAutoFit/>
          </a:bodyPr>
          <a:lstStyle/>
          <a:p>
            <a:pPr algn="l">
              <a:lnSpc>
                <a:spcPts val="2856"/>
              </a:lnSpc>
              <a:spcBef>
                <a:spcPct val="0"/>
              </a:spcBef>
            </a:pPr>
            <a:r>
              <a:rPr lang="en-US" sz="2040">
                <a:solidFill>
                  <a:srgbClr val="194A8D"/>
                </a:solidFill>
                <a:latin typeface="Arimo"/>
                <a:ea typeface="Arimo"/>
                <a:cs typeface="Arimo"/>
                <a:sym typeface="Arimo"/>
              </a:rPr>
              <a:t>Kết nối an toàn: thiết lập RDS Proxy, kết nối ECS → Proxy, dùng IAM Role, Secrets Manager</a:t>
            </a:r>
          </a:p>
        </p:txBody>
      </p:sp>
      <p:grpSp>
        <p:nvGrpSpPr>
          <p:cNvPr id="20" name="Group 20"/>
          <p:cNvGrpSpPr/>
          <p:nvPr/>
        </p:nvGrpSpPr>
        <p:grpSpPr>
          <a:xfrm>
            <a:off x="8257139" y="5671418"/>
            <a:ext cx="8709530" cy="1084959"/>
            <a:chOff x="0" y="0"/>
            <a:chExt cx="2644579" cy="329439"/>
          </a:xfrm>
        </p:grpSpPr>
        <p:sp>
          <p:nvSpPr>
            <p:cNvPr id="21" name="Freeform 21"/>
            <p:cNvSpPr/>
            <p:nvPr/>
          </p:nvSpPr>
          <p:spPr>
            <a:xfrm>
              <a:off x="0" y="0"/>
              <a:ext cx="2644579" cy="329439"/>
            </a:xfrm>
            <a:custGeom>
              <a:avLst/>
              <a:gdLst/>
              <a:ahLst/>
              <a:cxnLst/>
              <a:rect l="l" t="t" r="r" b="b"/>
              <a:pathLst>
                <a:path w="2644579" h="329439">
                  <a:moveTo>
                    <a:pt x="0" y="0"/>
                  </a:moveTo>
                  <a:lnTo>
                    <a:pt x="2644579" y="0"/>
                  </a:lnTo>
                  <a:lnTo>
                    <a:pt x="2644579" y="329439"/>
                  </a:lnTo>
                  <a:lnTo>
                    <a:pt x="0" y="329439"/>
                  </a:lnTo>
                  <a:close/>
                </a:path>
              </a:pathLst>
            </a:custGeom>
            <a:solidFill>
              <a:srgbClr val="FFFFFF"/>
            </a:solidFill>
          </p:spPr>
        </p:sp>
        <p:sp>
          <p:nvSpPr>
            <p:cNvPr id="22" name="TextBox 22"/>
            <p:cNvSpPr txBox="1"/>
            <p:nvPr/>
          </p:nvSpPr>
          <p:spPr>
            <a:xfrm>
              <a:off x="0" y="-47625"/>
              <a:ext cx="2644579" cy="377064"/>
            </a:xfrm>
            <a:prstGeom prst="rect">
              <a:avLst/>
            </a:prstGeom>
          </p:spPr>
          <p:txBody>
            <a:bodyPr lIns="50800" tIns="50800" rIns="50800" bIns="50800" rtlCol="0" anchor="ctr"/>
            <a:lstStyle/>
            <a:p>
              <a:pPr algn="ctr">
                <a:lnSpc>
                  <a:spcPts val="2659"/>
                </a:lnSpc>
              </a:pPr>
              <a:endParaRPr/>
            </a:p>
          </p:txBody>
        </p:sp>
      </p:grpSp>
      <p:grpSp>
        <p:nvGrpSpPr>
          <p:cNvPr id="23" name="Group 23"/>
          <p:cNvGrpSpPr/>
          <p:nvPr/>
        </p:nvGrpSpPr>
        <p:grpSpPr>
          <a:xfrm>
            <a:off x="7412050" y="5486715"/>
            <a:ext cx="1731950" cy="1269661"/>
            <a:chOff x="0" y="0"/>
            <a:chExt cx="812800" cy="595849"/>
          </a:xfrm>
        </p:grpSpPr>
        <p:sp>
          <p:nvSpPr>
            <p:cNvPr id="24" name="Freeform 24"/>
            <p:cNvSpPr/>
            <p:nvPr/>
          </p:nvSpPr>
          <p:spPr>
            <a:xfrm>
              <a:off x="0" y="0"/>
              <a:ext cx="812800" cy="595849"/>
            </a:xfrm>
            <a:custGeom>
              <a:avLst/>
              <a:gdLst/>
              <a:ahLst/>
              <a:cxnLst/>
              <a:rect l="l" t="t" r="r" b="b"/>
              <a:pathLst>
                <a:path w="812800" h="595849">
                  <a:moveTo>
                    <a:pt x="406400" y="0"/>
                  </a:moveTo>
                  <a:cubicBezTo>
                    <a:pt x="181951" y="0"/>
                    <a:pt x="0" y="133385"/>
                    <a:pt x="0" y="297925"/>
                  </a:cubicBezTo>
                  <a:cubicBezTo>
                    <a:pt x="0" y="462464"/>
                    <a:pt x="181951" y="595849"/>
                    <a:pt x="406400" y="595849"/>
                  </a:cubicBezTo>
                  <a:cubicBezTo>
                    <a:pt x="630849" y="595849"/>
                    <a:pt x="812800" y="462464"/>
                    <a:pt x="812800" y="297925"/>
                  </a:cubicBezTo>
                  <a:cubicBezTo>
                    <a:pt x="812800" y="133385"/>
                    <a:pt x="630849" y="0"/>
                    <a:pt x="406400" y="0"/>
                  </a:cubicBezTo>
                  <a:close/>
                </a:path>
              </a:pathLst>
            </a:custGeom>
            <a:solidFill>
              <a:srgbClr val="194A8D"/>
            </a:solidFill>
          </p:spPr>
        </p:sp>
        <p:sp>
          <p:nvSpPr>
            <p:cNvPr id="25" name="TextBox 25"/>
            <p:cNvSpPr txBox="1"/>
            <p:nvPr/>
          </p:nvSpPr>
          <p:spPr>
            <a:xfrm>
              <a:off x="76200" y="8236"/>
              <a:ext cx="660400" cy="531752"/>
            </a:xfrm>
            <a:prstGeom prst="rect">
              <a:avLst/>
            </a:prstGeom>
          </p:spPr>
          <p:txBody>
            <a:bodyPr lIns="50800" tIns="50800" rIns="50800" bIns="50800" rtlCol="0" anchor="ctr"/>
            <a:lstStyle/>
            <a:p>
              <a:pPr algn="ctr">
                <a:lnSpc>
                  <a:spcPts val="2659"/>
                </a:lnSpc>
              </a:pPr>
              <a:endParaRPr/>
            </a:p>
          </p:txBody>
        </p:sp>
      </p:grpSp>
      <p:sp>
        <p:nvSpPr>
          <p:cNvPr id="26" name="TextBox 26"/>
          <p:cNvSpPr txBox="1"/>
          <p:nvPr/>
        </p:nvSpPr>
        <p:spPr>
          <a:xfrm>
            <a:off x="7438226" y="5810737"/>
            <a:ext cx="1679599" cy="740698"/>
          </a:xfrm>
          <a:prstGeom prst="rect">
            <a:avLst/>
          </a:prstGeom>
        </p:spPr>
        <p:txBody>
          <a:bodyPr lIns="0" tIns="0" rIns="0" bIns="0" rtlCol="0" anchor="t">
            <a:spAutoFit/>
          </a:bodyPr>
          <a:lstStyle/>
          <a:p>
            <a:pPr algn="ctr">
              <a:lnSpc>
                <a:spcPts val="5633"/>
              </a:lnSpc>
            </a:pPr>
            <a:r>
              <a:rPr lang="en-US" sz="5314" spc="531">
                <a:solidFill>
                  <a:srgbClr val="FFFFFF"/>
                </a:solidFill>
                <a:latin typeface="League Spartan"/>
                <a:ea typeface="League Spartan"/>
                <a:cs typeface="League Spartan"/>
                <a:sym typeface="League Spartan"/>
              </a:rPr>
              <a:t>03</a:t>
            </a:r>
          </a:p>
        </p:txBody>
      </p:sp>
      <p:sp>
        <p:nvSpPr>
          <p:cNvPr id="27" name="TextBox 27"/>
          <p:cNvSpPr txBox="1"/>
          <p:nvPr/>
        </p:nvSpPr>
        <p:spPr>
          <a:xfrm>
            <a:off x="9498571" y="5839539"/>
            <a:ext cx="6522677" cy="711896"/>
          </a:xfrm>
          <a:prstGeom prst="rect">
            <a:avLst/>
          </a:prstGeom>
        </p:spPr>
        <p:txBody>
          <a:bodyPr lIns="0" tIns="0" rIns="0" bIns="0" rtlCol="0" anchor="t">
            <a:spAutoFit/>
          </a:bodyPr>
          <a:lstStyle/>
          <a:p>
            <a:pPr algn="l">
              <a:lnSpc>
                <a:spcPts val="2856"/>
              </a:lnSpc>
              <a:spcBef>
                <a:spcPct val="0"/>
              </a:spcBef>
            </a:pPr>
            <a:r>
              <a:rPr lang="en-US" sz="2040">
                <a:solidFill>
                  <a:srgbClr val="194A8D"/>
                </a:solidFill>
                <a:latin typeface="Arimo"/>
                <a:ea typeface="Arimo"/>
                <a:cs typeface="Arimo"/>
                <a:sym typeface="Arimo"/>
              </a:rPr>
              <a:t>Tối ưu kết nối &amp; failover: Cấu hình connection pooling, giới hạn timeout, test failover Multi-AZ</a:t>
            </a:r>
          </a:p>
        </p:txBody>
      </p:sp>
      <p:grpSp>
        <p:nvGrpSpPr>
          <p:cNvPr id="28" name="Group 28"/>
          <p:cNvGrpSpPr/>
          <p:nvPr/>
        </p:nvGrpSpPr>
        <p:grpSpPr>
          <a:xfrm>
            <a:off x="8257139" y="7107612"/>
            <a:ext cx="8709530" cy="1084959"/>
            <a:chOff x="0" y="0"/>
            <a:chExt cx="2644579" cy="329439"/>
          </a:xfrm>
        </p:grpSpPr>
        <p:sp>
          <p:nvSpPr>
            <p:cNvPr id="29" name="Freeform 29"/>
            <p:cNvSpPr/>
            <p:nvPr/>
          </p:nvSpPr>
          <p:spPr>
            <a:xfrm>
              <a:off x="0" y="0"/>
              <a:ext cx="2644579" cy="329439"/>
            </a:xfrm>
            <a:custGeom>
              <a:avLst/>
              <a:gdLst/>
              <a:ahLst/>
              <a:cxnLst/>
              <a:rect l="l" t="t" r="r" b="b"/>
              <a:pathLst>
                <a:path w="2644579" h="329439">
                  <a:moveTo>
                    <a:pt x="0" y="0"/>
                  </a:moveTo>
                  <a:lnTo>
                    <a:pt x="2644579" y="0"/>
                  </a:lnTo>
                  <a:lnTo>
                    <a:pt x="2644579" y="329439"/>
                  </a:lnTo>
                  <a:lnTo>
                    <a:pt x="0" y="329439"/>
                  </a:lnTo>
                  <a:close/>
                </a:path>
              </a:pathLst>
            </a:custGeom>
            <a:solidFill>
              <a:srgbClr val="FFFFFF"/>
            </a:solidFill>
          </p:spPr>
        </p:sp>
        <p:sp>
          <p:nvSpPr>
            <p:cNvPr id="30" name="TextBox 30"/>
            <p:cNvSpPr txBox="1"/>
            <p:nvPr/>
          </p:nvSpPr>
          <p:spPr>
            <a:xfrm>
              <a:off x="0" y="-47625"/>
              <a:ext cx="2644579" cy="377064"/>
            </a:xfrm>
            <a:prstGeom prst="rect">
              <a:avLst/>
            </a:prstGeom>
          </p:spPr>
          <p:txBody>
            <a:bodyPr lIns="50800" tIns="50800" rIns="50800" bIns="50800" rtlCol="0" anchor="ctr"/>
            <a:lstStyle/>
            <a:p>
              <a:pPr algn="ctr">
                <a:lnSpc>
                  <a:spcPts val="2659"/>
                </a:lnSpc>
              </a:pPr>
              <a:endParaRPr/>
            </a:p>
          </p:txBody>
        </p:sp>
      </p:grpSp>
      <p:grpSp>
        <p:nvGrpSpPr>
          <p:cNvPr id="31" name="Group 31"/>
          <p:cNvGrpSpPr/>
          <p:nvPr/>
        </p:nvGrpSpPr>
        <p:grpSpPr>
          <a:xfrm>
            <a:off x="7412050" y="6922910"/>
            <a:ext cx="1731950" cy="1269661"/>
            <a:chOff x="0" y="0"/>
            <a:chExt cx="812800" cy="595849"/>
          </a:xfrm>
        </p:grpSpPr>
        <p:sp>
          <p:nvSpPr>
            <p:cNvPr id="32" name="Freeform 32"/>
            <p:cNvSpPr/>
            <p:nvPr/>
          </p:nvSpPr>
          <p:spPr>
            <a:xfrm>
              <a:off x="0" y="0"/>
              <a:ext cx="812800" cy="595849"/>
            </a:xfrm>
            <a:custGeom>
              <a:avLst/>
              <a:gdLst/>
              <a:ahLst/>
              <a:cxnLst/>
              <a:rect l="l" t="t" r="r" b="b"/>
              <a:pathLst>
                <a:path w="812800" h="595849">
                  <a:moveTo>
                    <a:pt x="406400" y="0"/>
                  </a:moveTo>
                  <a:cubicBezTo>
                    <a:pt x="181951" y="0"/>
                    <a:pt x="0" y="133385"/>
                    <a:pt x="0" y="297925"/>
                  </a:cubicBezTo>
                  <a:cubicBezTo>
                    <a:pt x="0" y="462464"/>
                    <a:pt x="181951" y="595849"/>
                    <a:pt x="406400" y="595849"/>
                  </a:cubicBezTo>
                  <a:cubicBezTo>
                    <a:pt x="630849" y="595849"/>
                    <a:pt x="812800" y="462464"/>
                    <a:pt x="812800" y="297925"/>
                  </a:cubicBezTo>
                  <a:cubicBezTo>
                    <a:pt x="812800" y="133385"/>
                    <a:pt x="630849" y="0"/>
                    <a:pt x="406400" y="0"/>
                  </a:cubicBezTo>
                  <a:close/>
                </a:path>
              </a:pathLst>
            </a:custGeom>
            <a:solidFill>
              <a:srgbClr val="194A8D"/>
            </a:solidFill>
          </p:spPr>
        </p:sp>
        <p:sp>
          <p:nvSpPr>
            <p:cNvPr id="33" name="TextBox 33"/>
            <p:cNvSpPr txBox="1"/>
            <p:nvPr/>
          </p:nvSpPr>
          <p:spPr>
            <a:xfrm>
              <a:off x="76200" y="8236"/>
              <a:ext cx="660400" cy="531752"/>
            </a:xfrm>
            <a:prstGeom prst="rect">
              <a:avLst/>
            </a:prstGeom>
          </p:spPr>
          <p:txBody>
            <a:bodyPr lIns="50800" tIns="50800" rIns="50800" bIns="50800" rtlCol="0" anchor="ctr"/>
            <a:lstStyle/>
            <a:p>
              <a:pPr algn="ctr">
                <a:lnSpc>
                  <a:spcPts val="2659"/>
                </a:lnSpc>
              </a:pPr>
              <a:endParaRPr/>
            </a:p>
          </p:txBody>
        </p:sp>
      </p:grpSp>
      <p:sp>
        <p:nvSpPr>
          <p:cNvPr id="34" name="TextBox 34"/>
          <p:cNvSpPr txBox="1"/>
          <p:nvPr/>
        </p:nvSpPr>
        <p:spPr>
          <a:xfrm>
            <a:off x="7438226" y="7246931"/>
            <a:ext cx="1679599" cy="740698"/>
          </a:xfrm>
          <a:prstGeom prst="rect">
            <a:avLst/>
          </a:prstGeom>
        </p:spPr>
        <p:txBody>
          <a:bodyPr lIns="0" tIns="0" rIns="0" bIns="0" rtlCol="0" anchor="t">
            <a:spAutoFit/>
          </a:bodyPr>
          <a:lstStyle/>
          <a:p>
            <a:pPr algn="ctr">
              <a:lnSpc>
                <a:spcPts val="5633"/>
              </a:lnSpc>
            </a:pPr>
            <a:r>
              <a:rPr lang="en-US" sz="5314" spc="531">
                <a:solidFill>
                  <a:srgbClr val="FFFFFF"/>
                </a:solidFill>
                <a:latin typeface="League Spartan"/>
                <a:ea typeface="League Spartan"/>
                <a:cs typeface="League Spartan"/>
                <a:sym typeface="League Spartan"/>
              </a:rPr>
              <a:t>04</a:t>
            </a:r>
          </a:p>
        </p:txBody>
      </p:sp>
      <p:sp>
        <p:nvSpPr>
          <p:cNvPr id="35" name="TextBox 35"/>
          <p:cNvSpPr txBox="1"/>
          <p:nvPr/>
        </p:nvSpPr>
        <p:spPr>
          <a:xfrm>
            <a:off x="9498571" y="7275733"/>
            <a:ext cx="6522677" cy="711896"/>
          </a:xfrm>
          <a:prstGeom prst="rect">
            <a:avLst/>
          </a:prstGeom>
        </p:spPr>
        <p:txBody>
          <a:bodyPr lIns="0" tIns="0" rIns="0" bIns="0" rtlCol="0" anchor="t">
            <a:spAutoFit/>
          </a:bodyPr>
          <a:lstStyle/>
          <a:p>
            <a:pPr algn="l">
              <a:lnSpc>
                <a:spcPts val="2856"/>
              </a:lnSpc>
              <a:spcBef>
                <a:spcPct val="0"/>
              </a:spcBef>
            </a:pPr>
            <a:r>
              <a:rPr lang="en-US" sz="2040">
                <a:solidFill>
                  <a:srgbClr val="194A8D"/>
                </a:solidFill>
                <a:latin typeface="Arimo"/>
                <a:ea typeface="Arimo"/>
                <a:cs typeface="Arimo"/>
                <a:sym typeface="Arimo"/>
              </a:rPr>
              <a:t>Logging, giám sát &amp; cảnh báo: Kích hoạt CloudWatch log, metrics, thiết lập alarm cho latency, CPU, kết nối</a:t>
            </a:r>
          </a:p>
        </p:txBody>
      </p:sp>
      <p:grpSp>
        <p:nvGrpSpPr>
          <p:cNvPr id="36" name="Group 36"/>
          <p:cNvGrpSpPr/>
          <p:nvPr/>
        </p:nvGrpSpPr>
        <p:grpSpPr>
          <a:xfrm>
            <a:off x="8283315" y="8539198"/>
            <a:ext cx="8709530" cy="1084959"/>
            <a:chOff x="0" y="0"/>
            <a:chExt cx="2644579" cy="329439"/>
          </a:xfrm>
        </p:grpSpPr>
        <p:sp>
          <p:nvSpPr>
            <p:cNvPr id="37" name="Freeform 37"/>
            <p:cNvSpPr/>
            <p:nvPr/>
          </p:nvSpPr>
          <p:spPr>
            <a:xfrm>
              <a:off x="0" y="0"/>
              <a:ext cx="2644579" cy="329439"/>
            </a:xfrm>
            <a:custGeom>
              <a:avLst/>
              <a:gdLst/>
              <a:ahLst/>
              <a:cxnLst/>
              <a:rect l="l" t="t" r="r" b="b"/>
              <a:pathLst>
                <a:path w="2644579" h="329439">
                  <a:moveTo>
                    <a:pt x="0" y="0"/>
                  </a:moveTo>
                  <a:lnTo>
                    <a:pt x="2644579" y="0"/>
                  </a:lnTo>
                  <a:lnTo>
                    <a:pt x="2644579" y="329439"/>
                  </a:lnTo>
                  <a:lnTo>
                    <a:pt x="0" y="329439"/>
                  </a:lnTo>
                  <a:close/>
                </a:path>
              </a:pathLst>
            </a:custGeom>
            <a:solidFill>
              <a:srgbClr val="FFFFFF"/>
            </a:solidFill>
          </p:spPr>
        </p:sp>
        <p:sp>
          <p:nvSpPr>
            <p:cNvPr id="38" name="TextBox 38"/>
            <p:cNvSpPr txBox="1"/>
            <p:nvPr/>
          </p:nvSpPr>
          <p:spPr>
            <a:xfrm>
              <a:off x="0" y="-47625"/>
              <a:ext cx="2644579" cy="377064"/>
            </a:xfrm>
            <a:prstGeom prst="rect">
              <a:avLst/>
            </a:prstGeom>
          </p:spPr>
          <p:txBody>
            <a:bodyPr lIns="50800" tIns="50800" rIns="50800" bIns="50800" rtlCol="0" anchor="ctr"/>
            <a:lstStyle/>
            <a:p>
              <a:pPr algn="ctr">
                <a:lnSpc>
                  <a:spcPts val="2659"/>
                </a:lnSpc>
              </a:pPr>
              <a:endParaRPr/>
            </a:p>
          </p:txBody>
        </p:sp>
      </p:grpSp>
      <p:grpSp>
        <p:nvGrpSpPr>
          <p:cNvPr id="39" name="Group 39"/>
          <p:cNvGrpSpPr/>
          <p:nvPr/>
        </p:nvGrpSpPr>
        <p:grpSpPr>
          <a:xfrm>
            <a:off x="7438226" y="8354496"/>
            <a:ext cx="1731950" cy="1269661"/>
            <a:chOff x="0" y="0"/>
            <a:chExt cx="812800" cy="595849"/>
          </a:xfrm>
        </p:grpSpPr>
        <p:sp>
          <p:nvSpPr>
            <p:cNvPr id="40" name="Freeform 40"/>
            <p:cNvSpPr/>
            <p:nvPr/>
          </p:nvSpPr>
          <p:spPr>
            <a:xfrm>
              <a:off x="0" y="0"/>
              <a:ext cx="812800" cy="595849"/>
            </a:xfrm>
            <a:custGeom>
              <a:avLst/>
              <a:gdLst/>
              <a:ahLst/>
              <a:cxnLst/>
              <a:rect l="l" t="t" r="r" b="b"/>
              <a:pathLst>
                <a:path w="812800" h="595849">
                  <a:moveTo>
                    <a:pt x="406400" y="0"/>
                  </a:moveTo>
                  <a:cubicBezTo>
                    <a:pt x="181951" y="0"/>
                    <a:pt x="0" y="133385"/>
                    <a:pt x="0" y="297925"/>
                  </a:cubicBezTo>
                  <a:cubicBezTo>
                    <a:pt x="0" y="462464"/>
                    <a:pt x="181951" y="595849"/>
                    <a:pt x="406400" y="595849"/>
                  </a:cubicBezTo>
                  <a:cubicBezTo>
                    <a:pt x="630849" y="595849"/>
                    <a:pt x="812800" y="462464"/>
                    <a:pt x="812800" y="297925"/>
                  </a:cubicBezTo>
                  <a:cubicBezTo>
                    <a:pt x="812800" y="133385"/>
                    <a:pt x="630849" y="0"/>
                    <a:pt x="406400" y="0"/>
                  </a:cubicBezTo>
                  <a:close/>
                </a:path>
              </a:pathLst>
            </a:custGeom>
            <a:solidFill>
              <a:srgbClr val="194A8D"/>
            </a:solidFill>
          </p:spPr>
        </p:sp>
        <p:sp>
          <p:nvSpPr>
            <p:cNvPr id="41" name="TextBox 41"/>
            <p:cNvSpPr txBox="1"/>
            <p:nvPr/>
          </p:nvSpPr>
          <p:spPr>
            <a:xfrm>
              <a:off x="76200" y="8236"/>
              <a:ext cx="660400" cy="531752"/>
            </a:xfrm>
            <a:prstGeom prst="rect">
              <a:avLst/>
            </a:prstGeom>
          </p:spPr>
          <p:txBody>
            <a:bodyPr lIns="50800" tIns="50800" rIns="50800" bIns="50800" rtlCol="0" anchor="ctr"/>
            <a:lstStyle/>
            <a:p>
              <a:pPr algn="ctr">
                <a:lnSpc>
                  <a:spcPts val="2659"/>
                </a:lnSpc>
              </a:pPr>
              <a:endParaRPr/>
            </a:p>
          </p:txBody>
        </p:sp>
      </p:grpSp>
      <p:sp>
        <p:nvSpPr>
          <p:cNvPr id="42" name="TextBox 42"/>
          <p:cNvSpPr txBox="1"/>
          <p:nvPr/>
        </p:nvSpPr>
        <p:spPr>
          <a:xfrm>
            <a:off x="7464401" y="8678517"/>
            <a:ext cx="1679599" cy="740698"/>
          </a:xfrm>
          <a:prstGeom prst="rect">
            <a:avLst/>
          </a:prstGeom>
        </p:spPr>
        <p:txBody>
          <a:bodyPr lIns="0" tIns="0" rIns="0" bIns="0" rtlCol="0" anchor="t">
            <a:spAutoFit/>
          </a:bodyPr>
          <a:lstStyle/>
          <a:p>
            <a:pPr algn="ctr">
              <a:lnSpc>
                <a:spcPts val="5633"/>
              </a:lnSpc>
            </a:pPr>
            <a:r>
              <a:rPr lang="en-US" sz="5314" spc="531">
                <a:solidFill>
                  <a:srgbClr val="FFFFFF"/>
                </a:solidFill>
                <a:latin typeface="League Spartan"/>
                <a:ea typeface="League Spartan"/>
                <a:cs typeface="League Spartan"/>
                <a:sym typeface="League Spartan"/>
              </a:rPr>
              <a:t>05</a:t>
            </a:r>
          </a:p>
        </p:txBody>
      </p:sp>
      <p:sp>
        <p:nvSpPr>
          <p:cNvPr id="43" name="TextBox 43"/>
          <p:cNvSpPr txBox="1"/>
          <p:nvPr/>
        </p:nvSpPr>
        <p:spPr>
          <a:xfrm>
            <a:off x="9524746" y="8707319"/>
            <a:ext cx="6522677" cy="711896"/>
          </a:xfrm>
          <a:prstGeom prst="rect">
            <a:avLst/>
          </a:prstGeom>
        </p:spPr>
        <p:txBody>
          <a:bodyPr lIns="0" tIns="0" rIns="0" bIns="0" rtlCol="0" anchor="t">
            <a:spAutoFit/>
          </a:bodyPr>
          <a:lstStyle/>
          <a:p>
            <a:pPr algn="l">
              <a:lnSpc>
                <a:spcPts val="2856"/>
              </a:lnSpc>
              <a:spcBef>
                <a:spcPct val="0"/>
              </a:spcBef>
            </a:pPr>
            <a:r>
              <a:rPr lang="en-US" sz="2040">
                <a:solidFill>
                  <a:srgbClr val="194A8D"/>
                </a:solidFill>
                <a:latin typeface="Arimo"/>
                <a:ea typeface="Arimo"/>
                <a:cs typeface="Arimo"/>
                <a:sym typeface="Arimo"/>
              </a:rPr>
              <a:t>Kiểm thử toàn hệ thống: Test hiệu suất, viết SOP khôi phục, tài liệu hóa toàn bộ quy trình</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Freeform 2"/>
          <p:cNvSpPr/>
          <p:nvPr/>
        </p:nvSpPr>
        <p:spPr>
          <a:xfrm>
            <a:off x="-261658" y="-1359176"/>
            <a:ext cx="9754014" cy="13005352"/>
          </a:xfrm>
          <a:custGeom>
            <a:avLst/>
            <a:gdLst/>
            <a:ahLst/>
            <a:cxnLst/>
            <a:rect l="l" t="t" r="r" b="b"/>
            <a:pathLst>
              <a:path w="9754014" h="13005352">
                <a:moveTo>
                  <a:pt x="0" y="0"/>
                </a:moveTo>
                <a:lnTo>
                  <a:pt x="9754015" y="0"/>
                </a:lnTo>
                <a:lnTo>
                  <a:pt x="9754015" y="13005352"/>
                </a:lnTo>
                <a:lnTo>
                  <a:pt x="0" y="13005352"/>
                </a:lnTo>
                <a:lnTo>
                  <a:pt x="0" y="0"/>
                </a:lnTo>
                <a:close/>
              </a:path>
            </a:pathLst>
          </a:custGeom>
          <a:blipFill>
            <a:blip r:embed="rId2">
              <a:alphaModFix amt="39000"/>
            </a:blip>
            <a:stretch>
              <a:fillRect/>
            </a:stretch>
          </a:blipFill>
        </p:spPr>
      </p:sp>
      <p:sp>
        <p:nvSpPr>
          <p:cNvPr id="3" name="TextBox 3"/>
          <p:cNvSpPr txBox="1"/>
          <p:nvPr/>
        </p:nvSpPr>
        <p:spPr>
          <a:xfrm>
            <a:off x="1906592" y="4519095"/>
            <a:ext cx="4029814" cy="2116559"/>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Các mốc quan trọng</a:t>
            </a:r>
          </a:p>
        </p:txBody>
      </p:sp>
      <p:grpSp>
        <p:nvGrpSpPr>
          <p:cNvPr id="4" name="Group 4"/>
          <p:cNvGrpSpPr/>
          <p:nvPr/>
        </p:nvGrpSpPr>
        <p:grpSpPr>
          <a:xfrm>
            <a:off x="8257139" y="1664107"/>
            <a:ext cx="8709530" cy="1084959"/>
            <a:chOff x="0" y="0"/>
            <a:chExt cx="2644579" cy="329439"/>
          </a:xfrm>
        </p:grpSpPr>
        <p:sp>
          <p:nvSpPr>
            <p:cNvPr id="5" name="Freeform 5"/>
            <p:cNvSpPr/>
            <p:nvPr/>
          </p:nvSpPr>
          <p:spPr>
            <a:xfrm>
              <a:off x="0" y="0"/>
              <a:ext cx="2644579" cy="329439"/>
            </a:xfrm>
            <a:custGeom>
              <a:avLst/>
              <a:gdLst/>
              <a:ahLst/>
              <a:cxnLst/>
              <a:rect l="l" t="t" r="r" b="b"/>
              <a:pathLst>
                <a:path w="2644579" h="329439">
                  <a:moveTo>
                    <a:pt x="0" y="0"/>
                  </a:moveTo>
                  <a:lnTo>
                    <a:pt x="2644579" y="0"/>
                  </a:lnTo>
                  <a:lnTo>
                    <a:pt x="2644579" y="329439"/>
                  </a:lnTo>
                  <a:lnTo>
                    <a:pt x="0" y="329439"/>
                  </a:lnTo>
                  <a:close/>
                </a:path>
              </a:pathLst>
            </a:custGeom>
            <a:solidFill>
              <a:srgbClr val="FFFFFF"/>
            </a:solidFill>
          </p:spPr>
        </p:sp>
        <p:sp>
          <p:nvSpPr>
            <p:cNvPr id="6" name="TextBox 6"/>
            <p:cNvSpPr txBox="1"/>
            <p:nvPr/>
          </p:nvSpPr>
          <p:spPr>
            <a:xfrm>
              <a:off x="0" y="-47625"/>
              <a:ext cx="2644579" cy="377064"/>
            </a:xfrm>
            <a:prstGeom prst="rect">
              <a:avLst/>
            </a:prstGeom>
          </p:spPr>
          <p:txBody>
            <a:bodyPr lIns="50800" tIns="50800" rIns="50800" bIns="50800" rtlCol="0" anchor="ctr"/>
            <a:lstStyle/>
            <a:p>
              <a:pPr algn="ctr">
                <a:lnSpc>
                  <a:spcPts val="2659"/>
                </a:lnSpc>
              </a:pPr>
              <a:endParaRPr/>
            </a:p>
          </p:txBody>
        </p:sp>
      </p:grpSp>
      <p:grpSp>
        <p:nvGrpSpPr>
          <p:cNvPr id="7" name="Group 7"/>
          <p:cNvGrpSpPr/>
          <p:nvPr/>
        </p:nvGrpSpPr>
        <p:grpSpPr>
          <a:xfrm>
            <a:off x="7438226" y="1571756"/>
            <a:ext cx="1731950" cy="1269661"/>
            <a:chOff x="0" y="0"/>
            <a:chExt cx="812800" cy="595849"/>
          </a:xfrm>
        </p:grpSpPr>
        <p:sp>
          <p:nvSpPr>
            <p:cNvPr id="8" name="Freeform 8"/>
            <p:cNvSpPr/>
            <p:nvPr/>
          </p:nvSpPr>
          <p:spPr>
            <a:xfrm>
              <a:off x="0" y="0"/>
              <a:ext cx="812800" cy="595849"/>
            </a:xfrm>
            <a:custGeom>
              <a:avLst/>
              <a:gdLst/>
              <a:ahLst/>
              <a:cxnLst/>
              <a:rect l="l" t="t" r="r" b="b"/>
              <a:pathLst>
                <a:path w="812800" h="595849">
                  <a:moveTo>
                    <a:pt x="406400" y="0"/>
                  </a:moveTo>
                  <a:cubicBezTo>
                    <a:pt x="181951" y="0"/>
                    <a:pt x="0" y="133385"/>
                    <a:pt x="0" y="297925"/>
                  </a:cubicBezTo>
                  <a:cubicBezTo>
                    <a:pt x="0" y="462464"/>
                    <a:pt x="181951" y="595849"/>
                    <a:pt x="406400" y="595849"/>
                  </a:cubicBezTo>
                  <a:cubicBezTo>
                    <a:pt x="630849" y="595849"/>
                    <a:pt x="812800" y="462464"/>
                    <a:pt x="812800" y="297925"/>
                  </a:cubicBezTo>
                  <a:cubicBezTo>
                    <a:pt x="812800" y="133385"/>
                    <a:pt x="630849" y="0"/>
                    <a:pt x="406400" y="0"/>
                  </a:cubicBezTo>
                  <a:close/>
                </a:path>
              </a:pathLst>
            </a:custGeom>
            <a:solidFill>
              <a:srgbClr val="194A8D"/>
            </a:solidFill>
          </p:spPr>
        </p:sp>
        <p:sp>
          <p:nvSpPr>
            <p:cNvPr id="9" name="TextBox 9"/>
            <p:cNvSpPr txBox="1"/>
            <p:nvPr/>
          </p:nvSpPr>
          <p:spPr>
            <a:xfrm>
              <a:off x="76200" y="8236"/>
              <a:ext cx="660400" cy="531752"/>
            </a:xfrm>
            <a:prstGeom prst="rect">
              <a:avLst/>
            </a:prstGeom>
          </p:spPr>
          <p:txBody>
            <a:bodyPr lIns="50800" tIns="50800" rIns="50800" bIns="50800" rtlCol="0" anchor="ctr"/>
            <a:lstStyle/>
            <a:p>
              <a:pPr algn="ctr">
                <a:lnSpc>
                  <a:spcPts val="2659"/>
                </a:lnSpc>
              </a:pPr>
              <a:endParaRPr/>
            </a:p>
          </p:txBody>
        </p:sp>
      </p:grpSp>
      <p:sp>
        <p:nvSpPr>
          <p:cNvPr id="10" name="TextBox 10"/>
          <p:cNvSpPr txBox="1"/>
          <p:nvPr/>
        </p:nvSpPr>
        <p:spPr>
          <a:xfrm>
            <a:off x="7417340" y="1849061"/>
            <a:ext cx="1679599" cy="740698"/>
          </a:xfrm>
          <a:prstGeom prst="rect">
            <a:avLst/>
          </a:prstGeom>
        </p:spPr>
        <p:txBody>
          <a:bodyPr lIns="0" tIns="0" rIns="0" bIns="0" rtlCol="0" anchor="t">
            <a:spAutoFit/>
          </a:bodyPr>
          <a:lstStyle/>
          <a:p>
            <a:pPr algn="ctr">
              <a:lnSpc>
                <a:spcPts val="5633"/>
              </a:lnSpc>
            </a:pPr>
            <a:r>
              <a:rPr lang="en-US" sz="5314" spc="531">
                <a:solidFill>
                  <a:srgbClr val="FFFFFF"/>
                </a:solidFill>
                <a:latin typeface="League Spartan"/>
                <a:ea typeface="League Spartan"/>
                <a:cs typeface="League Spartan"/>
                <a:sym typeface="League Spartan"/>
              </a:rPr>
              <a:t>M1</a:t>
            </a:r>
          </a:p>
        </p:txBody>
      </p:sp>
      <p:sp>
        <p:nvSpPr>
          <p:cNvPr id="11" name="TextBox 11"/>
          <p:cNvSpPr txBox="1"/>
          <p:nvPr/>
        </p:nvSpPr>
        <p:spPr>
          <a:xfrm>
            <a:off x="9498571" y="1832227"/>
            <a:ext cx="6522677" cy="353844"/>
          </a:xfrm>
          <a:prstGeom prst="rect">
            <a:avLst/>
          </a:prstGeom>
        </p:spPr>
        <p:txBody>
          <a:bodyPr lIns="0" tIns="0" rIns="0" bIns="0" rtlCol="0" anchor="t">
            <a:spAutoFit/>
          </a:bodyPr>
          <a:lstStyle/>
          <a:p>
            <a:pPr algn="l">
              <a:lnSpc>
                <a:spcPts val="2856"/>
              </a:lnSpc>
              <a:spcBef>
                <a:spcPct val="0"/>
              </a:spcBef>
            </a:pPr>
            <a:r>
              <a:rPr lang="en-US" sz="2040">
                <a:solidFill>
                  <a:srgbClr val="194A8D"/>
                </a:solidFill>
                <a:latin typeface="Arimo"/>
                <a:ea typeface="Arimo"/>
                <a:cs typeface="Arimo"/>
                <a:sym typeface="Arimo"/>
              </a:rPr>
              <a:t>Tạo ECS + RDS Proxy + RDS Multi-AZ, hạ tầng ổn định</a:t>
            </a:r>
          </a:p>
        </p:txBody>
      </p:sp>
      <p:grpSp>
        <p:nvGrpSpPr>
          <p:cNvPr id="12" name="Group 12"/>
          <p:cNvGrpSpPr/>
          <p:nvPr/>
        </p:nvGrpSpPr>
        <p:grpSpPr>
          <a:xfrm>
            <a:off x="8257139" y="3152843"/>
            <a:ext cx="8709530" cy="1084959"/>
            <a:chOff x="0" y="0"/>
            <a:chExt cx="2644579" cy="329439"/>
          </a:xfrm>
        </p:grpSpPr>
        <p:sp>
          <p:nvSpPr>
            <p:cNvPr id="13" name="Freeform 13"/>
            <p:cNvSpPr/>
            <p:nvPr/>
          </p:nvSpPr>
          <p:spPr>
            <a:xfrm>
              <a:off x="0" y="0"/>
              <a:ext cx="2644579" cy="329439"/>
            </a:xfrm>
            <a:custGeom>
              <a:avLst/>
              <a:gdLst/>
              <a:ahLst/>
              <a:cxnLst/>
              <a:rect l="l" t="t" r="r" b="b"/>
              <a:pathLst>
                <a:path w="2644579" h="329439">
                  <a:moveTo>
                    <a:pt x="0" y="0"/>
                  </a:moveTo>
                  <a:lnTo>
                    <a:pt x="2644579" y="0"/>
                  </a:lnTo>
                  <a:lnTo>
                    <a:pt x="2644579" y="329439"/>
                  </a:lnTo>
                  <a:lnTo>
                    <a:pt x="0" y="329439"/>
                  </a:lnTo>
                  <a:close/>
                </a:path>
              </a:pathLst>
            </a:custGeom>
            <a:solidFill>
              <a:srgbClr val="FFFFFF"/>
            </a:solidFill>
          </p:spPr>
        </p:sp>
        <p:sp>
          <p:nvSpPr>
            <p:cNvPr id="14" name="TextBox 14"/>
            <p:cNvSpPr txBox="1"/>
            <p:nvPr/>
          </p:nvSpPr>
          <p:spPr>
            <a:xfrm>
              <a:off x="0" y="-47625"/>
              <a:ext cx="2644579" cy="377064"/>
            </a:xfrm>
            <a:prstGeom prst="rect">
              <a:avLst/>
            </a:prstGeom>
          </p:spPr>
          <p:txBody>
            <a:bodyPr lIns="50800" tIns="50800" rIns="50800" bIns="50800" rtlCol="0" anchor="ctr"/>
            <a:lstStyle/>
            <a:p>
              <a:pPr algn="ctr">
                <a:lnSpc>
                  <a:spcPts val="2659"/>
                </a:lnSpc>
              </a:pPr>
              <a:endParaRPr/>
            </a:p>
          </p:txBody>
        </p:sp>
      </p:grpSp>
      <p:grpSp>
        <p:nvGrpSpPr>
          <p:cNvPr id="15" name="Group 15"/>
          <p:cNvGrpSpPr/>
          <p:nvPr/>
        </p:nvGrpSpPr>
        <p:grpSpPr>
          <a:xfrm>
            <a:off x="7364989" y="3029018"/>
            <a:ext cx="1731950" cy="1269661"/>
            <a:chOff x="0" y="0"/>
            <a:chExt cx="812800" cy="595849"/>
          </a:xfrm>
        </p:grpSpPr>
        <p:sp>
          <p:nvSpPr>
            <p:cNvPr id="16" name="Freeform 16"/>
            <p:cNvSpPr/>
            <p:nvPr/>
          </p:nvSpPr>
          <p:spPr>
            <a:xfrm>
              <a:off x="0" y="0"/>
              <a:ext cx="812800" cy="595849"/>
            </a:xfrm>
            <a:custGeom>
              <a:avLst/>
              <a:gdLst/>
              <a:ahLst/>
              <a:cxnLst/>
              <a:rect l="l" t="t" r="r" b="b"/>
              <a:pathLst>
                <a:path w="812800" h="595849">
                  <a:moveTo>
                    <a:pt x="406400" y="0"/>
                  </a:moveTo>
                  <a:cubicBezTo>
                    <a:pt x="181951" y="0"/>
                    <a:pt x="0" y="133385"/>
                    <a:pt x="0" y="297925"/>
                  </a:cubicBezTo>
                  <a:cubicBezTo>
                    <a:pt x="0" y="462464"/>
                    <a:pt x="181951" y="595849"/>
                    <a:pt x="406400" y="595849"/>
                  </a:cubicBezTo>
                  <a:cubicBezTo>
                    <a:pt x="630849" y="595849"/>
                    <a:pt x="812800" y="462464"/>
                    <a:pt x="812800" y="297925"/>
                  </a:cubicBezTo>
                  <a:cubicBezTo>
                    <a:pt x="812800" y="133385"/>
                    <a:pt x="630849" y="0"/>
                    <a:pt x="406400" y="0"/>
                  </a:cubicBezTo>
                  <a:close/>
                </a:path>
              </a:pathLst>
            </a:custGeom>
            <a:solidFill>
              <a:srgbClr val="194A8D"/>
            </a:solidFill>
          </p:spPr>
        </p:sp>
        <p:sp>
          <p:nvSpPr>
            <p:cNvPr id="17" name="TextBox 17"/>
            <p:cNvSpPr txBox="1"/>
            <p:nvPr/>
          </p:nvSpPr>
          <p:spPr>
            <a:xfrm>
              <a:off x="76200" y="8236"/>
              <a:ext cx="660400" cy="531752"/>
            </a:xfrm>
            <a:prstGeom prst="rect">
              <a:avLst/>
            </a:prstGeom>
          </p:spPr>
          <p:txBody>
            <a:bodyPr lIns="50800" tIns="50800" rIns="50800" bIns="50800" rtlCol="0" anchor="ctr"/>
            <a:lstStyle/>
            <a:p>
              <a:pPr algn="ctr">
                <a:lnSpc>
                  <a:spcPts val="2659"/>
                </a:lnSpc>
              </a:pPr>
              <a:endParaRPr/>
            </a:p>
          </p:txBody>
        </p:sp>
      </p:grpSp>
      <p:sp>
        <p:nvSpPr>
          <p:cNvPr id="18" name="TextBox 18"/>
          <p:cNvSpPr txBox="1"/>
          <p:nvPr/>
        </p:nvSpPr>
        <p:spPr>
          <a:xfrm>
            <a:off x="7490576" y="3363713"/>
            <a:ext cx="1679599" cy="740698"/>
          </a:xfrm>
          <a:prstGeom prst="rect">
            <a:avLst/>
          </a:prstGeom>
        </p:spPr>
        <p:txBody>
          <a:bodyPr lIns="0" tIns="0" rIns="0" bIns="0" rtlCol="0" anchor="t">
            <a:spAutoFit/>
          </a:bodyPr>
          <a:lstStyle/>
          <a:p>
            <a:pPr algn="ctr">
              <a:lnSpc>
                <a:spcPts val="5633"/>
              </a:lnSpc>
            </a:pPr>
            <a:r>
              <a:rPr lang="en-US" sz="5314" spc="531">
                <a:solidFill>
                  <a:srgbClr val="FFFFFF"/>
                </a:solidFill>
                <a:latin typeface="League Spartan"/>
                <a:ea typeface="League Spartan"/>
                <a:cs typeface="League Spartan"/>
                <a:sym typeface="League Spartan"/>
              </a:rPr>
              <a:t>M2</a:t>
            </a:r>
          </a:p>
        </p:txBody>
      </p:sp>
      <p:sp>
        <p:nvSpPr>
          <p:cNvPr id="19" name="TextBox 19"/>
          <p:cNvSpPr txBox="1"/>
          <p:nvPr/>
        </p:nvSpPr>
        <p:spPr>
          <a:xfrm>
            <a:off x="9498571" y="3320964"/>
            <a:ext cx="6522677" cy="711896"/>
          </a:xfrm>
          <a:prstGeom prst="rect">
            <a:avLst/>
          </a:prstGeom>
        </p:spPr>
        <p:txBody>
          <a:bodyPr lIns="0" tIns="0" rIns="0" bIns="0" rtlCol="0" anchor="t">
            <a:spAutoFit/>
          </a:bodyPr>
          <a:lstStyle/>
          <a:p>
            <a:pPr algn="l">
              <a:lnSpc>
                <a:spcPts val="2856"/>
              </a:lnSpc>
              <a:spcBef>
                <a:spcPct val="0"/>
              </a:spcBef>
            </a:pPr>
            <a:r>
              <a:rPr lang="en-US" sz="2040">
                <a:solidFill>
                  <a:srgbClr val="194A8D"/>
                </a:solidFill>
                <a:latin typeface="Arimo"/>
                <a:ea typeface="Arimo"/>
                <a:cs typeface="Arimo"/>
                <a:sym typeface="Arimo"/>
              </a:rPr>
              <a:t>Ứng dụng backend kết nối thông qua RDS Proxy an toàn và hoạt động thành công</a:t>
            </a:r>
          </a:p>
        </p:txBody>
      </p:sp>
      <p:grpSp>
        <p:nvGrpSpPr>
          <p:cNvPr id="20" name="Group 20"/>
          <p:cNvGrpSpPr/>
          <p:nvPr/>
        </p:nvGrpSpPr>
        <p:grpSpPr>
          <a:xfrm>
            <a:off x="8257139" y="4670154"/>
            <a:ext cx="8709530" cy="1084959"/>
            <a:chOff x="0" y="0"/>
            <a:chExt cx="2644579" cy="329439"/>
          </a:xfrm>
        </p:grpSpPr>
        <p:sp>
          <p:nvSpPr>
            <p:cNvPr id="21" name="Freeform 21"/>
            <p:cNvSpPr/>
            <p:nvPr/>
          </p:nvSpPr>
          <p:spPr>
            <a:xfrm>
              <a:off x="0" y="0"/>
              <a:ext cx="2644579" cy="329439"/>
            </a:xfrm>
            <a:custGeom>
              <a:avLst/>
              <a:gdLst/>
              <a:ahLst/>
              <a:cxnLst/>
              <a:rect l="l" t="t" r="r" b="b"/>
              <a:pathLst>
                <a:path w="2644579" h="329439">
                  <a:moveTo>
                    <a:pt x="0" y="0"/>
                  </a:moveTo>
                  <a:lnTo>
                    <a:pt x="2644579" y="0"/>
                  </a:lnTo>
                  <a:lnTo>
                    <a:pt x="2644579" y="329439"/>
                  </a:lnTo>
                  <a:lnTo>
                    <a:pt x="0" y="329439"/>
                  </a:lnTo>
                  <a:close/>
                </a:path>
              </a:pathLst>
            </a:custGeom>
            <a:solidFill>
              <a:srgbClr val="FFFFFF"/>
            </a:solidFill>
          </p:spPr>
        </p:sp>
        <p:sp>
          <p:nvSpPr>
            <p:cNvPr id="22" name="TextBox 22"/>
            <p:cNvSpPr txBox="1"/>
            <p:nvPr/>
          </p:nvSpPr>
          <p:spPr>
            <a:xfrm>
              <a:off x="0" y="-47625"/>
              <a:ext cx="2644579" cy="377064"/>
            </a:xfrm>
            <a:prstGeom prst="rect">
              <a:avLst/>
            </a:prstGeom>
          </p:spPr>
          <p:txBody>
            <a:bodyPr lIns="50800" tIns="50800" rIns="50800" bIns="50800" rtlCol="0" anchor="ctr"/>
            <a:lstStyle/>
            <a:p>
              <a:pPr algn="ctr">
                <a:lnSpc>
                  <a:spcPts val="2659"/>
                </a:lnSpc>
              </a:pPr>
              <a:endParaRPr/>
            </a:p>
          </p:txBody>
        </p:sp>
      </p:grpSp>
      <p:grpSp>
        <p:nvGrpSpPr>
          <p:cNvPr id="23" name="Group 23"/>
          <p:cNvGrpSpPr/>
          <p:nvPr/>
        </p:nvGrpSpPr>
        <p:grpSpPr>
          <a:xfrm>
            <a:off x="7364989" y="4589037"/>
            <a:ext cx="1731950" cy="1269661"/>
            <a:chOff x="0" y="0"/>
            <a:chExt cx="812800" cy="595849"/>
          </a:xfrm>
        </p:grpSpPr>
        <p:sp>
          <p:nvSpPr>
            <p:cNvPr id="24" name="Freeform 24"/>
            <p:cNvSpPr/>
            <p:nvPr/>
          </p:nvSpPr>
          <p:spPr>
            <a:xfrm>
              <a:off x="0" y="0"/>
              <a:ext cx="812800" cy="595849"/>
            </a:xfrm>
            <a:custGeom>
              <a:avLst/>
              <a:gdLst/>
              <a:ahLst/>
              <a:cxnLst/>
              <a:rect l="l" t="t" r="r" b="b"/>
              <a:pathLst>
                <a:path w="812800" h="595849">
                  <a:moveTo>
                    <a:pt x="406400" y="0"/>
                  </a:moveTo>
                  <a:cubicBezTo>
                    <a:pt x="181951" y="0"/>
                    <a:pt x="0" y="133385"/>
                    <a:pt x="0" y="297925"/>
                  </a:cubicBezTo>
                  <a:cubicBezTo>
                    <a:pt x="0" y="462464"/>
                    <a:pt x="181951" y="595849"/>
                    <a:pt x="406400" y="595849"/>
                  </a:cubicBezTo>
                  <a:cubicBezTo>
                    <a:pt x="630849" y="595849"/>
                    <a:pt x="812800" y="462464"/>
                    <a:pt x="812800" y="297925"/>
                  </a:cubicBezTo>
                  <a:cubicBezTo>
                    <a:pt x="812800" y="133385"/>
                    <a:pt x="630849" y="0"/>
                    <a:pt x="406400" y="0"/>
                  </a:cubicBezTo>
                  <a:close/>
                </a:path>
              </a:pathLst>
            </a:custGeom>
            <a:solidFill>
              <a:srgbClr val="194A8D"/>
            </a:solidFill>
          </p:spPr>
        </p:sp>
        <p:sp>
          <p:nvSpPr>
            <p:cNvPr id="25" name="TextBox 25"/>
            <p:cNvSpPr txBox="1"/>
            <p:nvPr/>
          </p:nvSpPr>
          <p:spPr>
            <a:xfrm>
              <a:off x="76200" y="8236"/>
              <a:ext cx="660400" cy="531752"/>
            </a:xfrm>
            <a:prstGeom prst="rect">
              <a:avLst/>
            </a:prstGeom>
          </p:spPr>
          <p:txBody>
            <a:bodyPr lIns="50800" tIns="50800" rIns="50800" bIns="50800" rtlCol="0" anchor="ctr"/>
            <a:lstStyle/>
            <a:p>
              <a:pPr algn="ctr">
                <a:lnSpc>
                  <a:spcPts val="2659"/>
                </a:lnSpc>
              </a:pPr>
              <a:endParaRPr/>
            </a:p>
          </p:txBody>
        </p:sp>
      </p:grpSp>
      <p:sp>
        <p:nvSpPr>
          <p:cNvPr id="26" name="TextBox 26"/>
          <p:cNvSpPr txBox="1"/>
          <p:nvPr/>
        </p:nvSpPr>
        <p:spPr>
          <a:xfrm>
            <a:off x="7364989" y="4927329"/>
            <a:ext cx="1679599" cy="740698"/>
          </a:xfrm>
          <a:prstGeom prst="rect">
            <a:avLst/>
          </a:prstGeom>
        </p:spPr>
        <p:txBody>
          <a:bodyPr lIns="0" tIns="0" rIns="0" bIns="0" rtlCol="0" anchor="t">
            <a:spAutoFit/>
          </a:bodyPr>
          <a:lstStyle/>
          <a:p>
            <a:pPr algn="ctr">
              <a:lnSpc>
                <a:spcPts val="5633"/>
              </a:lnSpc>
            </a:pPr>
            <a:r>
              <a:rPr lang="en-US" sz="5314" spc="531">
                <a:solidFill>
                  <a:srgbClr val="FFFFFF"/>
                </a:solidFill>
                <a:latin typeface="League Spartan"/>
                <a:ea typeface="League Spartan"/>
                <a:cs typeface="League Spartan"/>
                <a:sym typeface="League Spartan"/>
              </a:rPr>
              <a:t>M3</a:t>
            </a:r>
          </a:p>
        </p:txBody>
      </p:sp>
      <p:sp>
        <p:nvSpPr>
          <p:cNvPr id="27" name="TextBox 27"/>
          <p:cNvSpPr txBox="1"/>
          <p:nvPr/>
        </p:nvSpPr>
        <p:spPr>
          <a:xfrm>
            <a:off x="9498571" y="4838275"/>
            <a:ext cx="6522677" cy="711896"/>
          </a:xfrm>
          <a:prstGeom prst="rect">
            <a:avLst/>
          </a:prstGeom>
        </p:spPr>
        <p:txBody>
          <a:bodyPr lIns="0" tIns="0" rIns="0" bIns="0" rtlCol="0" anchor="t">
            <a:spAutoFit/>
          </a:bodyPr>
          <a:lstStyle/>
          <a:p>
            <a:pPr algn="l">
              <a:lnSpc>
                <a:spcPts val="2856"/>
              </a:lnSpc>
              <a:spcBef>
                <a:spcPct val="0"/>
              </a:spcBef>
            </a:pPr>
            <a:r>
              <a:rPr lang="en-US" sz="2040">
                <a:solidFill>
                  <a:srgbClr val="194A8D"/>
                </a:solidFill>
                <a:latin typeface="Arimo"/>
                <a:ea typeface="Arimo"/>
                <a:cs typeface="Arimo"/>
                <a:sym typeface="Arimo"/>
              </a:rPr>
              <a:t>Pooling hiệu quả, cấu hình auto failover kiểm nghiệm qua thử nghiệm thực tế</a:t>
            </a:r>
          </a:p>
        </p:txBody>
      </p:sp>
      <p:grpSp>
        <p:nvGrpSpPr>
          <p:cNvPr id="28" name="Group 28"/>
          <p:cNvGrpSpPr/>
          <p:nvPr/>
        </p:nvGrpSpPr>
        <p:grpSpPr>
          <a:xfrm>
            <a:off x="8257139" y="6106348"/>
            <a:ext cx="8709530" cy="1084959"/>
            <a:chOff x="0" y="0"/>
            <a:chExt cx="2644579" cy="329439"/>
          </a:xfrm>
        </p:grpSpPr>
        <p:sp>
          <p:nvSpPr>
            <p:cNvPr id="29" name="Freeform 29"/>
            <p:cNvSpPr/>
            <p:nvPr/>
          </p:nvSpPr>
          <p:spPr>
            <a:xfrm>
              <a:off x="0" y="0"/>
              <a:ext cx="2644579" cy="329439"/>
            </a:xfrm>
            <a:custGeom>
              <a:avLst/>
              <a:gdLst/>
              <a:ahLst/>
              <a:cxnLst/>
              <a:rect l="l" t="t" r="r" b="b"/>
              <a:pathLst>
                <a:path w="2644579" h="329439">
                  <a:moveTo>
                    <a:pt x="0" y="0"/>
                  </a:moveTo>
                  <a:lnTo>
                    <a:pt x="2644579" y="0"/>
                  </a:lnTo>
                  <a:lnTo>
                    <a:pt x="2644579" y="329439"/>
                  </a:lnTo>
                  <a:lnTo>
                    <a:pt x="0" y="329439"/>
                  </a:lnTo>
                  <a:close/>
                </a:path>
              </a:pathLst>
            </a:custGeom>
            <a:solidFill>
              <a:srgbClr val="FFFFFF"/>
            </a:solidFill>
          </p:spPr>
        </p:sp>
        <p:sp>
          <p:nvSpPr>
            <p:cNvPr id="30" name="TextBox 30"/>
            <p:cNvSpPr txBox="1"/>
            <p:nvPr/>
          </p:nvSpPr>
          <p:spPr>
            <a:xfrm>
              <a:off x="0" y="-47625"/>
              <a:ext cx="2644579" cy="377064"/>
            </a:xfrm>
            <a:prstGeom prst="rect">
              <a:avLst/>
            </a:prstGeom>
          </p:spPr>
          <p:txBody>
            <a:bodyPr lIns="50800" tIns="50800" rIns="50800" bIns="50800" rtlCol="0" anchor="ctr"/>
            <a:lstStyle/>
            <a:p>
              <a:pPr algn="ctr">
                <a:lnSpc>
                  <a:spcPts val="2659"/>
                </a:lnSpc>
              </a:pPr>
              <a:endParaRPr/>
            </a:p>
          </p:txBody>
        </p:sp>
      </p:grpSp>
      <p:grpSp>
        <p:nvGrpSpPr>
          <p:cNvPr id="31" name="Group 31"/>
          <p:cNvGrpSpPr/>
          <p:nvPr/>
        </p:nvGrpSpPr>
        <p:grpSpPr>
          <a:xfrm>
            <a:off x="7412050" y="6000823"/>
            <a:ext cx="1731950" cy="1269661"/>
            <a:chOff x="0" y="0"/>
            <a:chExt cx="812800" cy="595849"/>
          </a:xfrm>
        </p:grpSpPr>
        <p:sp>
          <p:nvSpPr>
            <p:cNvPr id="32" name="Freeform 32"/>
            <p:cNvSpPr/>
            <p:nvPr/>
          </p:nvSpPr>
          <p:spPr>
            <a:xfrm>
              <a:off x="0" y="0"/>
              <a:ext cx="812800" cy="595849"/>
            </a:xfrm>
            <a:custGeom>
              <a:avLst/>
              <a:gdLst/>
              <a:ahLst/>
              <a:cxnLst/>
              <a:rect l="l" t="t" r="r" b="b"/>
              <a:pathLst>
                <a:path w="812800" h="595849">
                  <a:moveTo>
                    <a:pt x="406400" y="0"/>
                  </a:moveTo>
                  <a:cubicBezTo>
                    <a:pt x="181951" y="0"/>
                    <a:pt x="0" y="133385"/>
                    <a:pt x="0" y="297925"/>
                  </a:cubicBezTo>
                  <a:cubicBezTo>
                    <a:pt x="0" y="462464"/>
                    <a:pt x="181951" y="595849"/>
                    <a:pt x="406400" y="595849"/>
                  </a:cubicBezTo>
                  <a:cubicBezTo>
                    <a:pt x="630849" y="595849"/>
                    <a:pt x="812800" y="462464"/>
                    <a:pt x="812800" y="297925"/>
                  </a:cubicBezTo>
                  <a:cubicBezTo>
                    <a:pt x="812800" y="133385"/>
                    <a:pt x="630849" y="0"/>
                    <a:pt x="406400" y="0"/>
                  </a:cubicBezTo>
                  <a:close/>
                </a:path>
              </a:pathLst>
            </a:custGeom>
            <a:solidFill>
              <a:srgbClr val="194A8D"/>
            </a:solidFill>
          </p:spPr>
        </p:sp>
        <p:sp>
          <p:nvSpPr>
            <p:cNvPr id="33" name="TextBox 33"/>
            <p:cNvSpPr txBox="1"/>
            <p:nvPr/>
          </p:nvSpPr>
          <p:spPr>
            <a:xfrm>
              <a:off x="76200" y="8236"/>
              <a:ext cx="660400" cy="531752"/>
            </a:xfrm>
            <a:prstGeom prst="rect">
              <a:avLst/>
            </a:prstGeom>
          </p:spPr>
          <p:txBody>
            <a:bodyPr lIns="50800" tIns="50800" rIns="50800" bIns="50800" rtlCol="0" anchor="ctr"/>
            <a:lstStyle/>
            <a:p>
              <a:pPr algn="ctr">
                <a:lnSpc>
                  <a:spcPts val="2659"/>
                </a:lnSpc>
              </a:pPr>
              <a:endParaRPr/>
            </a:p>
          </p:txBody>
        </p:sp>
      </p:grpSp>
      <p:sp>
        <p:nvSpPr>
          <p:cNvPr id="34" name="TextBox 34"/>
          <p:cNvSpPr txBox="1"/>
          <p:nvPr/>
        </p:nvSpPr>
        <p:spPr>
          <a:xfrm>
            <a:off x="7464401" y="6277798"/>
            <a:ext cx="1679599" cy="740698"/>
          </a:xfrm>
          <a:prstGeom prst="rect">
            <a:avLst/>
          </a:prstGeom>
        </p:spPr>
        <p:txBody>
          <a:bodyPr lIns="0" tIns="0" rIns="0" bIns="0" rtlCol="0" anchor="t">
            <a:spAutoFit/>
          </a:bodyPr>
          <a:lstStyle/>
          <a:p>
            <a:pPr algn="ctr">
              <a:lnSpc>
                <a:spcPts val="5633"/>
              </a:lnSpc>
            </a:pPr>
            <a:r>
              <a:rPr lang="en-US" sz="5314" spc="531">
                <a:solidFill>
                  <a:srgbClr val="FFFFFF"/>
                </a:solidFill>
                <a:latin typeface="League Spartan"/>
                <a:ea typeface="League Spartan"/>
                <a:cs typeface="League Spartan"/>
                <a:sym typeface="League Spartan"/>
              </a:rPr>
              <a:t>M4</a:t>
            </a:r>
          </a:p>
        </p:txBody>
      </p:sp>
      <p:sp>
        <p:nvSpPr>
          <p:cNvPr id="35" name="TextBox 35"/>
          <p:cNvSpPr txBox="1"/>
          <p:nvPr/>
        </p:nvSpPr>
        <p:spPr>
          <a:xfrm>
            <a:off x="9498571" y="6274469"/>
            <a:ext cx="6522677" cy="711896"/>
          </a:xfrm>
          <a:prstGeom prst="rect">
            <a:avLst/>
          </a:prstGeom>
        </p:spPr>
        <p:txBody>
          <a:bodyPr lIns="0" tIns="0" rIns="0" bIns="0" rtlCol="0" anchor="t">
            <a:spAutoFit/>
          </a:bodyPr>
          <a:lstStyle/>
          <a:p>
            <a:pPr algn="l">
              <a:lnSpc>
                <a:spcPts val="2856"/>
              </a:lnSpc>
              <a:spcBef>
                <a:spcPct val="0"/>
              </a:spcBef>
            </a:pPr>
            <a:r>
              <a:rPr lang="en-US" sz="2040">
                <a:solidFill>
                  <a:srgbClr val="194A8D"/>
                </a:solidFill>
                <a:latin typeface="Arimo"/>
                <a:ea typeface="Arimo"/>
                <a:cs typeface="Arimo"/>
                <a:sym typeface="Arimo"/>
              </a:rPr>
              <a:t>CloudWatch Alarm alert khi kết nối &gt; ngưỡng, tài liệu dashboard giám sát</a:t>
            </a:r>
          </a:p>
        </p:txBody>
      </p:sp>
      <p:grpSp>
        <p:nvGrpSpPr>
          <p:cNvPr id="36" name="Group 36"/>
          <p:cNvGrpSpPr/>
          <p:nvPr/>
        </p:nvGrpSpPr>
        <p:grpSpPr>
          <a:xfrm>
            <a:off x="8283315" y="7537935"/>
            <a:ext cx="8709530" cy="1084959"/>
            <a:chOff x="0" y="0"/>
            <a:chExt cx="2644579" cy="329439"/>
          </a:xfrm>
        </p:grpSpPr>
        <p:sp>
          <p:nvSpPr>
            <p:cNvPr id="37" name="Freeform 37"/>
            <p:cNvSpPr/>
            <p:nvPr/>
          </p:nvSpPr>
          <p:spPr>
            <a:xfrm>
              <a:off x="0" y="0"/>
              <a:ext cx="2644579" cy="329439"/>
            </a:xfrm>
            <a:custGeom>
              <a:avLst/>
              <a:gdLst/>
              <a:ahLst/>
              <a:cxnLst/>
              <a:rect l="l" t="t" r="r" b="b"/>
              <a:pathLst>
                <a:path w="2644579" h="329439">
                  <a:moveTo>
                    <a:pt x="0" y="0"/>
                  </a:moveTo>
                  <a:lnTo>
                    <a:pt x="2644579" y="0"/>
                  </a:lnTo>
                  <a:lnTo>
                    <a:pt x="2644579" y="329439"/>
                  </a:lnTo>
                  <a:lnTo>
                    <a:pt x="0" y="329439"/>
                  </a:lnTo>
                  <a:close/>
                </a:path>
              </a:pathLst>
            </a:custGeom>
            <a:solidFill>
              <a:srgbClr val="FFFFFF"/>
            </a:solidFill>
          </p:spPr>
        </p:sp>
        <p:sp>
          <p:nvSpPr>
            <p:cNvPr id="38" name="TextBox 38"/>
            <p:cNvSpPr txBox="1"/>
            <p:nvPr/>
          </p:nvSpPr>
          <p:spPr>
            <a:xfrm>
              <a:off x="0" y="-47625"/>
              <a:ext cx="2644579" cy="377064"/>
            </a:xfrm>
            <a:prstGeom prst="rect">
              <a:avLst/>
            </a:prstGeom>
          </p:spPr>
          <p:txBody>
            <a:bodyPr lIns="50800" tIns="50800" rIns="50800" bIns="50800" rtlCol="0" anchor="ctr"/>
            <a:lstStyle/>
            <a:p>
              <a:pPr algn="ctr">
                <a:lnSpc>
                  <a:spcPts val="2659"/>
                </a:lnSpc>
              </a:pPr>
              <a:endParaRPr/>
            </a:p>
          </p:txBody>
        </p:sp>
      </p:grpSp>
      <p:grpSp>
        <p:nvGrpSpPr>
          <p:cNvPr id="39" name="Group 39"/>
          <p:cNvGrpSpPr/>
          <p:nvPr/>
        </p:nvGrpSpPr>
        <p:grpSpPr>
          <a:xfrm>
            <a:off x="7438226" y="7445583"/>
            <a:ext cx="1731950" cy="1269661"/>
            <a:chOff x="0" y="0"/>
            <a:chExt cx="812800" cy="595849"/>
          </a:xfrm>
        </p:grpSpPr>
        <p:sp>
          <p:nvSpPr>
            <p:cNvPr id="40" name="Freeform 40"/>
            <p:cNvSpPr/>
            <p:nvPr/>
          </p:nvSpPr>
          <p:spPr>
            <a:xfrm>
              <a:off x="0" y="0"/>
              <a:ext cx="812800" cy="595849"/>
            </a:xfrm>
            <a:custGeom>
              <a:avLst/>
              <a:gdLst/>
              <a:ahLst/>
              <a:cxnLst/>
              <a:rect l="l" t="t" r="r" b="b"/>
              <a:pathLst>
                <a:path w="812800" h="595849">
                  <a:moveTo>
                    <a:pt x="406400" y="0"/>
                  </a:moveTo>
                  <a:cubicBezTo>
                    <a:pt x="181951" y="0"/>
                    <a:pt x="0" y="133385"/>
                    <a:pt x="0" y="297925"/>
                  </a:cubicBezTo>
                  <a:cubicBezTo>
                    <a:pt x="0" y="462464"/>
                    <a:pt x="181951" y="595849"/>
                    <a:pt x="406400" y="595849"/>
                  </a:cubicBezTo>
                  <a:cubicBezTo>
                    <a:pt x="630849" y="595849"/>
                    <a:pt x="812800" y="462464"/>
                    <a:pt x="812800" y="297925"/>
                  </a:cubicBezTo>
                  <a:cubicBezTo>
                    <a:pt x="812800" y="133385"/>
                    <a:pt x="630849" y="0"/>
                    <a:pt x="406400" y="0"/>
                  </a:cubicBezTo>
                  <a:close/>
                </a:path>
              </a:pathLst>
            </a:custGeom>
            <a:solidFill>
              <a:srgbClr val="194A8D"/>
            </a:solidFill>
          </p:spPr>
        </p:sp>
        <p:sp>
          <p:nvSpPr>
            <p:cNvPr id="41" name="TextBox 41"/>
            <p:cNvSpPr txBox="1"/>
            <p:nvPr/>
          </p:nvSpPr>
          <p:spPr>
            <a:xfrm>
              <a:off x="76200" y="8236"/>
              <a:ext cx="660400" cy="531752"/>
            </a:xfrm>
            <a:prstGeom prst="rect">
              <a:avLst/>
            </a:prstGeom>
          </p:spPr>
          <p:txBody>
            <a:bodyPr lIns="50800" tIns="50800" rIns="50800" bIns="50800" rtlCol="0" anchor="ctr"/>
            <a:lstStyle/>
            <a:p>
              <a:pPr algn="ctr">
                <a:lnSpc>
                  <a:spcPts val="2659"/>
                </a:lnSpc>
              </a:pPr>
              <a:endParaRPr/>
            </a:p>
          </p:txBody>
        </p:sp>
      </p:grpSp>
      <p:sp>
        <p:nvSpPr>
          <p:cNvPr id="42" name="TextBox 42"/>
          <p:cNvSpPr txBox="1"/>
          <p:nvPr/>
        </p:nvSpPr>
        <p:spPr>
          <a:xfrm>
            <a:off x="7490576" y="7822935"/>
            <a:ext cx="1679599" cy="740698"/>
          </a:xfrm>
          <a:prstGeom prst="rect">
            <a:avLst/>
          </a:prstGeom>
        </p:spPr>
        <p:txBody>
          <a:bodyPr lIns="0" tIns="0" rIns="0" bIns="0" rtlCol="0" anchor="t">
            <a:spAutoFit/>
          </a:bodyPr>
          <a:lstStyle/>
          <a:p>
            <a:pPr algn="ctr">
              <a:lnSpc>
                <a:spcPts val="5633"/>
              </a:lnSpc>
            </a:pPr>
            <a:r>
              <a:rPr lang="en-US" sz="5314" spc="531">
                <a:solidFill>
                  <a:srgbClr val="FFFFFF"/>
                </a:solidFill>
                <a:latin typeface="League Spartan"/>
                <a:ea typeface="League Spartan"/>
                <a:cs typeface="League Spartan"/>
                <a:sym typeface="League Spartan"/>
              </a:rPr>
              <a:t>M5</a:t>
            </a:r>
          </a:p>
        </p:txBody>
      </p:sp>
      <p:sp>
        <p:nvSpPr>
          <p:cNvPr id="43" name="TextBox 43"/>
          <p:cNvSpPr txBox="1"/>
          <p:nvPr/>
        </p:nvSpPr>
        <p:spPr>
          <a:xfrm>
            <a:off x="9524746" y="7706055"/>
            <a:ext cx="6522677" cy="711896"/>
          </a:xfrm>
          <a:prstGeom prst="rect">
            <a:avLst/>
          </a:prstGeom>
        </p:spPr>
        <p:txBody>
          <a:bodyPr lIns="0" tIns="0" rIns="0" bIns="0" rtlCol="0" anchor="t">
            <a:spAutoFit/>
          </a:bodyPr>
          <a:lstStyle/>
          <a:p>
            <a:pPr algn="l">
              <a:lnSpc>
                <a:spcPts val="2856"/>
              </a:lnSpc>
              <a:spcBef>
                <a:spcPct val="0"/>
              </a:spcBef>
            </a:pPr>
            <a:r>
              <a:rPr lang="en-US" sz="2040">
                <a:solidFill>
                  <a:srgbClr val="194A8D"/>
                </a:solidFill>
                <a:latin typeface="Arimo"/>
                <a:ea typeface="Arimo"/>
                <a:cs typeface="Arimo"/>
                <a:sym typeface="Arimo"/>
              </a:rPr>
              <a:t>Bộ báo cáo thử nghiệm đầy đủ, guide vận hành + cấu hình được bàn giao</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5852299" y="351420"/>
            <a:ext cx="7563890"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Phân Bổ Nguồn Lực</a:t>
            </a:r>
          </a:p>
        </p:txBody>
      </p:sp>
      <p:graphicFrame>
        <p:nvGraphicFramePr>
          <p:cNvPr id="3" name="Object 3"/>
          <p:cNvGraphicFramePr/>
          <p:nvPr/>
        </p:nvGraphicFramePr>
        <p:xfrm>
          <a:off x="1028700" y="1890843"/>
          <a:ext cx="2514600" cy="2095500"/>
        </p:xfrm>
        <a:graphic>
          <a:graphicData uri="http://schemas.openxmlformats.org/presentationml/2006/ole">
            <mc:AlternateContent xmlns:mc="http://schemas.openxmlformats.org/markup-compatibility/2006">
              <mc:Choice xmlns:v="urn:schemas-microsoft-com:vml" Requires="v">
                <p:oleObj name="Worksheet" r:id="rId2" imgW="3009900" imgH="2590800" progId="Excel.Sheet.12">
                  <p:embed/>
                </p:oleObj>
              </mc:Choice>
              <mc:Fallback>
                <p:oleObj name="Worksheet" r:id="rId2" imgW="3009900" imgH="2590800" progId="Excel.Sheet.12">
                  <p:embed/>
                  <p:pic>
                    <p:nvPicPr>
                      <p:cNvPr id="0" name=""/>
                      <p:cNvPicPr/>
                      <p:nvPr/>
                    </p:nvPicPr>
                    <p:blipFill>
                      <a:blip r:embed="rId3"/>
                      <a:stretch>
                        <a:fillRect/>
                      </a:stretch>
                    </p:blipFill>
                    <p:spPr>
                      <a:xfrm>
                        <a:off x="1028700" y="1890843"/>
                        <a:ext cx="2514600" cy="2095500"/>
                      </a:xfrm>
                      <a:prstGeom prst="rect">
                        <a:avLst/>
                      </a:prstGeom>
                    </p:spPr>
                  </p:pic>
                </p:oleObj>
              </mc:Fallback>
            </mc:AlternateContent>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grpSp>
        <p:nvGrpSpPr>
          <p:cNvPr id="2" name="Group 2"/>
          <p:cNvGrpSpPr/>
          <p:nvPr/>
        </p:nvGrpSpPr>
        <p:grpSpPr>
          <a:xfrm>
            <a:off x="1329961" y="793052"/>
            <a:ext cx="7621232" cy="9150086"/>
            <a:chOff x="0" y="0"/>
            <a:chExt cx="2007238" cy="2409899"/>
          </a:xfrm>
        </p:grpSpPr>
        <p:sp>
          <p:nvSpPr>
            <p:cNvPr id="3" name="Freeform 3"/>
            <p:cNvSpPr/>
            <p:nvPr/>
          </p:nvSpPr>
          <p:spPr>
            <a:xfrm>
              <a:off x="0" y="0"/>
              <a:ext cx="2007238" cy="2409899"/>
            </a:xfrm>
            <a:custGeom>
              <a:avLst/>
              <a:gdLst/>
              <a:ahLst/>
              <a:cxnLst/>
              <a:rect l="l" t="t" r="r" b="b"/>
              <a:pathLst>
                <a:path w="2007238" h="2409899">
                  <a:moveTo>
                    <a:pt x="0" y="0"/>
                  </a:moveTo>
                  <a:lnTo>
                    <a:pt x="2007238" y="0"/>
                  </a:lnTo>
                  <a:lnTo>
                    <a:pt x="2007238" y="2409899"/>
                  </a:lnTo>
                  <a:lnTo>
                    <a:pt x="0" y="2409899"/>
                  </a:lnTo>
                  <a:close/>
                </a:path>
              </a:pathLst>
            </a:custGeom>
            <a:solidFill>
              <a:srgbClr val="FFFFFF"/>
            </a:solidFill>
          </p:spPr>
        </p:sp>
        <p:sp>
          <p:nvSpPr>
            <p:cNvPr id="4" name="TextBox 4"/>
            <p:cNvSpPr txBox="1"/>
            <p:nvPr/>
          </p:nvSpPr>
          <p:spPr>
            <a:xfrm>
              <a:off x="0" y="-47625"/>
              <a:ext cx="2007238" cy="2457524"/>
            </a:xfrm>
            <a:prstGeom prst="rect">
              <a:avLst/>
            </a:prstGeom>
          </p:spPr>
          <p:txBody>
            <a:bodyPr lIns="50800" tIns="50800" rIns="50800" bIns="50800" rtlCol="0" anchor="ctr"/>
            <a:lstStyle/>
            <a:p>
              <a:pPr algn="ctr">
                <a:lnSpc>
                  <a:spcPts val="2659"/>
                </a:lnSpc>
              </a:pPr>
              <a:endParaRPr/>
            </a:p>
          </p:txBody>
        </p:sp>
      </p:grpSp>
      <p:sp>
        <p:nvSpPr>
          <p:cNvPr id="5" name="TextBox 5"/>
          <p:cNvSpPr txBox="1"/>
          <p:nvPr/>
        </p:nvSpPr>
        <p:spPr>
          <a:xfrm>
            <a:off x="1763813" y="932388"/>
            <a:ext cx="6978629" cy="1021184"/>
          </a:xfrm>
          <a:prstGeom prst="rect">
            <a:avLst/>
          </a:prstGeom>
        </p:spPr>
        <p:txBody>
          <a:bodyPr lIns="0" tIns="0" rIns="0" bIns="0" rtlCol="0" anchor="t">
            <a:spAutoFit/>
          </a:bodyPr>
          <a:lstStyle/>
          <a:p>
            <a:pPr algn="ctr">
              <a:lnSpc>
                <a:spcPts val="8633"/>
              </a:lnSpc>
              <a:spcBef>
                <a:spcPct val="0"/>
              </a:spcBef>
            </a:pPr>
            <a:r>
              <a:rPr lang="en-US" sz="4519" b="1" spc="451">
                <a:solidFill>
                  <a:srgbClr val="194A8D"/>
                </a:solidFill>
                <a:latin typeface="Arimo Bold"/>
                <a:ea typeface="Arimo Bold"/>
                <a:cs typeface="Arimo Bold"/>
                <a:sym typeface="Arimo Bold"/>
              </a:rPr>
              <a:t>Phân Tích Phụ Thuộc</a:t>
            </a:r>
          </a:p>
        </p:txBody>
      </p:sp>
      <p:grpSp>
        <p:nvGrpSpPr>
          <p:cNvPr id="6" name="Group 6"/>
          <p:cNvGrpSpPr/>
          <p:nvPr/>
        </p:nvGrpSpPr>
        <p:grpSpPr>
          <a:xfrm>
            <a:off x="9336807" y="793052"/>
            <a:ext cx="7598722" cy="9150086"/>
            <a:chOff x="0" y="0"/>
            <a:chExt cx="2001310" cy="2409899"/>
          </a:xfrm>
        </p:grpSpPr>
        <p:sp>
          <p:nvSpPr>
            <p:cNvPr id="7" name="Freeform 7"/>
            <p:cNvSpPr/>
            <p:nvPr/>
          </p:nvSpPr>
          <p:spPr>
            <a:xfrm>
              <a:off x="0" y="0"/>
              <a:ext cx="2001310" cy="2409899"/>
            </a:xfrm>
            <a:custGeom>
              <a:avLst/>
              <a:gdLst/>
              <a:ahLst/>
              <a:cxnLst/>
              <a:rect l="l" t="t" r="r" b="b"/>
              <a:pathLst>
                <a:path w="2001310" h="2409899">
                  <a:moveTo>
                    <a:pt x="0" y="0"/>
                  </a:moveTo>
                  <a:lnTo>
                    <a:pt x="2001310" y="0"/>
                  </a:lnTo>
                  <a:lnTo>
                    <a:pt x="2001310" y="2409899"/>
                  </a:lnTo>
                  <a:lnTo>
                    <a:pt x="0" y="2409899"/>
                  </a:lnTo>
                  <a:close/>
                </a:path>
              </a:pathLst>
            </a:custGeom>
            <a:solidFill>
              <a:srgbClr val="FFFFFF"/>
            </a:solidFill>
          </p:spPr>
        </p:sp>
        <p:sp>
          <p:nvSpPr>
            <p:cNvPr id="8" name="TextBox 8"/>
            <p:cNvSpPr txBox="1"/>
            <p:nvPr/>
          </p:nvSpPr>
          <p:spPr>
            <a:xfrm>
              <a:off x="0" y="-47625"/>
              <a:ext cx="2001310" cy="2457524"/>
            </a:xfrm>
            <a:prstGeom prst="rect">
              <a:avLst/>
            </a:prstGeom>
          </p:spPr>
          <p:txBody>
            <a:bodyPr lIns="50800" tIns="50800" rIns="50800" bIns="50800" rtlCol="0" anchor="ctr"/>
            <a:lstStyle/>
            <a:p>
              <a:pPr algn="ctr">
                <a:lnSpc>
                  <a:spcPts val="2659"/>
                </a:lnSpc>
              </a:pPr>
              <a:endParaRPr/>
            </a:p>
          </p:txBody>
        </p:sp>
      </p:grpSp>
      <p:sp>
        <p:nvSpPr>
          <p:cNvPr id="9" name="TextBox 9"/>
          <p:cNvSpPr txBox="1"/>
          <p:nvPr/>
        </p:nvSpPr>
        <p:spPr>
          <a:xfrm>
            <a:off x="9336807" y="932388"/>
            <a:ext cx="7598722" cy="1020316"/>
          </a:xfrm>
          <a:prstGeom prst="rect">
            <a:avLst/>
          </a:prstGeom>
        </p:spPr>
        <p:txBody>
          <a:bodyPr lIns="0" tIns="0" rIns="0" bIns="0" rtlCol="0" anchor="t">
            <a:spAutoFit/>
          </a:bodyPr>
          <a:lstStyle/>
          <a:p>
            <a:pPr marL="0" lvl="0" indent="0" algn="ctr">
              <a:lnSpc>
                <a:spcPts val="8633"/>
              </a:lnSpc>
              <a:spcBef>
                <a:spcPct val="0"/>
              </a:spcBef>
            </a:pPr>
            <a:r>
              <a:rPr lang="en-US" sz="4519" b="1" spc="451">
                <a:solidFill>
                  <a:srgbClr val="194A8D"/>
                </a:solidFill>
                <a:latin typeface="Arimo Bold"/>
                <a:ea typeface="Arimo Bold"/>
                <a:cs typeface="Arimo Bold"/>
                <a:sym typeface="Arimo Bold"/>
              </a:rPr>
              <a:t>Dự</a:t>
            </a:r>
            <a:r>
              <a:rPr lang="en-US" sz="4519" b="1" u="none" strike="noStrike" spc="451">
                <a:solidFill>
                  <a:srgbClr val="194A8D"/>
                </a:solidFill>
                <a:latin typeface="Arimo Bold"/>
                <a:ea typeface="Arimo Bold"/>
                <a:cs typeface="Arimo Bold"/>
                <a:sym typeface="Arimo Bold"/>
              </a:rPr>
              <a:t> Phòng Rủi Ro</a:t>
            </a:r>
          </a:p>
        </p:txBody>
      </p:sp>
      <p:sp>
        <p:nvSpPr>
          <p:cNvPr id="10" name="TextBox 10"/>
          <p:cNvSpPr txBox="1"/>
          <p:nvPr/>
        </p:nvSpPr>
        <p:spPr>
          <a:xfrm>
            <a:off x="1763813" y="1877372"/>
            <a:ext cx="6508797" cy="7334803"/>
          </a:xfrm>
          <a:prstGeom prst="rect">
            <a:avLst/>
          </a:prstGeom>
        </p:spPr>
        <p:txBody>
          <a:bodyPr lIns="0" tIns="0" rIns="0" bIns="0" rtlCol="0" anchor="t">
            <a:spAutoFit/>
          </a:bodyPr>
          <a:lstStyle/>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·ECS + Proxy cần RDS instance có sẵn (Giai đoạn 1) để test kết nối và failover.</a:t>
            </a:r>
          </a:p>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·IAM policy và Secrets Manager cần được định nghĩa từ đầu để hỗ trợ rotate credentials và least privilege.</a:t>
            </a:r>
          </a:p>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·Giám sát phụ thuộc metric từ ECS task và RDS Proxy → yêu cầu hệ thống hoạt động liên tục từ tuần 3.</a:t>
            </a:r>
          </a:p>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·Báo cáo thử nghiệm cần hoàn thiện giám sát, kết nối và hiệu năng từ 4 tuần trước.</a:t>
            </a:r>
          </a:p>
        </p:txBody>
      </p:sp>
      <p:sp>
        <p:nvSpPr>
          <p:cNvPr id="11" name="TextBox 11"/>
          <p:cNvSpPr txBox="1"/>
          <p:nvPr/>
        </p:nvSpPr>
        <p:spPr>
          <a:xfrm>
            <a:off x="9804424" y="2061757"/>
            <a:ext cx="6663489" cy="5239303"/>
          </a:xfrm>
          <a:prstGeom prst="rect">
            <a:avLst/>
          </a:prstGeom>
        </p:spPr>
        <p:txBody>
          <a:bodyPr lIns="0" tIns="0" rIns="0" bIns="0" rtlCol="0" anchor="t">
            <a:spAutoFit/>
          </a:bodyPr>
          <a:lstStyle/>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·Buffer: 1–2 ngày cuối tuần 5 để xử lý các lỗi phát sinh trong thử nghiệm hiệu suất hoặc failover.</a:t>
            </a:r>
          </a:p>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·Fallback: ECS sử dụng phiên bản task stable; RDS Proxy có backup endpoint; snapshot mỗi ngày để restore nhanh.</a:t>
            </a:r>
          </a:p>
          <a:p>
            <a:pPr marL="642996" lvl="1" indent="-321498" algn="l">
              <a:lnSpc>
                <a:spcPts val="4169"/>
              </a:lnSpc>
              <a:spcBef>
                <a:spcPct val="0"/>
              </a:spcBef>
              <a:buFont typeface="Arial"/>
              <a:buChar char="•"/>
            </a:pPr>
            <a:r>
              <a:rPr lang="en-US" sz="2978" u="none" strike="noStrike">
                <a:solidFill>
                  <a:srgbClr val="194A8D"/>
                </a:solidFill>
                <a:latin typeface="Arimo"/>
                <a:ea typeface="Arimo"/>
                <a:cs typeface="Arimo"/>
                <a:sym typeface="Arimo"/>
              </a:rPr>
              <a:t>·Risk mitigation: Cảnh báo lỗi gửi về Slack khi ECS task thất bại hoặc kết nối RDS vượt ngưỡng.</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228251" y="513196"/>
            <a:ext cx="18059749" cy="1135783"/>
          </a:xfrm>
          <a:prstGeom prst="rect">
            <a:avLst/>
          </a:prstGeom>
        </p:spPr>
        <p:txBody>
          <a:bodyPr lIns="0" tIns="0" rIns="0" bIns="0" rtlCol="0" anchor="t">
            <a:spAutoFit/>
          </a:bodyPr>
          <a:lstStyle/>
          <a:p>
            <a:pPr algn="ctr">
              <a:lnSpc>
                <a:spcPts val="8655"/>
              </a:lnSpc>
            </a:pPr>
            <a:r>
              <a:rPr lang="en-US" sz="8165" spc="816">
                <a:solidFill>
                  <a:srgbClr val="FFFFFF"/>
                </a:solidFill>
                <a:latin typeface="League Spartan"/>
                <a:ea typeface="League Spartan"/>
                <a:cs typeface="League Spartan"/>
                <a:sym typeface="League Spartan"/>
              </a:rPr>
              <a:t>DỰ TOÁN NGÂN SÁCH </a:t>
            </a:r>
          </a:p>
        </p:txBody>
      </p:sp>
      <p:sp>
        <p:nvSpPr>
          <p:cNvPr id="3" name="TextBox 3"/>
          <p:cNvSpPr txBox="1"/>
          <p:nvPr/>
        </p:nvSpPr>
        <p:spPr>
          <a:xfrm>
            <a:off x="1028700" y="1315604"/>
            <a:ext cx="5132806"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Chi phí hạ tầng</a:t>
            </a:r>
          </a:p>
        </p:txBody>
      </p:sp>
      <p:graphicFrame>
        <p:nvGraphicFramePr>
          <p:cNvPr id="4" name="Object 4"/>
          <p:cNvGraphicFramePr/>
          <p:nvPr/>
        </p:nvGraphicFramePr>
        <p:xfrm>
          <a:off x="1028700" y="2336788"/>
          <a:ext cx="3771900" cy="4191000"/>
        </p:xfrm>
        <a:graphic>
          <a:graphicData uri="http://schemas.openxmlformats.org/presentationml/2006/ole">
            <mc:AlternateContent xmlns:mc="http://schemas.openxmlformats.org/markup-compatibility/2006">
              <mc:Choice xmlns:v="urn:schemas-microsoft-com:vml" Requires="v">
                <p:oleObj name="Worksheet" r:id="rId2" imgW="4610100" imgH="5029200" progId="Excel.Sheet.12">
                  <p:embed/>
                </p:oleObj>
              </mc:Choice>
              <mc:Fallback>
                <p:oleObj name="Worksheet" r:id="rId2" imgW="4610100" imgH="5029200" progId="Excel.Sheet.12">
                  <p:embed/>
                  <p:pic>
                    <p:nvPicPr>
                      <p:cNvPr id="0" name=""/>
                      <p:cNvPicPr/>
                      <p:nvPr/>
                    </p:nvPicPr>
                    <p:blipFill>
                      <a:blip r:embed="rId3"/>
                      <a:stretch>
                        <a:fillRect/>
                      </a:stretch>
                    </p:blipFill>
                    <p:spPr>
                      <a:xfrm>
                        <a:off x="1028700" y="2336788"/>
                        <a:ext cx="3771900" cy="4191000"/>
                      </a:xfrm>
                      <a:prstGeom prst="rect">
                        <a:avLst/>
                      </a:prstGeom>
                    </p:spPr>
                  </p:pic>
                </p:oleObj>
              </mc:Fallback>
            </mc:AlternateContent>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1028700" y="351420"/>
            <a:ext cx="5898147"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Chi phí phát triển</a:t>
            </a:r>
          </a:p>
        </p:txBody>
      </p:sp>
      <p:graphicFrame>
        <p:nvGraphicFramePr>
          <p:cNvPr id="3" name="Object 3"/>
          <p:cNvGraphicFramePr/>
          <p:nvPr/>
        </p:nvGraphicFramePr>
        <p:xfrm>
          <a:off x="1028700" y="1608391"/>
          <a:ext cx="3771900" cy="2095500"/>
        </p:xfrm>
        <a:graphic>
          <a:graphicData uri="http://schemas.openxmlformats.org/presentationml/2006/ole">
            <mc:AlternateContent xmlns:mc="http://schemas.openxmlformats.org/markup-compatibility/2006">
              <mc:Choice xmlns:v="urn:schemas-microsoft-com:vml" Requires="v">
                <p:oleObj name="Worksheet" r:id="rId2" imgW="4521200" imgH="2844800" progId="Excel.Sheet.12">
                  <p:embed/>
                </p:oleObj>
              </mc:Choice>
              <mc:Fallback>
                <p:oleObj name="Worksheet" r:id="rId2" imgW="4521200" imgH="2844800" progId="Excel.Sheet.12">
                  <p:embed/>
                  <p:pic>
                    <p:nvPicPr>
                      <p:cNvPr id="0" name=""/>
                      <p:cNvPicPr/>
                      <p:nvPr/>
                    </p:nvPicPr>
                    <p:blipFill>
                      <a:blip r:embed="rId3"/>
                      <a:stretch>
                        <a:fillRect/>
                      </a:stretch>
                    </p:blipFill>
                    <p:spPr>
                      <a:xfrm>
                        <a:off x="1028700" y="1608391"/>
                        <a:ext cx="3771900" cy="2095500"/>
                      </a:xfrm>
                      <a:prstGeom prst="rect">
                        <a:avLst/>
                      </a:prstGeom>
                    </p:spPr>
                  </p:pic>
                </p:oleObj>
              </mc:Fallback>
            </mc:AlternateContent>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1028700" y="351420"/>
            <a:ext cx="10512705"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Dịch vụ bên thứ ba &amp; giấy phép</a:t>
            </a:r>
          </a:p>
        </p:txBody>
      </p:sp>
      <p:graphicFrame>
        <p:nvGraphicFramePr>
          <p:cNvPr id="3" name="Object 3"/>
          <p:cNvGraphicFramePr/>
          <p:nvPr/>
        </p:nvGraphicFramePr>
        <p:xfrm>
          <a:off x="1028700" y="1872941"/>
          <a:ext cx="3771900" cy="2095500"/>
        </p:xfrm>
        <a:graphic>
          <a:graphicData uri="http://schemas.openxmlformats.org/presentationml/2006/ole">
            <mc:AlternateContent xmlns:mc="http://schemas.openxmlformats.org/markup-compatibility/2006">
              <mc:Choice xmlns:v="urn:schemas-microsoft-com:vml" Requires="v">
                <p:oleObj name="Worksheet" r:id="rId2" imgW="4521200" imgH="2844800" progId="Excel.Sheet.12">
                  <p:embed/>
                </p:oleObj>
              </mc:Choice>
              <mc:Fallback>
                <p:oleObj name="Worksheet" r:id="rId2" imgW="4521200" imgH="2844800" progId="Excel.Sheet.12">
                  <p:embed/>
                  <p:pic>
                    <p:nvPicPr>
                      <p:cNvPr id="0" name=""/>
                      <p:cNvPicPr/>
                      <p:nvPr/>
                    </p:nvPicPr>
                    <p:blipFill>
                      <a:blip r:embed="rId3"/>
                      <a:stretch>
                        <a:fillRect/>
                      </a:stretch>
                    </p:blipFill>
                    <p:spPr>
                      <a:xfrm>
                        <a:off x="1028700" y="1872941"/>
                        <a:ext cx="3771900" cy="2095500"/>
                      </a:xfrm>
                      <a:prstGeom prst="rect">
                        <a:avLst/>
                      </a:prstGeom>
                    </p:spPr>
                  </p:pic>
                </p:oleObj>
              </mc:Fallback>
            </mc:AlternateContent>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1028700" y="351420"/>
            <a:ext cx="5673047"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Chi phí vận hành </a:t>
            </a:r>
          </a:p>
        </p:txBody>
      </p:sp>
      <p:graphicFrame>
        <p:nvGraphicFramePr>
          <p:cNvPr id="3" name="Object 3"/>
          <p:cNvGraphicFramePr/>
          <p:nvPr/>
        </p:nvGraphicFramePr>
        <p:xfrm>
          <a:off x="1028700" y="2273514"/>
          <a:ext cx="3771900" cy="1676400"/>
        </p:xfrm>
        <a:graphic>
          <a:graphicData uri="http://schemas.openxmlformats.org/presentationml/2006/ole">
            <mc:AlternateContent xmlns:mc="http://schemas.openxmlformats.org/markup-compatibility/2006">
              <mc:Choice xmlns:v="urn:schemas-microsoft-com:vml" Requires="v">
                <p:oleObj name="Worksheet" r:id="rId2" imgW="4521200" imgH="2425700" progId="Excel.Sheet.12">
                  <p:embed/>
                </p:oleObj>
              </mc:Choice>
              <mc:Fallback>
                <p:oleObj name="Worksheet" r:id="rId2" imgW="4521200" imgH="2425700" progId="Excel.Sheet.12">
                  <p:embed/>
                  <p:pic>
                    <p:nvPicPr>
                      <p:cNvPr id="0" name=""/>
                      <p:cNvPicPr/>
                      <p:nvPr/>
                    </p:nvPicPr>
                    <p:blipFill>
                      <a:blip r:embed="rId3"/>
                      <a:stretch>
                        <a:fillRect/>
                      </a:stretch>
                    </p:blipFill>
                    <p:spPr>
                      <a:xfrm>
                        <a:off x="1028700" y="2273514"/>
                        <a:ext cx="3771900" cy="1676400"/>
                      </a:xfrm>
                      <a:prstGeom prst="rect">
                        <a:avLst/>
                      </a:prstGeom>
                    </p:spPr>
                  </p:pic>
                </p:oleObj>
              </mc:Fallback>
            </mc:AlternateContent>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1028700" y="351420"/>
            <a:ext cx="8914493"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Phân tích lợi nhuận đầu tư </a:t>
            </a:r>
          </a:p>
        </p:txBody>
      </p:sp>
      <p:graphicFrame>
        <p:nvGraphicFramePr>
          <p:cNvPr id="3" name="Object 3"/>
          <p:cNvGraphicFramePr/>
          <p:nvPr/>
        </p:nvGraphicFramePr>
        <p:xfrm>
          <a:off x="1028700" y="2228494"/>
          <a:ext cx="2514600" cy="2514600"/>
        </p:xfrm>
        <a:graphic>
          <a:graphicData uri="http://schemas.openxmlformats.org/presentationml/2006/ole">
            <mc:AlternateContent xmlns:mc="http://schemas.openxmlformats.org/markup-compatibility/2006">
              <mc:Choice xmlns:v="urn:schemas-microsoft-com:vml" Requires="v">
                <p:oleObj name="Worksheet" r:id="rId2" imgW="3009900" imgH="3009900" progId="Excel.Sheet.12">
                  <p:embed/>
                </p:oleObj>
              </mc:Choice>
              <mc:Fallback>
                <p:oleObj name="Worksheet" r:id="rId2" imgW="3009900" imgH="3009900" progId="Excel.Sheet.12">
                  <p:embed/>
                  <p:pic>
                    <p:nvPicPr>
                      <p:cNvPr id="0" name=""/>
                      <p:cNvPicPr/>
                      <p:nvPr/>
                    </p:nvPicPr>
                    <p:blipFill>
                      <a:blip r:embed="rId3"/>
                      <a:stretch>
                        <a:fillRect/>
                      </a:stretch>
                    </p:blipFill>
                    <p:spPr>
                      <a:xfrm>
                        <a:off x="1028700" y="2228494"/>
                        <a:ext cx="2514600" cy="2514600"/>
                      </a:xfrm>
                      <a:prstGeom prst="rect">
                        <a:avLst/>
                      </a:prstGeom>
                    </p:spPr>
                  </p:pic>
                </p:oleObj>
              </mc:Fallback>
            </mc:AlternateContent>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1028700" y="7516"/>
            <a:ext cx="8869472"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Chiến lược tối ưu chi phí</a:t>
            </a:r>
          </a:p>
        </p:txBody>
      </p:sp>
      <p:graphicFrame>
        <p:nvGraphicFramePr>
          <p:cNvPr id="3" name="Object 3"/>
          <p:cNvGraphicFramePr/>
          <p:nvPr/>
        </p:nvGraphicFramePr>
        <p:xfrm>
          <a:off x="691049" y="1193032"/>
          <a:ext cx="3771900" cy="4610100"/>
        </p:xfrm>
        <a:graphic>
          <a:graphicData uri="http://schemas.openxmlformats.org/presentationml/2006/ole">
            <mc:AlternateContent xmlns:mc="http://schemas.openxmlformats.org/markup-compatibility/2006">
              <mc:Choice xmlns:v="urn:schemas-microsoft-com:vml" Requires="v">
                <p:oleObj name="Worksheet" r:id="rId2" imgW="4686300" imgH="5524500" progId="Excel.Sheet.12">
                  <p:embed/>
                </p:oleObj>
              </mc:Choice>
              <mc:Fallback>
                <p:oleObj name="Worksheet" r:id="rId2" imgW="4686300" imgH="5524500" progId="Excel.Sheet.12">
                  <p:embed/>
                  <p:pic>
                    <p:nvPicPr>
                      <p:cNvPr id="0" name=""/>
                      <p:cNvPicPr/>
                      <p:nvPr/>
                    </p:nvPicPr>
                    <p:blipFill>
                      <a:blip r:embed="rId3"/>
                      <a:stretch>
                        <a:fillRect/>
                      </a:stretch>
                    </p:blipFill>
                    <p:spPr>
                      <a:xfrm>
                        <a:off x="691049" y="1193032"/>
                        <a:ext cx="3771900" cy="4610100"/>
                      </a:xfrm>
                      <a:prstGeom prst="rect">
                        <a:avLst/>
                      </a:prstGeom>
                    </p:spPr>
                  </p:pic>
                </p:oleObj>
              </mc:Fallback>
            </mc:AlternateContent>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228251" y="513196"/>
            <a:ext cx="18059749" cy="1135783"/>
          </a:xfrm>
          <a:prstGeom prst="rect">
            <a:avLst/>
          </a:prstGeom>
        </p:spPr>
        <p:txBody>
          <a:bodyPr lIns="0" tIns="0" rIns="0" bIns="0" rtlCol="0" anchor="t">
            <a:spAutoFit/>
          </a:bodyPr>
          <a:lstStyle/>
          <a:p>
            <a:pPr algn="ctr">
              <a:lnSpc>
                <a:spcPts val="8655"/>
              </a:lnSpc>
            </a:pPr>
            <a:r>
              <a:rPr lang="en-US" sz="8165" spc="816">
                <a:solidFill>
                  <a:srgbClr val="FFFFFF"/>
                </a:solidFill>
                <a:latin typeface="League Spartan"/>
                <a:ea typeface="League Spartan"/>
                <a:cs typeface="League Spartan"/>
                <a:sym typeface="League Spartan"/>
              </a:rPr>
              <a:t>ĐÁNH GIÁ RỦI RO </a:t>
            </a:r>
          </a:p>
        </p:txBody>
      </p:sp>
      <p:sp>
        <p:nvSpPr>
          <p:cNvPr id="3" name="TextBox 3"/>
          <p:cNvSpPr txBox="1"/>
          <p:nvPr/>
        </p:nvSpPr>
        <p:spPr>
          <a:xfrm>
            <a:off x="1028700" y="1315604"/>
            <a:ext cx="5132806"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Xác định rủi ro</a:t>
            </a:r>
          </a:p>
        </p:txBody>
      </p:sp>
      <p:graphicFrame>
        <p:nvGraphicFramePr>
          <p:cNvPr id="4" name="Object 4"/>
          <p:cNvGraphicFramePr/>
          <p:nvPr/>
        </p:nvGraphicFramePr>
        <p:xfrm>
          <a:off x="1028700" y="2746225"/>
          <a:ext cx="2514600" cy="2514600"/>
        </p:xfrm>
        <a:graphic>
          <a:graphicData uri="http://schemas.openxmlformats.org/presentationml/2006/ole">
            <mc:AlternateContent xmlns:mc="http://schemas.openxmlformats.org/markup-compatibility/2006">
              <mc:Choice xmlns:v="urn:schemas-microsoft-com:vml" Requires="v">
                <p:oleObj name="Worksheet" r:id="rId2" imgW="3009900" imgH="3009900" progId="Excel.Sheet.12">
                  <p:embed/>
                </p:oleObj>
              </mc:Choice>
              <mc:Fallback>
                <p:oleObj name="Worksheet" r:id="rId2" imgW="3009900" imgH="3009900" progId="Excel.Sheet.12">
                  <p:embed/>
                  <p:pic>
                    <p:nvPicPr>
                      <p:cNvPr id="0" name=""/>
                      <p:cNvPicPr/>
                      <p:nvPr/>
                    </p:nvPicPr>
                    <p:blipFill>
                      <a:blip r:embed="rId3"/>
                      <a:stretch>
                        <a:fillRect/>
                      </a:stretch>
                    </p:blipFill>
                    <p:spPr>
                      <a:xfrm>
                        <a:off x="1028700" y="2746225"/>
                        <a:ext cx="2514600" cy="2514600"/>
                      </a:xfrm>
                      <a:prstGeom prst="rect">
                        <a:avLst/>
                      </a:prstGeom>
                    </p:spPr>
                  </p:pic>
                </p:oleObj>
              </mc:Fallback>
            </mc:AlternateContent>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871130" y="212612"/>
            <a:ext cx="10332625"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Phân tích tác động và xác suất </a:t>
            </a:r>
          </a:p>
        </p:txBody>
      </p:sp>
      <p:graphicFrame>
        <p:nvGraphicFramePr>
          <p:cNvPr id="3" name="Object 3"/>
          <p:cNvGraphicFramePr/>
          <p:nvPr/>
        </p:nvGraphicFramePr>
        <p:xfrm>
          <a:off x="871130" y="1620723"/>
          <a:ext cx="5029200" cy="2933700"/>
        </p:xfrm>
        <a:graphic>
          <a:graphicData uri="http://schemas.openxmlformats.org/presentationml/2006/ole">
            <mc:AlternateContent xmlns:mc="http://schemas.openxmlformats.org/markup-compatibility/2006">
              <mc:Choice xmlns:v="urn:schemas-microsoft-com:vml" Requires="v">
                <p:oleObj name="Worksheet" r:id="rId2" imgW="6032500" imgH="3937000" progId="Excel.Sheet.12">
                  <p:embed/>
                </p:oleObj>
              </mc:Choice>
              <mc:Fallback>
                <p:oleObj name="Worksheet" r:id="rId2" imgW="6032500" imgH="3937000" progId="Excel.Sheet.12">
                  <p:embed/>
                  <p:pic>
                    <p:nvPicPr>
                      <p:cNvPr id="0" name=""/>
                      <p:cNvPicPr/>
                      <p:nvPr/>
                    </p:nvPicPr>
                    <p:blipFill>
                      <a:blip r:embed="rId3"/>
                      <a:stretch>
                        <a:fillRect/>
                      </a:stretch>
                    </p:blipFill>
                    <p:spPr>
                      <a:xfrm>
                        <a:off x="871130" y="1620723"/>
                        <a:ext cx="5029200" cy="2933700"/>
                      </a:xfrm>
                      <a:prstGeom prst="rect">
                        <a:avLst/>
                      </a:prstGeom>
                    </p:spPr>
                  </p:pic>
                </p:oleObj>
              </mc:Fallback>
            </mc:AlternateContent>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871130" y="212612"/>
            <a:ext cx="10332625"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Chiến lược giảm thiểu rủi ro </a:t>
            </a:r>
          </a:p>
        </p:txBody>
      </p:sp>
      <p:graphicFrame>
        <p:nvGraphicFramePr>
          <p:cNvPr id="3" name="Object 3"/>
          <p:cNvGraphicFramePr/>
          <p:nvPr/>
        </p:nvGraphicFramePr>
        <p:xfrm>
          <a:off x="871130" y="1620723"/>
          <a:ext cx="2514600" cy="2933700"/>
        </p:xfrm>
        <a:graphic>
          <a:graphicData uri="http://schemas.openxmlformats.org/presentationml/2006/ole">
            <mc:AlternateContent xmlns:mc="http://schemas.openxmlformats.org/markup-compatibility/2006">
              <mc:Choice xmlns:v="urn:schemas-microsoft-com:vml" Requires="v">
                <p:oleObj name="Worksheet" r:id="rId2" imgW="3098800" imgH="3517900" progId="Excel.Sheet.12">
                  <p:embed/>
                </p:oleObj>
              </mc:Choice>
              <mc:Fallback>
                <p:oleObj name="Worksheet" r:id="rId2" imgW="3098800" imgH="3517900" progId="Excel.Sheet.12">
                  <p:embed/>
                  <p:pic>
                    <p:nvPicPr>
                      <p:cNvPr id="0" name=""/>
                      <p:cNvPicPr/>
                      <p:nvPr/>
                    </p:nvPicPr>
                    <p:blipFill>
                      <a:blip r:embed="rId3"/>
                      <a:stretch>
                        <a:fillRect/>
                      </a:stretch>
                    </p:blipFill>
                    <p:spPr>
                      <a:xfrm>
                        <a:off x="871130" y="1620723"/>
                        <a:ext cx="2514600" cy="2933700"/>
                      </a:xfrm>
                      <a:prstGeom prst="rect">
                        <a:avLst/>
                      </a:prstGeom>
                    </p:spPr>
                  </p:pic>
                </p:oleObj>
              </mc:Fallback>
            </mc:AlternateContent>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4484163" y="1878355"/>
            <a:ext cx="9319673"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Theo dõi và cảnh báo rủi ro </a:t>
            </a:r>
          </a:p>
        </p:txBody>
      </p:sp>
      <p:grpSp>
        <p:nvGrpSpPr>
          <p:cNvPr id="3" name="Group 3"/>
          <p:cNvGrpSpPr/>
          <p:nvPr/>
        </p:nvGrpSpPr>
        <p:grpSpPr>
          <a:xfrm>
            <a:off x="1028700" y="3758408"/>
            <a:ext cx="7753358" cy="1385092"/>
            <a:chOff x="0" y="0"/>
            <a:chExt cx="3259593" cy="582307"/>
          </a:xfrm>
        </p:grpSpPr>
        <p:sp>
          <p:nvSpPr>
            <p:cNvPr id="4" name="Freeform 4"/>
            <p:cNvSpPr/>
            <p:nvPr/>
          </p:nvSpPr>
          <p:spPr>
            <a:xfrm>
              <a:off x="0" y="0"/>
              <a:ext cx="3259593" cy="582307"/>
            </a:xfrm>
            <a:custGeom>
              <a:avLst/>
              <a:gdLst/>
              <a:ahLst/>
              <a:cxnLst/>
              <a:rect l="l" t="t" r="r" b="b"/>
              <a:pathLst>
                <a:path w="3259593" h="582307">
                  <a:moveTo>
                    <a:pt x="50925" y="0"/>
                  </a:moveTo>
                  <a:lnTo>
                    <a:pt x="3208668" y="0"/>
                  </a:lnTo>
                  <a:cubicBezTo>
                    <a:pt x="3236794" y="0"/>
                    <a:pt x="3259593" y="22800"/>
                    <a:pt x="3259593" y="50925"/>
                  </a:cubicBezTo>
                  <a:lnTo>
                    <a:pt x="3259593" y="531383"/>
                  </a:lnTo>
                  <a:cubicBezTo>
                    <a:pt x="3259593" y="544889"/>
                    <a:pt x="3254228" y="557842"/>
                    <a:pt x="3244678" y="567392"/>
                  </a:cubicBezTo>
                  <a:cubicBezTo>
                    <a:pt x="3235128" y="576942"/>
                    <a:pt x="3222175" y="582307"/>
                    <a:pt x="3208668" y="582307"/>
                  </a:cubicBezTo>
                  <a:lnTo>
                    <a:pt x="50925" y="582307"/>
                  </a:lnTo>
                  <a:cubicBezTo>
                    <a:pt x="22800" y="582307"/>
                    <a:pt x="0" y="559508"/>
                    <a:pt x="0" y="531383"/>
                  </a:cubicBezTo>
                  <a:lnTo>
                    <a:pt x="0" y="50925"/>
                  </a:lnTo>
                  <a:cubicBezTo>
                    <a:pt x="0" y="37419"/>
                    <a:pt x="5365" y="24466"/>
                    <a:pt x="14916" y="14916"/>
                  </a:cubicBezTo>
                  <a:cubicBezTo>
                    <a:pt x="24466" y="5365"/>
                    <a:pt x="37419" y="0"/>
                    <a:pt x="50925" y="0"/>
                  </a:cubicBezTo>
                  <a:close/>
                </a:path>
              </a:pathLst>
            </a:custGeom>
            <a:solidFill>
              <a:srgbClr val="FFFFFF"/>
            </a:solidFill>
            <a:ln w="38100" cap="rnd">
              <a:solidFill>
                <a:srgbClr val="6299E4"/>
              </a:solidFill>
              <a:prstDash val="solid"/>
              <a:round/>
            </a:ln>
          </p:spPr>
        </p:sp>
        <p:sp>
          <p:nvSpPr>
            <p:cNvPr id="5" name="TextBox 5"/>
            <p:cNvSpPr txBox="1"/>
            <p:nvPr/>
          </p:nvSpPr>
          <p:spPr>
            <a:xfrm>
              <a:off x="0" y="-47625"/>
              <a:ext cx="3259593" cy="629932"/>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5725399"/>
            <a:ext cx="7753358" cy="1238930"/>
            <a:chOff x="0" y="0"/>
            <a:chExt cx="3259593" cy="520859"/>
          </a:xfrm>
        </p:grpSpPr>
        <p:sp>
          <p:nvSpPr>
            <p:cNvPr id="7" name="Freeform 7"/>
            <p:cNvSpPr/>
            <p:nvPr/>
          </p:nvSpPr>
          <p:spPr>
            <a:xfrm>
              <a:off x="0" y="0"/>
              <a:ext cx="3259593" cy="520859"/>
            </a:xfrm>
            <a:custGeom>
              <a:avLst/>
              <a:gdLst/>
              <a:ahLst/>
              <a:cxnLst/>
              <a:rect l="l" t="t" r="r" b="b"/>
              <a:pathLst>
                <a:path w="3259593" h="520859">
                  <a:moveTo>
                    <a:pt x="50925" y="0"/>
                  </a:moveTo>
                  <a:lnTo>
                    <a:pt x="3208668" y="0"/>
                  </a:lnTo>
                  <a:cubicBezTo>
                    <a:pt x="3236794" y="0"/>
                    <a:pt x="3259593" y="22800"/>
                    <a:pt x="3259593" y="50925"/>
                  </a:cubicBezTo>
                  <a:lnTo>
                    <a:pt x="3259593" y="469934"/>
                  </a:lnTo>
                  <a:cubicBezTo>
                    <a:pt x="3259593" y="483440"/>
                    <a:pt x="3254228" y="496393"/>
                    <a:pt x="3244678" y="505943"/>
                  </a:cubicBezTo>
                  <a:cubicBezTo>
                    <a:pt x="3235128" y="515494"/>
                    <a:pt x="3222175" y="520859"/>
                    <a:pt x="3208668" y="520859"/>
                  </a:cubicBezTo>
                  <a:lnTo>
                    <a:pt x="50925" y="520859"/>
                  </a:lnTo>
                  <a:cubicBezTo>
                    <a:pt x="22800" y="520859"/>
                    <a:pt x="0" y="498059"/>
                    <a:pt x="0" y="469934"/>
                  </a:cubicBezTo>
                  <a:lnTo>
                    <a:pt x="0" y="50925"/>
                  </a:lnTo>
                  <a:cubicBezTo>
                    <a:pt x="0" y="37419"/>
                    <a:pt x="5365" y="24466"/>
                    <a:pt x="14916" y="14916"/>
                  </a:cubicBezTo>
                  <a:cubicBezTo>
                    <a:pt x="24466" y="5365"/>
                    <a:pt x="37419" y="0"/>
                    <a:pt x="50925" y="0"/>
                  </a:cubicBezTo>
                  <a:close/>
                </a:path>
              </a:pathLst>
            </a:custGeom>
            <a:solidFill>
              <a:srgbClr val="FFFFFF"/>
            </a:solidFill>
            <a:ln w="38100" cap="rnd">
              <a:solidFill>
                <a:srgbClr val="6299E4"/>
              </a:solidFill>
              <a:prstDash val="solid"/>
              <a:round/>
            </a:ln>
          </p:spPr>
        </p:sp>
        <p:sp>
          <p:nvSpPr>
            <p:cNvPr id="8" name="TextBox 8"/>
            <p:cNvSpPr txBox="1"/>
            <p:nvPr/>
          </p:nvSpPr>
          <p:spPr>
            <a:xfrm>
              <a:off x="0" y="-47625"/>
              <a:ext cx="3259593" cy="568484"/>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64056" y="3758408"/>
            <a:ext cx="7753358" cy="1385092"/>
            <a:chOff x="0" y="0"/>
            <a:chExt cx="3259593" cy="582307"/>
          </a:xfrm>
        </p:grpSpPr>
        <p:sp>
          <p:nvSpPr>
            <p:cNvPr id="10" name="Freeform 10"/>
            <p:cNvSpPr/>
            <p:nvPr/>
          </p:nvSpPr>
          <p:spPr>
            <a:xfrm>
              <a:off x="0" y="0"/>
              <a:ext cx="3259593" cy="582307"/>
            </a:xfrm>
            <a:custGeom>
              <a:avLst/>
              <a:gdLst/>
              <a:ahLst/>
              <a:cxnLst/>
              <a:rect l="l" t="t" r="r" b="b"/>
              <a:pathLst>
                <a:path w="3259593" h="582307">
                  <a:moveTo>
                    <a:pt x="50925" y="0"/>
                  </a:moveTo>
                  <a:lnTo>
                    <a:pt x="3208668" y="0"/>
                  </a:lnTo>
                  <a:cubicBezTo>
                    <a:pt x="3236794" y="0"/>
                    <a:pt x="3259593" y="22800"/>
                    <a:pt x="3259593" y="50925"/>
                  </a:cubicBezTo>
                  <a:lnTo>
                    <a:pt x="3259593" y="531383"/>
                  </a:lnTo>
                  <a:cubicBezTo>
                    <a:pt x="3259593" y="544889"/>
                    <a:pt x="3254228" y="557842"/>
                    <a:pt x="3244678" y="567392"/>
                  </a:cubicBezTo>
                  <a:cubicBezTo>
                    <a:pt x="3235128" y="576942"/>
                    <a:pt x="3222175" y="582307"/>
                    <a:pt x="3208668" y="582307"/>
                  </a:cubicBezTo>
                  <a:lnTo>
                    <a:pt x="50925" y="582307"/>
                  </a:lnTo>
                  <a:cubicBezTo>
                    <a:pt x="22800" y="582307"/>
                    <a:pt x="0" y="559508"/>
                    <a:pt x="0" y="531383"/>
                  </a:cubicBezTo>
                  <a:lnTo>
                    <a:pt x="0" y="50925"/>
                  </a:lnTo>
                  <a:cubicBezTo>
                    <a:pt x="0" y="37419"/>
                    <a:pt x="5365" y="24466"/>
                    <a:pt x="14916" y="14916"/>
                  </a:cubicBezTo>
                  <a:cubicBezTo>
                    <a:pt x="24466" y="5365"/>
                    <a:pt x="37419" y="0"/>
                    <a:pt x="50925" y="0"/>
                  </a:cubicBezTo>
                  <a:close/>
                </a:path>
              </a:pathLst>
            </a:custGeom>
            <a:solidFill>
              <a:srgbClr val="FFFFFF"/>
            </a:solidFill>
            <a:ln w="38100" cap="rnd">
              <a:solidFill>
                <a:srgbClr val="6299E4"/>
              </a:solidFill>
              <a:prstDash val="solid"/>
              <a:round/>
            </a:ln>
          </p:spPr>
        </p:sp>
        <p:sp>
          <p:nvSpPr>
            <p:cNvPr id="11" name="TextBox 11"/>
            <p:cNvSpPr txBox="1"/>
            <p:nvPr/>
          </p:nvSpPr>
          <p:spPr>
            <a:xfrm>
              <a:off x="0" y="-47625"/>
              <a:ext cx="3259593" cy="629932"/>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9164056" y="5725399"/>
            <a:ext cx="7753358" cy="1238930"/>
            <a:chOff x="0" y="0"/>
            <a:chExt cx="3259593" cy="520859"/>
          </a:xfrm>
        </p:grpSpPr>
        <p:sp>
          <p:nvSpPr>
            <p:cNvPr id="13" name="Freeform 13"/>
            <p:cNvSpPr/>
            <p:nvPr/>
          </p:nvSpPr>
          <p:spPr>
            <a:xfrm>
              <a:off x="0" y="0"/>
              <a:ext cx="3259593" cy="520859"/>
            </a:xfrm>
            <a:custGeom>
              <a:avLst/>
              <a:gdLst/>
              <a:ahLst/>
              <a:cxnLst/>
              <a:rect l="l" t="t" r="r" b="b"/>
              <a:pathLst>
                <a:path w="3259593" h="520859">
                  <a:moveTo>
                    <a:pt x="50925" y="0"/>
                  </a:moveTo>
                  <a:lnTo>
                    <a:pt x="3208668" y="0"/>
                  </a:lnTo>
                  <a:cubicBezTo>
                    <a:pt x="3236794" y="0"/>
                    <a:pt x="3259593" y="22800"/>
                    <a:pt x="3259593" y="50925"/>
                  </a:cubicBezTo>
                  <a:lnTo>
                    <a:pt x="3259593" y="469934"/>
                  </a:lnTo>
                  <a:cubicBezTo>
                    <a:pt x="3259593" y="483440"/>
                    <a:pt x="3254228" y="496393"/>
                    <a:pt x="3244678" y="505943"/>
                  </a:cubicBezTo>
                  <a:cubicBezTo>
                    <a:pt x="3235128" y="515494"/>
                    <a:pt x="3222175" y="520859"/>
                    <a:pt x="3208668" y="520859"/>
                  </a:cubicBezTo>
                  <a:lnTo>
                    <a:pt x="50925" y="520859"/>
                  </a:lnTo>
                  <a:cubicBezTo>
                    <a:pt x="22800" y="520859"/>
                    <a:pt x="0" y="498059"/>
                    <a:pt x="0" y="469934"/>
                  </a:cubicBezTo>
                  <a:lnTo>
                    <a:pt x="0" y="50925"/>
                  </a:lnTo>
                  <a:cubicBezTo>
                    <a:pt x="0" y="37419"/>
                    <a:pt x="5365" y="24466"/>
                    <a:pt x="14916" y="14916"/>
                  </a:cubicBezTo>
                  <a:cubicBezTo>
                    <a:pt x="24466" y="5365"/>
                    <a:pt x="37419" y="0"/>
                    <a:pt x="50925" y="0"/>
                  </a:cubicBezTo>
                  <a:close/>
                </a:path>
              </a:pathLst>
            </a:custGeom>
            <a:solidFill>
              <a:srgbClr val="FFFFFF"/>
            </a:solidFill>
            <a:ln w="38100" cap="rnd">
              <a:solidFill>
                <a:srgbClr val="6299E4"/>
              </a:solidFill>
              <a:prstDash val="solid"/>
              <a:round/>
            </a:ln>
          </p:spPr>
        </p:sp>
        <p:sp>
          <p:nvSpPr>
            <p:cNvPr id="14" name="TextBox 14"/>
            <p:cNvSpPr txBox="1"/>
            <p:nvPr/>
          </p:nvSpPr>
          <p:spPr>
            <a:xfrm>
              <a:off x="0" y="-47625"/>
              <a:ext cx="3259593" cy="568484"/>
            </a:xfrm>
            <a:prstGeom prst="rect">
              <a:avLst/>
            </a:prstGeom>
          </p:spPr>
          <p:txBody>
            <a:bodyPr lIns="50800" tIns="50800" rIns="50800" bIns="50800" rtlCol="0" anchor="ctr"/>
            <a:lstStyle/>
            <a:p>
              <a:pPr algn="ctr">
                <a:lnSpc>
                  <a:spcPts val="2659"/>
                </a:lnSpc>
              </a:pPr>
              <a:endParaRPr/>
            </a:p>
          </p:txBody>
        </p:sp>
      </p:grpSp>
      <p:sp>
        <p:nvSpPr>
          <p:cNvPr id="15" name="TextBox 15"/>
          <p:cNvSpPr txBox="1"/>
          <p:nvPr/>
        </p:nvSpPr>
        <p:spPr>
          <a:xfrm>
            <a:off x="1626716" y="4098814"/>
            <a:ext cx="6719127" cy="939060"/>
          </a:xfrm>
          <a:prstGeom prst="rect">
            <a:avLst/>
          </a:prstGeom>
        </p:spPr>
        <p:txBody>
          <a:bodyPr lIns="0" tIns="0" rIns="0" bIns="0" rtlCol="0" anchor="t">
            <a:spAutoFit/>
          </a:bodyPr>
          <a:lstStyle/>
          <a:p>
            <a:pPr algn="l">
              <a:lnSpc>
                <a:spcPts val="2491"/>
              </a:lnSpc>
              <a:spcBef>
                <a:spcPct val="0"/>
              </a:spcBef>
            </a:pPr>
            <a:r>
              <a:rPr lang="en-US" sz="1779">
                <a:solidFill>
                  <a:srgbClr val="194A8D"/>
                </a:solidFill>
                <a:latin typeface="Arimo"/>
                <a:ea typeface="Arimo"/>
                <a:cs typeface="Arimo"/>
                <a:sym typeface="Arimo"/>
              </a:rPr>
              <a:t>Thiết lập CloudWatch Alarms cho: số kết nối, độ trễ truy vấn, CPU DB, lỗi HTTP 5xx</a:t>
            </a:r>
          </a:p>
          <a:p>
            <a:pPr algn="l">
              <a:lnSpc>
                <a:spcPts val="2491"/>
              </a:lnSpc>
              <a:spcBef>
                <a:spcPct val="0"/>
              </a:spcBef>
            </a:pPr>
            <a:endParaRPr lang="en-US" sz="1779">
              <a:solidFill>
                <a:srgbClr val="194A8D"/>
              </a:solidFill>
              <a:latin typeface="Arimo"/>
              <a:ea typeface="Arimo"/>
              <a:cs typeface="Arimo"/>
              <a:sym typeface="Arimo"/>
            </a:endParaRPr>
          </a:p>
        </p:txBody>
      </p:sp>
      <p:sp>
        <p:nvSpPr>
          <p:cNvPr id="16" name="TextBox 16"/>
          <p:cNvSpPr txBox="1"/>
          <p:nvPr/>
        </p:nvSpPr>
        <p:spPr>
          <a:xfrm>
            <a:off x="1545816" y="6025269"/>
            <a:ext cx="6719127" cy="939060"/>
          </a:xfrm>
          <a:prstGeom prst="rect">
            <a:avLst/>
          </a:prstGeom>
        </p:spPr>
        <p:txBody>
          <a:bodyPr lIns="0" tIns="0" rIns="0" bIns="0" rtlCol="0" anchor="t">
            <a:spAutoFit/>
          </a:bodyPr>
          <a:lstStyle/>
          <a:p>
            <a:pPr algn="l">
              <a:lnSpc>
                <a:spcPts val="2491"/>
              </a:lnSpc>
              <a:spcBef>
                <a:spcPct val="0"/>
              </a:spcBef>
            </a:pPr>
            <a:r>
              <a:rPr lang="en-US" sz="1779">
                <a:solidFill>
                  <a:srgbClr val="194A8D"/>
                </a:solidFill>
                <a:latin typeface="Arimo"/>
                <a:ea typeface="Arimo"/>
                <a:cs typeface="Arimo"/>
                <a:sym typeface="Arimo"/>
              </a:rPr>
              <a:t>·Dùng SNS (Simple Notification Service) để gửi cảnh báo đến email / Slack nhóm</a:t>
            </a:r>
          </a:p>
          <a:p>
            <a:pPr algn="l">
              <a:lnSpc>
                <a:spcPts val="2491"/>
              </a:lnSpc>
              <a:spcBef>
                <a:spcPct val="0"/>
              </a:spcBef>
            </a:pPr>
            <a:endParaRPr lang="en-US" sz="1779">
              <a:solidFill>
                <a:srgbClr val="194A8D"/>
              </a:solidFill>
              <a:latin typeface="Arimo"/>
              <a:ea typeface="Arimo"/>
              <a:cs typeface="Arimo"/>
              <a:sym typeface="Arimo"/>
            </a:endParaRPr>
          </a:p>
        </p:txBody>
      </p:sp>
      <p:sp>
        <p:nvSpPr>
          <p:cNvPr id="17" name="TextBox 17"/>
          <p:cNvSpPr txBox="1"/>
          <p:nvPr/>
        </p:nvSpPr>
        <p:spPr>
          <a:xfrm>
            <a:off x="9681172" y="3957611"/>
            <a:ext cx="6719127" cy="939060"/>
          </a:xfrm>
          <a:prstGeom prst="rect">
            <a:avLst/>
          </a:prstGeom>
        </p:spPr>
        <p:txBody>
          <a:bodyPr lIns="0" tIns="0" rIns="0" bIns="0" rtlCol="0" anchor="t">
            <a:spAutoFit/>
          </a:bodyPr>
          <a:lstStyle/>
          <a:p>
            <a:pPr algn="l">
              <a:lnSpc>
                <a:spcPts val="2491"/>
              </a:lnSpc>
              <a:spcBef>
                <a:spcPct val="0"/>
              </a:spcBef>
            </a:pPr>
            <a:r>
              <a:rPr lang="en-US" sz="1779">
                <a:solidFill>
                  <a:srgbClr val="194A8D"/>
                </a:solidFill>
                <a:latin typeface="Arimo"/>
                <a:ea typeface="Arimo"/>
                <a:cs typeface="Arimo"/>
                <a:sym typeface="Arimo"/>
              </a:rPr>
              <a:t>·Phân công rõ người chịu trách nhiệm xử lý mỗi loại cảnh báo (DevOps, Dev, QA)</a:t>
            </a:r>
          </a:p>
          <a:p>
            <a:pPr algn="l">
              <a:lnSpc>
                <a:spcPts val="2491"/>
              </a:lnSpc>
              <a:spcBef>
                <a:spcPct val="0"/>
              </a:spcBef>
            </a:pPr>
            <a:endParaRPr lang="en-US" sz="1779">
              <a:solidFill>
                <a:srgbClr val="194A8D"/>
              </a:solidFill>
              <a:latin typeface="Arimo"/>
              <a:ea typeface="Arimo"/>
              <a:cs typeface="Arimo"/>
              <a:sym typeface="Arimo"/>
            </a:endParaRPr>
          </a:p>
        </p:txBody>
      </p:sp>
      <p:sp>
        <p:nvSpPr>
          <p:cNvPr id="18" name="TextBox 18"/>
          <p:cNvSpPr txBox="1"/>
          <p:nvPr/>
        </p:nvSpPr>
        <p:spPr>
          <a:xfrm>
            <a:off x="9681172" y="6025269"/>
            <a:ext cx="6719127" cy="939060"/>
          </a:xfrm>
          <a:prstGeom prst="rect">
            <a:avLst/>
          </a:prstGeom>
        </p:spPr>
        <p:txBody>
          <a:bodyPr lIns="0" tIns="0" rIns="0" bIns="0" rtlCol="0" anchor="t">
            <a:spAutoFit/>
          </a:bodyPr>
          <a:lstStyle/>
          <a:p>
            <a:pPr algn="l">
              <a:lnSpc>
                <a:spcPts val="2491"/>
              </a:lnSpc>
              <a:spcBef>
                <a:spcPct val="0"/>
              </a:spcBef>
            </a:pPr>
            <a:r>
              <a:rPr lang="en-US" sz="1779">
                <a:solidFill>
                  <a:srgbClr val="194A8D"/>
                </a:solidFill>
                <a:latin typeface="Arimo"/>
                <a:ea typeface="Arimo"/>
                <a:cs typeface="Arimo"/>
                <a:sym typeface="Arimo"/>
              </a:rPr>
              <a:t>·Tổ chức họp đánh giá rủi ro mỗi tuần để cập nhật tiến độ và xử lý sớm</a:t>
            </a:r>
          </a:p>
          <a:p>
            <a:pPr algn="l">
              <a:lnSpc>
                <a:spcPts val="2491"/>
              </a:lnSpc>
              <a:spcBef>
                <a:spcPct val="0"/>
              </a:spcBef>
            </a:pPr>
            <a:endParaRPr lang="en-US" sz="1779">
              <a:solidFill>
                <a:srgbClr val="194A8D"/>
              </a:solidFill>
              <a:latin typeface="Arimo"/>
              <a:ea typeface="Arimo"/>
              <a:cs typeface="Arimo"/>
              <a:sym typeface="Arim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extBox 2"/>
          <p:cNvSpPr txBox="1"/>
          <p:nvPr/>
        </p:nvSpPr>
        <p:spPr>
          <a:xfrm>
            <a:off x="228251" y="513196"/>
            <a:ext cx="18059749" cy="1135783"/>
          </a:xfrm>
          <a:prstGeom prst="rect">
            <a:avLst/>
          </a:prstGeom>
        </p:spPr>
        <p:txBody>
          <a:bodyPr lIns="0" tIns="0" rIns="0" bIns="0" rtlCol="0" anchor="t">
            <a:spAutoFit/>
          </a:bodyPr>
          <a:lstStyle/>
          <a:p>
            <a:pPr algn="ctr">
              <a:lnSpc>
                <a:spcPts val="8655"/>
              </a:lnSpc>
            </a:pPr>
            <a:r>
              <a:rPr lang="en-US" sz="8165" spc="816">
                <a:solidFill>
                  <a:srgbClr val="FFFFFF"/>
                </a:solidFill>
                <a:latin typeface="League Spartan"/>
                <a:ea typeface="League Spartan"/>
                <a:cs typeface="League Spartan"/>
                <a:sym typeface="League Spartan"/>
              </a:rPr>
              <a:t>KẾT QUẢ MONG ĐỢI </a:t>
            </a:r>
          </a:p>
        </p:txBody>
      </p:sp>
      <p:sp>
        <p:nvSpPr>
          <p:cNvPr id="3" name="TextBox 3"/>
          <p:cNvSpPr txBox="1"/>
          <p:nvPr/>
        </p:nvSpPr>
        <p:spPr>
          <a:xfrm>
            <a:off x="1028700" y="1315604"/>
            <a:ext cx="6235798" cy="1021184"/>
          </a:xfrm>
          <a:prstGeom prst="rect">
            <a:avLst/>
          </a:prstGeom>
        </p:spPr>
        <p:txBody>
          <a:bodyPr lIns="0" tIns="0" rIns="0" bIns="0" rtlCol="0" anchor="t">
            <a:spAutoFit/>
          </a:bodyPr>
          <a:lstStyle/>
          <a:p>
            <a:pPr algn="l">
              <a:lnSpc>
                <a:spcPts val="8633"/>
              </a:lnSpc>
            </a:pPr>
            <a:r>
              <a:rPr lang="en-US" sz="4519" b="1" spc="451">
                <a:solidFill>
                  <a:srgbClr val="FFFFFF"/>
                </a:solidFill>
                <a:latin typeface="Arimo Bold"/>
                <a:ea typeface="Arimo Bold"/>
                <a:cs typeface="Arimo Bold"/>
                <a:sym typeface="Arimo Bold"/>
              </a:rPr>
              <a:t>Chỉ số thành công </a:t>
            </a:r>
          </a:p>
        </p:txBody>
      </p:sp>
      <p:graphicFrame>
        <p:nvGraphicFramePr>
          <p:cNvPr id="4" name="Object 4"/>
          <p:cNvGraphicFramePr/>
          <p:nvPr/>
        </p:nvGraphicFramePr>
        <p:xfrm>
          <a:off x="1028700" y="2543634"/>
          <a:ext cx="2514600" cy="4610100"/>
        </p:xfrm>
        <a:graphic>
          <a:graphicData uri="http://schemas.openxmlformats.org/presentationml/2006/ole">
            <mc:AlternateContent xmlns:mc="http://schemas.openxmlformats.org/markup-compatibility/2006">
              <mc:Choice xmlns:v="urn:schemas-microsoft-com:vml" Requires="v">
                <p:oleObj name="Worksheet" r:id="rId2" imgW="3429000" imgH="5524500" progId="Excel.Sheet.12">
                  <p:embed/>
                </p:oleObj>
              </mc:Choice>
              <mc:Fallback>
                <p:oleObj name="Worksheet" r:id="rId2" imgW="3429000" imgH="5524500" progId="Excel.Sheet.12">
                  <p:embed/>
                  <p:pic>
                    <p:nvPicPr>
                      <p:cNvPr id="0" name=""/>
                      <p:cNvPicPr/>
                      <p:nvPr/>
                    </p:nvPicPr>
                    <p:blipFill>
                      <a:blip r:embed="rId3"/>
                      <a:stretch>
                        <a:fillRect/>
                      </a:stretch>
                    </p:blipFill>
                    <p:spPr>
                      <a:xfrm>
                        <a:off x="1028700" y="2543634"/>
                        <a:ext cx="2514600" cy="4610100"/>
                      </a:xfrm>
                      <a:prstGeom prst="rect">
                        <a:avLst/>
                      </a:prstGeom>
                    </p:spPr>
                  </p:pic>
                </p:oleObj>
              </mc:Fallback>
            </mc:AlternateContent>
          </a:graphicData>
        </a:graphic>
      </p:graphicFrame>
      <p:graphicFrame>
        <p:nvGraphicFramePr>
          <p:cNvPr id="5" name="Object 5"/>
          <p:cNvGraphicFramePr/>
          <p:nvPr/>
        </p:nvGraphicFramePr>
        <p:xfrm>
          <a:off x="1028700" y="6753447"/>
          <a:ext cx="2514600" cy="2095500"/>
        </p:xfrm>
        <a:graphic>
          <a:graphicData uri="http://schemas.openxmlformats.org/presentationml/2006/ole">
            <mc:AlternateContent xmlns:mc="http://schemas.openxmlformats.org/markup-compatibility/2006">
              <mc:Choice xmlns:v="urn:schemas-microsoft-com:vml" Requires="v">
                <p:oleObj name="Worksheet" r:id="rId4" imgW="3009900" imgH="2590800" progId="Excel.Sheet.12">
                  <p:embed/>
                </p:oleObj>
              </mc:Choice>
              <mc:Fallback>
                <p:oleObj name="Worksheet" r:id="rId4" imgW="3009900" imgH="2590800" progId="Excel.Sheet.12">
                  <p:embed/>
                  <p:pic>
                    <p:nvPicPr>
                      <p:cNvPr id="0" name=""/>
                      <p:cNvPicPr/>
                      <p:nvPr/>
                    </p:nvPicPr>
                    <p:blipFill>
                      <a:blip r:embed="rId5"/>
                      <a:stretch>
                        <a:fillRect/>
                      </a:stretch>
                    </p:blipFill>
                    <p:spPr>
                      <a:xfrm>
                        <a:off x="1028700" y="6753447"/>
                        <a:ext cx="2514600" cy="2095500"/>
                      </a:xfrm>
                      <a:prstGeom prst="rect">
                        <a:avLst/>
                      </a:prstGeom>
                    </p:spPr>
                  </p:pic>
                </p:oleObj>
              </mc:Fallback>
            </mc:AlternateContent>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Freeform 2"/>
          <p:cNvSpPr/>
          <p:nvPr/>
        </p:nvSpPr>
        <p:spPr>
          <a:xfrm rot="-5400000" flipV="1">
            <a:off x="15177010" y="-1253949"/>
            <a:ext cx="2720897" cy="5228794"/>
          </a:xfrm>
          <a:custGeom>
            <a:avLst/>
            <a:gdLst/>
            <a:ahLst/>
            <a:cxnLst/>
            <a:rect l="l" t="t" r="r" b="b"/>
            <a:pathLst>
              <a:path w="2720897" h="5228794">
                <a:moveTo>
                  <a:pt x="0" y="5228795"/>
                </a:moveTo>
                <a:lnTo>
                  <a:pt x="2720897" y="5228795"/>
                </a:lnTo>
                <a:lnTo>
                  <a:pt x="2720897" y="0"/>
                </a:lnTo>
                <a:lnTo>
                  <a:pt x="0" y="0"/>
                </a:lnTo>
                <a:lnTo>
                  <a:pt x="0" y="5228795"/>
                </a:lnTo>
                <a:close/>
              </a:path>
            </a:pathLst>
          </a:custGeom>
          <a:blipFill>
            <a:blip r:embed="rId2"/>
            <a:stretch>
              <a:fillRect/>
            </a:stretch>
          </a:blipFill>
        </p:spPr>
      </p:sp>
      <p:sp>
        <p:nvSpPr>
          <p:cNvPr id="3" name="Freeform 3"/>
          <p:cNvSpPr/>
          <p:nvPr/>
        </p:nvSpPr>
        <p:spPr>
          <a:xfrm rot="-5400000">
            <a:off x="390093" y="-1471468"/>
            <a:ext cx="2720897" cy="5228794"/>
          </a:xfrm>
          <a:custGeom>
            <a:avLst/>
            <a:gdLst/>
            <a:ahLst/>
            <a:cxnLst/>
            <a:rect l="l" t="t" r="r" b="b"/>
            <a:pathLst>
              <a:path w="2720897" h="5228794">
                <a:moveTo>
                  <a:pt x="0" y="0"/>
                </a:moveTo>
                <a:lnTo>
                  <a:pt x="2720897" y="0"/>
                </a:lnTo>
                <a:lnTo>
                  <a:pt x="2720897" y="5228794"/>
                </a:lnTo>
                <a:lnTo>
                  <a:pt x="0" y="5228794"/>
                </a:lnTo>
                <a:lnTo>
                  <a:pt x="0" y="0"/>
                </a:lnTo>
                <a:close/>
              </a:path>
            </a:pathLst>
          </a:custGeom>
          <a:blipFill>
            <a:blip r:embed="rId2"/>
            <a:stretch>
              <a:fillRect/>
            </a:stretch>
          </a:blipFill>
        </p:spPr>
      </p:sp>
      <p:grpSp>
        <p:nvGrpSpPr>
          <p:cNvPr id="4" name="Group 4"/>
          <p:cNvGrpSpPr/>
          <p:nvPr/>
        </p:nvGrpSpPr>
        <p:grpSpPr>
          <a:xfrm>
            <a:off x="1595871" y="1142929"/>
            <a:ext cx="4920028" cy="7484343"/>
            <a:chOff x="0" y="0"/>
            <a:chExt cx="1295810" cy="1971185"/>
          </a:xfrm>
        </p:grpSpPr>
        <p:sp>
          <p:nvSpPr>
            <p:cNvPr id="5" name="Freeform 5"/>
            <p:cNvSpPr/>
            <p:nvPr/>
          </p:nvSpPr>
          <p:spPr>
            <a:xfrm>
              <a:off x="0" y="0"/>
              <a:ext cx="1295810" cy="1971185"/>
            </a:xfrm>
            <a:custGeom>
              <a:avLst/>
              <a:gdLst/>
              <a:ahLst/>
              <a:cxnLst/>
              <a:rect l="l" t="t" r="r" b="b"/>
              <a:pathLst>
                <a:path w="1295810" h="1971185">
                  <a:moveTo>
                    <a:pt x="0" y="0"/>
                  </a:moveTo>
                  <a:lnTo>
                    <a:pt x="1295810" y="0"/>
                  </a:lnTo>
                  <a:lnTo>
                    <a:pt x="1295810" y="1971185"/>
                  </a:lnTo>
                  <a:lnTo>
                    <a:pt x="0" y="1971185"/>
                  </a:lnTo>
                  <a:close/>
                </a:path>
              </a:pathLst>
            </a:custGeom>
            <a:solidFill>
              <a:srgbClr val="FFFFFF"/>
            </a:solidFill>
          </p:spPr>
        </p:sp>
        <p:sp>
          <p:nvSpPr>
            <p:cNvPr id="6" name="TextBox 6"/>
            <p:cNvSpPr txBox="1"/>
            <p:nvPr/>
          </p:nvSpPr>
          <p:spPr>
            <a:xfrm>
              <a:off x="0" y="-47625"/>
              <a:ext cx="1295810" cy="2018810"/>
            </a:xfrm>
            <a:prstGeom prst="rect">
              <a:avLst/>
            </a:prstGeom>
          </p:spPr>
          <p:txBody>
            <a:bodyPr lIns="50800" tIns="50800" rIns="50800" bIns="50800" rtlCol="0" anchor="ctr"/>
            <a:lstStyle/>
            <a:p>
              <a:pPr algn="ctr">
                <a:lnSpc>
                  <a:spcPts val="2659"/>
                </a:lnSpc>
              </a:pPr>
              <a:endParaRPr/>
            </a:p>
          </p:txBody>
        </p:sp>
      </p:grpSp>
      <p:sp>
        <p:nvSpPr>
          <p:cNvPr id="7" name="TextBox 7"/>
          <p:cNvSpPr txBox="1"/>
          <p:nvPr/>
        </p:nvSpPr>
        <p:spPr>
          <a:xfrm>
            <a:off x="1595871" y="1172394"/>
            <a:ext cx="4920028" cy="845670"/>
          </a:xfrm>
          <a:prstGeom prst="rect">
            <a:avLst/>
          </a:prstGeom>
        </p:spPr>
        <p:txBody>
          <a:bodyPr lIns="0" tIns="0" rIns="0" bIns="0" rtlCol="0" anchor="t">
            <a:spAutoFit/>
          </a:bodyPr>
          <a:lstStyle/>
          <a:p>
            <a:pPr marL="0" lvl="0" indent="0" algn="ctr">
              <a:lnSpc>
                <a:spcPts val="7105"/>
              </a:lnSpc>
              <a:spcBef>
                <a:spcPct val="0"/>
              </a:spcBef>
            </a:pPr>
            <a:r>
              <a:rPr lang="en-US" sz="3719" b="1" u="none" strike="noStrike" spc="371">
                <a:solidFill>
                  <a:srgbClr val="194A8D"/>
                </a:solidFill>
                <a:latin typeface="Arimo Bold"/>
                <a:ea typeface="Arimo Bold"/>
                <a:cs typeface="Arimo Bold"/>
                <a:sym typeface="Arimo Bold"/>
              </a:rPr>
              <a:t>Lợi ích ngắn hạn </a:t>
            </a:r>
          </a:p>
        </p:txBody>
      </p:sp>
      <p:grpSp>
        <p:nvGrpSpPr>
          <p:cNvPr id="8" name="Group 8"/>
          <p:cNvGrpSpPr/>
          <p:nvPr/>
        </p:nvGrpSpPr>
        <p:grpSpPr>
          <a:xfrm>
            <a:off x="6901513" y="1142929"/>
            <a:ext cx="4920028" cy="7480143"/>
            <a:chOff x="0" y="0"/>
            <a:chExt cx="1295810" cy="1970079"/>
          </a:xfrm>
        </p:grpSpPr>
        <p:sp>
          <p:nvSpPr>
            <p:cNvPr id="9" name="Freeform 9"/>
            <p:cNvSpPr/>
            <p:nvPr/>
          </p:nvSpPr>
          <p:spPr>
            <a:xfrm>
              <a:off x="0" y="0"/>
              <a:ext cx="1295810" cy="1970079"/>
            </a:xfrm>
            <a:custGeom>
              <a:avLst/>
              <a:gdLst/>
              <a:ahLst/>
              <a:cxnLst/>
              <a:rect l="l" t="t" r="r" b="b"/>
              <a:pathLst>
                <a:path w="1295810" h="1970079">
                  <a:moveTo>
                    <a:pt x="0" y="0"/>
                  </a:moveTo>
                  <a:lnTo>
                    <a:pt x="1295810" y="0"/>
                  </a:lnTo>
                  <a:lnTo>
                    <a:pt x="1295810" y="1970079"/>
                  </a:lnTo>
                  <a:lnTo>
                    <a:pt x="0" y="1970079"/>
                  </a:lnTo>
                  <a:close/>
                </a:path>
              </a:pathLst>
            </a:custGeom>
            <a:solidFill>
              <a:srgbClr val="FFFFFF"/>
            </a:solidFill>
          </p:spPr>
        </p:sp>
        <p:sp>
          <p:nvSpPr>
            <p:cNvPr id="10" name="TextBox 10"/>
            <p:cNvSpPr txBox="1"/>
            <p:nvPr/>
          </p:nvSpPr>
          <p:spPr>
            <a:xfrm>
              <a:off x="0" y="-47625"/>
              <a:ext cx="1295810" cy="2017704"/>
            </a:xfrm>
            <a:prstGeom prst="rect">
              <a:avLst/>
            </a:prstGeom>
          </p:spPr>
          <p:txBody>
            <a:bodyPr lIns="50800" tIns="50800" rIns="50800" bIns="50800" rtlCol="0" anchor="ctr"/>
            <a:lstStyle/>
            <a:p>
              <a:pPr algn="ctr">
                <a:lnSpc>
                  <a:spcPts val="2659"/>
                </a:lnSpc>
              </a:pPr>
              <a:endParaRPr/>
            </a:p>
          </p:txBody>
        </p:sp>
      </p:grpSp>
      <p:sp>
        <p:nvSpPr>
          <p:cNvPr id="11" name="TextBox 11"/>
          <p:cNvSpPr txBox="1"/>
          <p:nvPr/>
        </p:nvSpPr>
        <p:spPr>
          <a:xfrm>
            <a:off x="6901513" y="1172394"/>
            <a:ext cx="4920028" cy="845670"/>
          </a:xfrm>
          <a:prstGeom prst="rect">
            <a:avLst/>
          </a:prstGeom>
        </p:spPr>
        <p:txBody>
          <a:bodyPr lIns="0" tIns="0" rIns="0" bIns="0" rtlCol="0" anchor="t">
            <a:spAutoFit/>
          </a:bodyPr>
          <a:lstStyle/>
          <a:p>
            <a:pPr marL="0" lvl="0" indent="0" algn="ctr">
              <a:lnSpc>
                <a:spcPts val="7105"/>
              </a:lnSpc>
              <a:spcBef>
                <a:spcPct val="0"/>
              </a:spcBef>
            </a:pPr>
            <a:r>
              <a:rPr lang="en-US" sz="3719" b="1" u="none" strike="noStrike" spc="371">
                <a:solidFill>
                  <a:srgbClr val="194A8D"/>
                </a:solidFill>
                <a:latin typeface="Arimo Bold"/>
                <a:ea typeface="Arimo Bold"/>
                <a:cs typeface="Arimo Bold"/>
                <a:sym typeface="Arimo Bold"/>
              </a:rPr>
              <a:t>Lợi ích trung hạn </a:t>
            </a:r>
          </a:p>
        </p:txBody>
      </p:sp>
      <p:grpSp>
        <p:nvGrpSpPr>
          <p:cNvPr id="12" name="Group 12"/>
          <p:cNvGrpSpPr/>
          <p:nvPr/>
        </p:nvGrpSpPr>
        <p:grpSpPr>
          <a:xfrm>
            <a:off x="12207154" y="1142929"/>
            <a:ext cx="4920028" cy="7475943"/>
            <a:chOff x="0" y="0"/>
            <a:chExt cx="1295810" cy="1968973"/>
          </a:xfrm>
        </p:grpSpPr>
        <p:sp>
          <p:nvSpPr>
            <p:cNvPr id="13" name="Freeform 13"/>
            <p:cNvSpPr/>
            <p:nvPr/>
          </p:nvSpPr>
          <p:spPr>
            <a:xfrm>
              <a:off x="0" y="0"/>
              <a:ext cx="1295810" cy="1968973"/>
            </a:xfrm>
            <a:custGeom>
              <a:avLst/>
              <a:gdLst/>
              <a:ahLst/>
              <a:cxnLst/>
              <a:rect l="l" t="t" r="r" b="b"/>
              <a:pathLst>
                <a:path w="1295810" h="1968973">
                  <a:moveTo>
                    <a:pt x="0" y="0"/>
                  </a:moveTo>
                  <a:lnTo>
                    <a:pt x="1295810" y="0"/>
                  </a:lnTo>
                  <a:lnTo>
                    <a:pt x="1295810" y="1968973"/>
                  </a:lnTo>
                  <a:lnTo>
                    <a:pt x="0" y="1968973"/>
                  </a:lnTo>
                  <a:close/>
                </a:path>
              </a:pathLst>
            </a:custGeom>
            <a:solidFill>
              <a:srgbClr val="FFFFFF"/>
            </a:solidFill>
          </p:spPr>
        </p:sp>
        <p:sp>
          <p:nvSpPr>
            <p:cNvPr id="14" name="TextBox 14"/>
            <p:cNvSpPr txBox="1"/>
            <p:nvPr/>
          </p:nvSpPr>
          <p:spPr>
            <a:xfrm>
              <a:off x="0" y="-285750"/>
              <a:ext cx="1295810" cy="2254723"/>
            </a:xfrm>
            <a:prstGeom prst="rect">
              <a:avLst/>
            </a:prstGeom>
          </p:spPr>
          <p:txBody>
            <a:bodyPr lIns="50800" tIns="50800" rIns="50800" bIns="50800" rtlCol="0" anchor="ctr"/>
            <a:lstStyle/>
            <a:p>
              <a:pPr marL="0" lvl="0" indent="0" algn="ctr">
                <a:lnSpc>
                  <a:spcPts val="7487"/>
                </a:lnSpc>
                <a:spcBef>
                  <a:spcPct val="0"/>
                </a:spcBef>
              </a:pPr>
              <a:endParaRPr/>
            </a:p>
          </p:txBody>
        </p:sp>
      </p:grpSp>
      <p:sp>
        <p:nvSpPr>
          <p:cNvPr id="15" name="TextBox 15"/>
          <p:cNvSpPr txBox="1"/>
          <p:nvPr/>
        </p:nvSpPr>
        <p:spPr>
          <a:xfrm>
            <a:off x="12202541" y="1139682"/>
            <a:ext cx="4920028" cy="845670"/>
          </a:xfrm>
          <a:prstGeom prst="rect">
            <a:avLst/>
          </a:prstGeom>
        </p:spPr>
        <p:txBody>
          <a:bodyPr lIns="0" tIns="0" rIns="0" bIns="0" rtlCol="0" anchor="t">
            <a:spAutoFit/>
          </a:bodyPr>
          <a:lstStyle/>
          <a:p>
            <a:pPr marL="0" lvl="0" indent="0" algn="ctr">
              <a:lnSpc>
                <a:spcPts val="7105"/>
              </a:lnSpc>
              <a:spcBef>
                <a:spcPct val="0"/>
              </a:spcBef>
            </a:pPr>
            <a:r>
              <a:rPr lang="en-US" sz="3719" b="1" u="none" strike="noStrike" spc="371">
                <a:solidFill>
                  <a:srgbClr val="194A8D"/>
                </a:solidFill>
                <a:latin typeface="Arimo Bold"/>
                <a:ea typeface="Arimo Bold"/>
                <a:cs typeface="Arimo Bold"/>
                <a:sym typeface="Arimo Bold"/>
              </a:rPr>
              <a:t>Giá trị dài hạn </a:t>
            </a:r>
          </a:p>
        </p:txBody>
      </p:sp>
      <p:sp>
        <p:nvSpPr>
          <p:cNvPr id="16" name="TextBox 16"/>
          <p:cNvSpPr txBox="1"/>
          <p:nvPr/>
        </p:nvSpPr>
        <p:spPr>
          <a:xfrm>
            <a:off x="2014055" y="2453618"/>
            <a:ext cx="4083661" cy="5575935"/>
          </a:xfrm>
          <a:prstGeom prst="rect">
            <a:avLst/>
          </a:prstGeom>
        </p:spPr>
        <p:txBody>
          <a:bodyPr lIns="0" tIns="0" rIns="0" bIns="0" rtlCol="0" anchor="t">
            <a:spAutoFit/>
          </a:bodyPr>
          <a:lstStyle/>
          <a:p>
            <a:pPr marL="453388" lvl="1" indent="-226694" algn="l">
              <a:lnSpc>
                <a:spcPts val="2939"/>
              </a:lnSpc>
              <a:buFont typeface="Arial"/>
              <a:buChar char="•"/>
            </a:pPr>
            <a:r>
              <a:rPr lang="en-US" sz="2099">
                <a:solidFill>
                  <a:srgbClr val="194A8D"/>
                </a:solidFill>
                <a:latin typeface="Arimo"/>
                <a:ea typeface="Arimo"/>
                <a:cs typeface="Arimo"/>
                <a:sym typeface="Arimo"/>
              </a:rPr>
              <a:t>·Triển khai thành công mô hình connection pooling tối ưu cho RDS Proxy.</a:t>
            </a:r>
          </a:p>
          <a:p>
            <a:pPr marL="453388" lvl="1" indent="-226694" algn="l">
              <a:lnSpc>
                <a:spcPts val="2939"/>
              </a:lnSpc>
              <a:buFont typeface="Arial"/>
              <a:buChar char="•"/>
            </a:pPr>
            <a:r>
              <a:rPr lang="en-US" sz="2099">
                <a:solidFill>
                  <a:srgbClr val="194A8D"/>
                </a:solidFill>
                <a:latin typeface="Arimo"/>
                <a:ea typeface="Arimo"/>
                <a:cs typeface="Arimo"/>
                <a:sym typeface="Arimo"/>
              </a:rPr>
              <a:t>·Giảm chi phí AWS database từ 500 USD xuống 300–350 USD/tháng.</a:t>
            </a:r>
          </a:p>
          <a:p>
            <a:pPr marL="453388" lvl="1" indent="-226694" algn="l">
              <a:lnSpc>
                <a:spcPts val="2939"/>
              </a:lnSpc>
              <a:buFont typeface="Arial"/>
              <a:buChar char="•"/>
            </a:pPr>
            <a:r>
              <a:rPr lang="en-US" sz="2099">
                <a:solidFill>
                  <a:srgbClr val="194A8D"/>
                </a:solidFill>
                <a:latin typeface="Arimo"/>
                <a:ea typeface="Arimo"/>
                <a:cs typeface="Arimo"/>
                <a:sym typeface="Arimo"/>
              </a:rPr>
              <a:t>·Thời gian failover giảm rõ rệt, tăng độ sẵn sàng dịch vụ.</a:t>
            </a:r>
          </a:p>
          <a:p>
            <a:pPr marL="453388" lvl="1" indent="-226694" algn="l">
              <a:lnSpc>
                <a:spcPts val="2939"/>
              </a:lnSpc>
              <a:buFont typeface="Arial"/>
              <a:buChar char="•"/>
            </a:pPr>
            <a:r>
              <a:rPr lang="en-US" sz="2099">
                <a:solidFill>
                  <a:srgbClr val="194A8D"/>
                </a:solidFill>
                <a:latin typeface="Arimo"/>
                <a:ea typeface="Arimo"/>
                <a:cs typeface="Arimo"/>
                <a:sym typeface="Arimo"/>
              </a:rPr>
              <a:t>·Đội ngũ DevOps được trang bị dashboard giám sát chuyên nghiệp.</a:t>
            </a:r>
          </a:p>
          <a:p>
            <a:pPr marL="453388" lvl="1" indent="-226694" algn="l">
              <a:lnSpc>
                <a:spcPts val="2939"/>
              </a:lnSpc>
              <a:buFont typeface="Arial"/>
              <a:buChar char="•"/>
            </a:pPr>
            <a:r>
              <a:rPr lang="en-US" sz="2099">
                <a:solidFill>
                  <a:srgbClr val="194A8D"/>
                </a:solidFill>
                <a:latin typeface="Arimo"/>
                <a:ea typeface="Arimo"/>
                <a:cs typeface="Arimo"/>
                <a:sym typeface="Arimo"/>
              </a:rPr>
              <a:t>·Tối ưu bảo mật kết nối thông qua AWS IAM và Secrets Manager.</a:t>
            </a:r>
          </a:p>
          <a:p>
            <a:pPr algn="l">
              <a:lnSpc>
                <a:spcPts val="2939"/>
              </a:lnSpc>
            </a:pPr>
            <a:endParaRPr lang="en-US" sz="2099">
              <a:solidFill>
                <a:srgbClr val="194A8D"/>
              </a:solidFill>
              <a:latin typeface="Arimo"/>
              <a:ea typeface="Arimo"/>
              <a:cs typeface="Arimo"/>
              <a:sym typeface="Arimo"/>
            </a:endParaRPr>
          </a:p>
        </p:txBody>
      </p:sp>
      <p:sp>
        <p:nvSpPr>
          <p:cNvPr id="17" name="TextBox 17"/>
          <p:cNvSpPr txBox="1"/>
          <p:nvPr/>
        </p:nvSpPr>
        <p:spPr>
          <a:xfrm>
            <a:off x="7110605" y="2518456"/>
            <a:ext cx="4083661" cy="5502275"/>
          </a:xfrm>
          <a:prstGeom prst="rect">
            <a:avLst/>
          </a:prstGeom>
        </p:spPr>
        <p:txBody>
          <a:bodyPr lIns="0" tIns="0" rIns="0" bIns="0" rtlCol="0" anchor="t">
            <a:spAutoFit/>
          </a:bodyPr>
          <a:lstStyle/>
          <a:p>
            <a:pPr marL="453388" lvl="1" indent="-226694" algn="l">
              <a:lnSpc>
                <a:spcPts val="2939"/>
              </a:lnSpc>
              <a:buFont typeface="Arial"/>
              <a:buChar char="•"/>
            </a:pPr>
            <a:r>
              <a:rPr lang="en-US" sz="2099">
                <a:solidFill>
                  <a:srgbClr val="194A8D"/>
                </a:solidFill>
                <a:latin typeface="Arimo"/>
                <a:ea typeface="Arimo"/>
                <a:cs typeface="Arimo"/>
                <a:sym typeface="Arimo"/>
              </a:rPr>
              <a:t>·Ổn định hiệu suất hệ thống, phục vụ lượng truy cập tăng gấp đôi.</a:t>
            </a:r>
          </a:p>
          <a:p>
            <a:pPr marL="453388" lvl="1" indent="-226694" algn="l">
              <a:lnSpc>
                <a:spcPts val="2939"/>
              </a:lnSpc>
              <a:buFont typeface="Arial"/>
              <a:buChar char="•"/>
            </a:pPr>
            <a:r>
              <a:rPr lang="en-US" sz="2099">
                <a:solidFill>
                  <a:srgbClr val="194A8D"/>
                </a:solidFill>
                <a:latin typeface="Arimo"/>
                <a:ea typeface="Arimo"/>
                <a:cs typeface="Arimo"/>
                <a:sym typeface="Arimo"/>
              </a:rPr>
              <a:t>·Giảm thiểu downtime</a:t>
            </a:r>
          </a:p>
          <a:p>
            <a:pPr marL="453388" lvl="1" indent="-226694" algn="l">
              <a:lnSpc>
                <a:spcPts val="2939"/>
              </a:lnSpc>
              <a:buFont typeface="Arial"/>
              <a:buChar char="•"/>
            </a:pPr>
            <a:r>
              <a:rPr lang="en-US" sz="2099">
                <a:solidFill>
                  <a:srgbClr val="194A8D"/>
                </a:solidFill>
                <a:latin typeface="Arimo"/>
                <a:ea typeface="Arimo"/>
                <a:cs typeface="Arimo"/>
                <a:sym typeface="Arimo"/>
              </a:rPr>
              <a:t>·Tăng tốc độ ra mắt sản phẩm mới nhờ hạ tầng linh hoạt và có sẵn.</a:t>
            </a:r>
          </a:p>
          <a:p>
            <a:pPr marL="453388" lvl="1" indent="-226694" algn="l">
              <a:lnSpc>
                <a:spcPts val="2939"/>
              </a:lnSpc>
              <a:buFont typeface="Arial"/>
              <a:buChar char="•"/>
            </a:pPr>
            <a:r>
              <a:rPr lang="en-US" sz="2099">
                <a:solidFill>
                  <a:srgbClr val="194A8D"/>
                </a:solidFill>
                <a:latin typeface="Arimo"/>
                <a:ea typeface="Arimo"/>
                <a:cs typeface="Arimo"/>
                <a:sym typeface="Arimo"/>
              </a:rPr>
              <a:t>·Tiết kiệm nguồn lực vận hành nhờ tự động hóa giám sát &amp; bảo trì.</a:t>
            </a:r>
          </a:p>
          <a:p>
            <a:pPr marL="453388" lvl="1" indent="-226694" algn="l">
              <a:lnSpc>
                <a:spcPts val="2939"/>
              </a:lnSpc>
              <a:buFont typeface="Arial"/>
              <a:buChar char="•"/>
            </a:pPr>
            <a:r>
              <a:rPr lang="en-US" sz="2099">
                <a:solidFill>
                  <a:srgbClr val="194A8D"/>
                </a:solidFill>
                <a:latin typeface="Arimo"/>
                <a:ea typeface="Arimo"/>
                <a:cs typeface="Arimo"/>
                <a:sym typeface="Arimo"/>
              </a:rPr>
              <a:t>·Dễ dàng tích hợp thêm dịch vụ mới qua kiến trúc microservice.</a:t>
            </a:r>
          </a:p>
          <a:p>
            <a:pPr algn="ctr">
              <a:lnSpc>
                <a:spcPts val="2659"/>
              </a:lnSpc>
              <a:spcBef>
                <a:spcPct val="0"/>
              </a:spcBef>
            </a:pPr>
            <a:endParaRPr lang="en-US" sz="2099">
              <a:solidFill>
                <a:srgbClr val="194A8D"/>
              </a:solidFill>
              <a:latin typeface="Arimo"/>
              <a:ea typeface="Arimo"/>
              <a:cs typeface="Arimo"/>
              <a:sym typeface="Arimo"/>
            </a:endParaRPr>
          </a:p>
          <a:p>
            <a:pPr algn="ctr">
              <a:lnSpc>
                <a:spcPts val="2659"/>
              </a:lnSpc>
              <a:spcBef>
                <a:spcPct val="0"/>
              </a:spcBef>
            </a:pPr>
            <a:endParaRPr lang="en-US" sz="2099">
              <a:solidFill>
                <a:srgbClr val="194A8D"/>
              </a:solidFill>
              <a:latin typeface="Arimo"/>
              <a:ea typeface="Arimo"/>
              <a:cs typeface="Arimo"/>
              <a:sym typeface="Arimo"/>
            </a:endParaRPr>
          </a:p>
        </p:txBody>
      </p:sp>
      <p:sp>
        <p:nvSpPr>
          <p:cNvPr id="18" name="TextBox 18"/>
          <p:cNvSpPr txBox="1"/>
          <p:nvPr/>
        </p:nvSpPr>
        <p:spPr>
          <a:xfrm>
            <a:off x="12453797" y="2446228"/>
            <a:ext cx="4083661" cy="4461510"/>
          </a:xfrm>
          <a:prstGeom prst="rect">
            <a:avLst/>
          </a:prstGeom>
        </p:spPr>
        <p:txBody>
          <a:bodyPr lIns="0" tIns="0" rIns="0" bIns="0" rtlCol="0" anchor="t">
            <a:spAutoFit/>
          </a:bodyPr>
          <a:lstStyle/>
          <a:p>
            <a:pPr marL="453388" lvl="1" indent="-226694" algn="l">
              <a:lnSpc>
                <a:spcPts val="2939"/>
              </a:lnSpc>
              <a:buFont typeface="Arial"/>
              <a:buChar char="•"/>
            </a:pPr>
            <a:r>
              <a:rPr lang="en-US" sz="2099">
                <a:solidFill>
                  <a:srgbClr val="194A8D"/>
                </a:solidFill>
                <a:latin typeface="Arimo"/>
                <a:ea typeface="Arimo"/>
                <a:cs typeface="Arimo"/>
                <a:sym typeface="Arimo"/>
              </a:rPr>
              <a:t>·Giảm tổng chi phí sở hữu (TCO) hệ thống hạ tầng backend.</a:t>
            </a:r>
          </a:p>
          <a:p>
            <a:pPr marL="453388" lvl="1" indent="-226694" algn="l">
              <a:lnSpc>
                <a:spcPts val="2939"/>
              </a:lnSpc>
              <a:buFont typeface="Arial"/>
              <a:buChar char="•"/>
            </a:pPr>
            <a:r>
              <a:rPr lang="en-US" sz="2099">
                <a:solidFill>
                  <a:srgbClr val="194A8D"/>
                </a:solidFill>
                <a:latin typeface="Arimo"/>
                <a:ea typeface="Arimo"/>
                <a:cs typeface="Arimo"/>
                <a:sym typeface="Arimo"/>
              </a:rPr>
              <a:t>·Đặt nền móng cho mở rộng đa vùng (multi-region) hoặc phân cụm tenant.</a:t>
            </a:r>
          </a:p>
          <a:p>
            <a:pPr marL="453388" lvl="1" indent="-226694" algn="l">
              <a:lnSpc>
                <a:spcPts val="2939"/>
              </a:lnSpc>
              <a:buFont typeface="Arial"/>
              <a:buChar char="•"/>
            </a:pPr>
            <a:r>
              <a:rPr lang="en-US" sz="2099">
                <a:solidFill>
                  <a:srgbClr val="194A8D"/>
                </a:solidFill>
                <a:latin typeface="Arimo"/>
                <a:ea typeface="Arimo"/>
                <a:cs typeface="Arimo"/>
                <a:sym typeface="Arimo"/>
              </a:rPr>
              <a:t>·Gia tăng năng lực công nghệ chiến lược, hướng tới CI/CD toàn diện.</a:t>
            </a:r>
          </a:p>
          <a:p>
            <a:pPr marL="453388" lvl="1" indent="-226694" algn="l">
              <a:lnSpc>
                <a:spcPts val="2939"/>
              </a:lnSpc>
              <a:buFont typeface="Arial"/>
              <a:buChar char="•"/>
            </a:pPr>
            <a:r>
              <a:rPr lang="en-US" sz="2099">
                <a:solidFill>
                  <a:srgbClr val="194A8D"/>
                </a:solidFill>
                <a:latin typeface="Arimo"/>
                <a:ea typeface="Arimo"/>
                <a:cs typeface="Arimo"/>
                <a:sym typeface="Arimo"/>
              </a:rPr>
              <a:t>Tăng năng lực phục hồi và mở rộng thị trường toàn quốc / khu vực.</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Freeform 2"/>
          <p:cNvSpPr/>
          <p:nvPr/>
        </p:nvSpPr>
        <p:spPr>
          <a:xfrm rot="-5400000" flipV="1">
            <a:off x="15177010" y="-1253949"/>
            <a:ext cx="2720897" cy="5228794"/>
          </a:xfrm>
          <a:custGeom>
            <a:avLst/>
            <a:gdLst/>
            <a:ahLst/>
            <a:cxnLst/>
            <a:rect l="l" t="t" r="r" b="b"/>
            <a:pathLst>
              <a:path w="2720897" h="5228794">
                <a:moveTo>
                  <a:pt x="0" y="5228795"/>
                </a:moveTo>
                <a:lnTo>
                  <a:pt x="2720897" y="5228795"/>
                </a:lnTo>
                <a:lnTo>
                  <a:pt x="2720897" y="0"/>
                </a:lnTo>
                <a:lnTo>
                  <a:pt x="0" y="0"/>
                </a:lnTo>
                <a:lnTo>
                  <a:pt x="0" y="5228795"/>
                </a:lnTo>
                <a:close/>
              </a:path>
            </a:pathLst>
          </a:custGeom>
          <a:blipFill>
            <a:blip r:embed="rId2"/>
            <a:stretch>
              <a:fillRect/>
            </a:stretch>
          </a:blipFill>
        </p:spPr>
      </p:sp>
      <p:sp>
        <p:nvSpPr>
          <p:cNvPr id="3" name="Freeform 3"/>
          <p:cNvSpPr/>
          <p:nvPr/>
        </p:nvSpPr>
        <p:spPr>
          <a:xfrm rot="-5400000">
            <a:off x="390093" y="-1471468"/>
            <a:ext cx="2720897" cy="5228794"/>
          </a:xfrm>
          <a:custGeom>
            <a:avLst/>
            <a:gdLst/>
            <a:ahLst/>
            <a:cxnLst/>
            <a:rect l="l" t="t" r="r" b="b"/>
            <a:pathLst>
              <a:path w="2720897" h="5228794">
                <a:moveTo>
                  <a:pt x="0" y="0"/>
                </a:moveTo>
                <a:lnTo>
                  <a:pt x="2720897" y="0"/>
                </a:lnTo>
                <a:lnTo>
                  <a:pt x="2720897" y="5228794"/>
                </a:lnTo>
                <a:lnTo>
                  <a:pt x="0" y="5228794"/>
                </a:lnTo>
                <a:lnTo>
                  <a:pt x="0" y="0"/>
                </a:lnTo>
                <a:close/>
              </a:path>
            </a:pathLst>
          </a:custGeom>
          <a:blipFill>
            <a:blip r:embed="rId2"/>
            <a:stretch>
              <a:fillRect/>
            </a:stretch>
          </a:blipFill>
        </p:spPr>
      </p:sp>
      <p:grpSp>
        <p:nvGrpSpPr>
          <p:cNvPr id="4" name="Group 4"/>
          <p:cNvGrpSpPr/>
          <p:nvPr/>
        </p:nvGrpSpPr>
        <p:grpSpPr>
          <a:xfrm>
            <a:off x="2198069" y="2135005"/>
            <a:ext cx="6945931" cy="5976111"/>
            <a:chOff x="0" y="0"/>
            <a:chExt cx="1829381" cy="1573955"/>
          </a:xfrm>
        </p:grpSpPr>
        <p:sp>
          <p:nvSpPr>
            <p:cNvPr id="5" name="Freeform 5"/>
            <p:cNvSpPr/>
            <p:nvPr/>
          </p:nvSpPr>
          <p:spPr>
            <a:xfrm>
              <a:off x="0" y="0"/>
              <a:ext cx="1829381" cy="1573955"/>
            </a:xfrm>
            <a:custGeom>
              <a:avLst/>
              <a:gdLst/>
              <a:ahLst/>
              <a:cxnLst/>
              <a:rect l="l" t="t" r="r" b="b"/>
              <a:pathLst>
                <a:path w="1829381" h="1573955">
                  <a:moveTo>
                    <a:pt x="0" y="0"/>
                  </a:moveTo>
                  <a:lnTo>
                    <a:pt x="1829381" y="0"/>
                  </a:lnTo>
                  <a:lnTo>
                    <a:pt x="1829381" y="1573955"/>
                  </a:lnTo>
                  <a:lnTo>
                    <a:pt x="0" y="1573955"/>
                  </a:lnTo>
                  <a:close/>
                </a:path>
              </a:pathLst>
            </a:custGeom>
            <a:solidFill>
              <a:srgbClr val="FFFFFF"/>
            </a:solidFill>
          </p:spPr>
        </p:sp>
        <p:sp>
          <p:nvSpPr>
            <p:cNvPr id="6" name="TextBox 6"/>
            <p:cNvSpPr txBox="1"/>
            <p:nvPr/>
          </p:nvSpPr>
          <p:spPr>
            <a:xfrm>
              <a:off x="0" y="-47625"/>
              <a:ext cx="1829381" cy="1621580"/>
            </a:xfrm>
            <a:prstGeom prst="rect">
              <a:avLst/>
            </a:prstGeom>
          </p:spPr>
          <p:txBody>
            <a:bodyPr lIns="50800" tIns="50800" rIns="50800" bIns="50800" rtlCol="0" anchor="ctr"/>
            <a:lstStyle/>
            <a:p>
              <a:pPr algn="ctr">
                <a:lnSpc>
                  <a:spcPts val="2659"/>
                </a:lnSpc>
              </a:pPr>
              <a:endParaRPr/>
            </a:p>
          </p:txBody>
        </p:sp>
      </p:grpSp>
      <p:sp>
        <p:nvSpPr>
          <p:cNvPr id="7" name="TextBox 7"/>
          <p:cNvSpPr txBox="1"/>
          <p:nvPr/>
        </p:nvSpPr>
        <p:spPr>
          <a:xfrm>
            <a:off x="2198069" y="2178191"/>
            <a:ext cx="6945931" cy="1753037"/>
          </a:xfrm>
          <a:prstGeom prst="rect">
            <a:avLst/>
          </a:prstGeom>
        </p:spPr>
        <p:txBody>
          <a:bodyPr lIns="0" tIns="0" rIns="0" bIns="0" rtlCol="0" anchor="t">
            <a:spAutoFit/>
          </a:bodyPr>
          <a:lstStyle/>
          <a:p>
            <a:pPr marL="0" lvl="0" indent="0" algn="ctr">
              <a:lnSpc>
                <a:spcPts val="7105"/>
              </a:lnSpc>
              <a:spcBef>
                <a:spcPct val="0"/>
              </a:spcBef>
            </a:pPr>
            <a:r>
              <a:rPr lang="en-US" sz="3719" b="1" u="none" strike="noStrike" spc="371">
                <a:solidFill>
                  <a:srgbClr val="194A8D"/>
                </a:solidFill>
                <a:latin typeface="Arimo Bold"/>
                <a:ea typeface="Arimo Bold"/>
                <a:cs typeface="Arimo Bold"/>
                <a:sym typeface="Arimo Bold"/>
              </a:rPr>
              <a:t>Cải thiện trải nghiệm người dùng </a:t>
            </a:r>
          </a:p>
        </p:txBody>
      </p:sp>
      <p:grpSp>
        <p:nvGrpSpPr>
          <p:cNvPr id="8" name="Group 8"/>
          <p:cNvGrpSpPr/>
          <p:nvPr/>
        </p:nvGrpSpPr>
        <p:grpSpPr>
          <a:xfrm>
            <a:off x="9904393" y="2135005"/>
            <a:ext cx="6633066" cy="6016991"/>
            <a:chOff x="0" y="0"/>
            <a:chExt cx="1746980" cy="1584722"/>
          </a:xfrm>
        </p:grpSpPr>
        <p:sp>
          <p:nvSpPr>
            <p:cNvPr id="9" name="Freeform 9"/>
            <p:cNvSpPr/>
            <p:nvPr/>
          </p:nvSpPr>
          <p:spPr>
            <a:xfrm>
              <a:off x="0" y="0"/>
              <a:ext cx="1746980" cy="1584722"/>
            </a:xfrm>
            <a:custGeom>
              <a:avLst/>
              <a:gdLst/>
              <a:ahLst/>
              <a:cxnLst/>
              <a:rect l="l" t="t" r="r" b="b"/>
              <a:pathLst>
                <a:path w="1746980" h="1584722">
                  <a:moveTo>
                    <a:pt x="0" y="0"/>
                  </a:moveTo>
                  <a:lnTo>
                    <a:pt x="1746980" y="0"/>
                  </a:lnTo>
                  <a:lnTo>
                    <a:pt x="1746980" y="1584722"/>
                  </a:lnTo>
                  <a:lnTo>
                    <a:pt x="0" y="1584722"/>
                  </a:lnTo>
                  <a:close/>
                </a:path>
              </a:pathLst>
            </a:custGeom>
            <a:solidFill>
              <a:srgbClr val="FFFFFF"/>
            </a:solidFill>
          </p:spPr>
        </p:sp>
        <p:sp>
          <p:nvSpPr>
            <p:cNvPr id="10" name="TextBox 10"/>
            <p:cNvSpPr txBox="1"/>
            <p:nvPr/>
          </p:nvSpPr>
          <p:spPr>
            <a:xfrm>
              <a:off x="0" y="-47625"/>
              <a:ext cx="1746980" cy="1632347"/>
            </a:xfrm>
            <a:prstGeom prst="rect">
              <a:avLst/>
            </a:prstGeom>
          </p:spPr>
          <p:txBody>
            <a:bodyPr lIns="50800" tIns="50800" rIns="50800" bIns="50800" rtlCol="0" anchor="ctr"/>
            <a:lstStyle/>
            <a:p>
              <a:pPr algn="ctr">
                <a:lnSpc>
                  <a:spcPts val="2659"/>
                </a:lnSpc>
              </a:pPr>
              <a:endParaRPr/>
            </a:p>
          </p:txBody>
        </p:sp>
      </p:grpSp>
      <p:sp>
        <p:nvSpPr>
          <p:cNvPr id="11" name="TextBox 11"/>
          <p:cNvSpPr txBox="1"/>
          <p:nvPr/>
        </p:nvSpPr>
        <p:spPr>
          <a:xfrm>
            <a:off x="9904393" y="2258541"/>
            <a:ext cx="6495731" cy="1753037"/>
          </a:xfrm>
          <a:prstGeom prst="rect">
            <a:avLst/>
          </a:prstGeom>
        </p:spPr>
        <p:txBody>
          <a:bodyPr lIns="0" tIns="0" rIns="0" bIns="0" rtlCol="0" anchor="t">
            <a:spAutoFit/>
          </a:bodyPr>
          <a:lstStyle/>
          <a:p>
            <a:pPr marL="0" lvl="0" indent="0" algn="ctr">
              <a:lnSpc>
                <a:spcPts val="7105"/>
              </a:lnSpc>
              <a:spcBef>
                <a:spcPct val="0"/>
              </a:spcBef>
            </a:pPr>
            <a:r>
              <a:rPr lang="en-US" sz="3719" b="1" u="none" strike="noStrike" spc="371">
                <a:solidFill>
                  <a:srgbClr val="194A8D"/>
                </a:solidFill>
                <a:latin typeface="Arimo Bold"/>
                <a:ea typeface="Arimo Bold"/>
                <a:cs typeface="Arimo Bold"/>
                <a:sym typeface="Arimo Bold"/>
              </a:rPr>
              <a:t>Năng lực chiến lược đạt được </a:t>
            </a:r>
          </a:p>
        </p:txBody>
      </p:sp>
      <p:sp>
        <p:nvSpPr>
          <p:cNvPr id="12" name="TextBox 12"/>
          <p:cNvSpPr txBox="1"/>
          <p:nvPr/>
        </p:nvSpPr>
        <p:spPr>
          <a:xfrm>
            <a:off x="2639557" y="4328873"/>
            <a:ext cx="5951994" cy="2408555"/>
          </a:xfrm>
          <a:prstGeom prst="rect">
            <a:avLst/>
          </a:prstGeom>
        </p:spPr>
        <p:txBody>
          <a:bodyPr lIns="0" tIns="0" rIns="0" bIns="0" rtlCol="0" anchor="t">
            <a:spAutoFit/>
          </a:bodyPr>
          <a:lstStyle/>
          <a:p>
            <a:pPr marL="496567" lvl="1" indent="-248284" algn="l">
              <a:lnSpc>
                <a:spcPts val="3219"/>
              </a:lnSpc>
              <a:buFont typeface="Arial"/>
              <a:buChar char="•"/>
            </a:pPr>
            <a:r>
              <a:rPr lang="en-US" sz="2299">
                <a:solidFill>
                  <a:srgbClr val="194A8D"/>
                </a:solidFill>
                <a:latin typeface="Arimo"/>
                <a:ea typeface="Arimo"/>
                <a:cs typeface="Arimo"/>
                <a:sym typeface="Arimo"/>
              </a:rPr>
              <a:t>·Truy cập mượt mà hơn vào ứng dụng (ít lỗi kết nối, phản hồi nhanh).</a:t>
            </a:r>
          </a:p>
          <a:p>
            <a:pPr marL="496567" lvl="1" indent="-248284" algn="l">
              <a:lnSpc>
                <a:spcPts val="3219"/>
              </a:lnSpc>
              <a:buFont typeface="Arial"/>
              <a:buChar char="•"/>
            </a:pPr>
            <a:r>
              <a:rPr lang="en-US" sz="2299">
                <a:solidFill>
                  <a:srgbClr val="194A8D"/>
                </a:solidFill>
                <a:latin typeface="Arimo"/>
                <a:ea typeface="Arimo"/>
                <a:cs typeface="Arimo"/>
                <a:sym typeface="Arimo"/>
              </a:rPr>
              <a:t>·Giảm thời gian load trang, giảm tỷ lệ bounce rate từ người dùng.</a:t>
            </a:r>
          </a:p>
          <a:p>
            <a:pPr marL="496567" lvl="1" indent="-248284" algn="l">
              <a:lnSpc>
                <a:spcPts val="3219"/>
              </a:lnSpc>
              <a:buFont typeface="Arial"/>
              <a:buChar char="•"/>
            </a:pPr>
            <a:r>
              <a:rPr lang="en-US" sz="2299">
                <a:solidFill>
                  <a:srgbClr val="194A8D"/>
                </a:solidFill>
                <a:latin typeface="Arimo"/>
                <a:ea typeface="Arimo"/>
                <a:cs typeface="Arimo"/>
                <a:sym typeface="Arimo"/>
              </a:rPr>
              <a:t>·Tăng độ tin cậy hệ thống → tăng chuyển đổi đơn hàng hoặc hành vi tương tác.</a:t>
            </a:r>
          </a:p>
        </p:txBody>
      </p:sp>
      <p:sp>
        <p:nvSpPr>
          <p:cNvPr id="13" name="TextBox 13"/>
          <p:cNvSpPr txBox="1"/>
          <p:nvPr/>
        </p:nvSpPr>
        <p:spPr>
          <a:xfrm>
            <a:off x="10174513" y="4369752"/>
            <a:ext cx="5929484" cy="2808605"/>
          </a:xfrm>
          <a:prstGeom prst="rect">
            <a:avLst/>
          </a:prstGeom>
        </p:spPr>
        <p:txBody>
          <a:bodyPr lIns="0" tIns="0" rIns="0" bIns="0" rtlCol="0" anchor="t">
            <a:spAutoFit/>
          </a:bodyPr>
          <a:lstStyle/>
          <a:p>
            <a:pPr marL="496567" lvl="1" indent="-248284" algn="l">
              <a:lnSpc>
                <a:spcPts val="3219"/>
              </a:lnSpc>
              <a:buFont typeface="Arial"/>
              <a:buChar char="•"/>
            </a:pPr>
            <a:r>
              <a:rPr lang="en-US" sz="2299">
                <a:solidFill>
                  <a:srgbClr val="194A8D"/>
                </a:solidFill>
                <a:latin typeface="Arimo"/>
                <a:ea typeface="Arimo"/>
                <a:cs typeface="Arimo"/>
                <a:sym typeface="Arimo"/>
              </a:rPr>
              <a:t>·Tăng cường hiểu biết và vận hành hiệu quả RDS Proxy + ECS + IAM + Monitoring.</a:t>
            </a:r>
          </a:p>
          <a:p>
            <a:pPr marL="496567" lvl="1" indent="-248284" algn="l">
              <a:lnSpc>
                <a:spcPts val="3219"/>
              </a:lnSpc>
              <a:buFont typeface="Arial"/>
              <a:buChar char="•"/>
            </a:pPr>
            <a:r>
              <a:rPr lang="en-US" sz="2299">
                <a:solidFill>
                  <a:srgbClr val="194A8D"/>
                </a:solidFill>
                <a:latin typeface="Arimo"/>
                <a:ea typeface="Arimo"/>
                <a:cs typeface="Arimo"/>
                <a:sym typeface="Arimo"/>
              </a:rPr>
              <a:t>·Sẵn sàng mở rộng mô hình cho hệ thống khác trong tổ chức.</a:t>
            </a:r>
          </a:p>
          <a:p>
            <a:pPr marL="496567" lvl="1" indent="-248284" algn="l">
              <a:lnSpc>
                <a:spcPts val="3219"/>
              </a:lnSpc>
              <a:buFont typeface="Arial"/>
              <a:buChar char="•"/>
            </a:pPr>
            <a:r>
              <a:rPr lang="en-US" sz="2299">
                <a:solidFill>
                  <a:srgbClr val="194A8D"/>
                </a:solidFill>
                <a:latin typeface="Arimo"/>
                <a:ea typeface="Arimo"/>
                <a:cs typeface="Arimo"/>
                <a:sym typeface="Arimo"/>
              </a:rPr>
              <a:t>·Góp phần nâng cao năng lực vận hành bảo mật và tự động hóa hiện đại.</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rotWithShape="1">
          <a:gsLst>
            <a:gs pos="0">
              <a:srgbClr val="4874B0">
                <a:alpha val="100000"/>
              </a:srgbClr>
            </a:gs>
            <a:gs pos="100000">
              <a:srgbClr val="053371">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Freeform 2"/>
          <p:cNvSpPr/>
          <p:nvPr/>
        </p:nvSpPr>
        <p:spPr>
          <a:xfrm>
            <a:off x="6635353" y="6637609"/>
            <a:ext cx="8572348" cy="4043501"/>
          </a:xfrm>
          <a:custGeom>
            <a:avLst/>
            <a:gdLst/>
            <a:ahLst/>
            <a:cxnLst/>
            <a:rect l="l" t="t" r="r" b="b"/>
            <a:pathLst>
              <a:path w="8572348" h="4043501">
                <a:moveTo>
                  <a:pt x="0" y="0"/>
                </a:moveTo>
                <a:lnTo>
                  <a:pt x="8572348" y="0"/>
                </a:lnTo>
                <a:lnTo>
                  <a:pt x="8572348" y="4043501"/>
                </a:lnTo>
                <a:lnTo>
                  <a:pt x="0" y="404350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4081354" y="1028700"/>
            <a:ext cx="4282420" cy="8229600"/>
          </a:xfrm>
          <a:custGeom>
            <a:avLst/>
            <a:gdLst/>
            <a:ahLst/>
            <a:cxnLst/>
            <a:rect l="l" t="t" r="r" b="b"/>
            <a:pathLst>
              <a:path w="4282420" h="8229600">
                <a:moveTo>
                  <a:pt x="0" y="0"/>
                </a:moveTo>
                <a:lnTo>
                  <a:pt x="4282420" y="0"/>
                </a:lnTo>
                <a:lnTo>
                  <a:pt x="4282420" y="8229600"/>
                </a:lnTo>
                <a:lnTo>
                  <a:pt x="0" y="8229600"/>
                </a:lnTo>
                <a:lnTo>
                  <a:pt x="0" y="0"/>
                </a:lnTo>
                <a:close/>
              </a:path>
            </a:pathLst>
          </a:custGeom>
          <a:blipFill>
            <a:blip r:embed="rId4"/>
            <a:stretch>
              <a:fillRect/>
            </a:stretch>
          </a:blipFill>
        </p:spPr>
      </p:sp>
      <p:sp>
        <p:nvSpPr>
          <p:cNvPr id="4" name="Freeform 4"/>
          <p:cNvSpPr/>
          <p:nvPr/>
        </p:nvSpPr>
        <p:spPr>
          <a:xfrm flipH="1">
            <a:off x="0" y="1028700"/>
            <a:ext cx="4282420" cy="8229600"/>
          </a:xfrm>
          <a:custGeom>
            <a:avLst/>
            <a:gdLst/>
            <a:ahLst/>
            <a:cxnLst/>
            <a:rect l="l" t="t" r="r" b="b"/>
            <a:pathLst>
              <a:path w="4282420" h="8229600">
                <a:moveTo>
                  <a:pt x="4282420" y="0"/>
                </a:moveTo>
                <a:lnTo>
                  <a:pt x="0" y="0"/>
                </a:lnTo>
                <a:lnTo>
                  <a:pt x="0" y="8229600"/>
                </a:lnTo>
                <a:lnTo>
                  <a:pt x="4282420" y="8229600"/>
                </a:lnTo>
                <a:lnTo>
                  <a:pt x="4282420" y="0"/>
                </a:lnTo>
                <a:close/>
              </a:path>
            </a:pathLst>
          </a:custGeom>
          <a:blipFill>
            <a:blip r:embed="rId4"/>
            <a:stretch>
              <a:fillRect/>
            </a:stretch>
          </a:blipFill>
        </p:spPr>
      </p:sp>
      <p:sp>
        <p:nvSpPr>
          <p:cNvPr id="5" name="TextBox 5"/>
          <p:cNvSpPr txBox="1"/>
          <p:nvPr/>
        </p:nvSpPr>
        <p:spPr>
          <a:xfrm>
            <a:off x="4628749" y="3858064"/>
            <a:ext cx="9030502" cy="3396836"/>
          </a:xfrm>
          <a:prstGeom prst="rect">
            <a:avLst/>
          </a:prstGeom>
        </p:spPr>
        <p:txBody>
          <a:bodyPr lIns="0" tIns="0" rIns="0" bIns="0" rtlCol="0" anchor="t">
            <a:spAutoFit/>
          </a:bodyPr>
          <a:lstStyle/>
          <a:p>
            <a:pPr algn="ctr">
              <a:lnSpc>
                <a:spcPts val="13184"/>
              </a:lnSpc>
            </a:pPr>
            <a:r>
              <a:rPr lang="en-US" sz="12438" spc="1243">
                <a:solidFill>
                  <a:srgbClr val="FFFFFF"/>
                </a:solidFill>
                <a:latin typeface="League Spartan"/>
                <a:ea typeface="League Spartan"/>
                <a:cs typeface="League Spartan"/>
                <a:sym typeface="League Spartan"/>
              </a:rPr>
              <a:t>THANK YOU</a:t>
            </a:r>
          </a:p>
        </p:txBody>
      </p:sp>
      <p:sp>
        <p:nvSpPr>
          <p:cNvPr id="6" name="Freeform 6"/>
          <p:cNvSpPr/>
          <p:nvPr/>
        </p:nvSpPr>
        <p:spPr>
          <a:xfrm>
            <a:off x="0" y="6637609"/>
            <a:ext cx="8572348" cy="4043501"/>
          </a:xfrm>
          <a:custGeom>
            <a:avLst/>
            <a:gdLst/>
            <a:ahLst/>
            <a:cxnLst/>
            <a:rect l="l" t="t" r="r" b="b"/>
            <a:pathLst>
              <a:path w="8572348" h="4043501">
                <a:moveTo>
                  <a:pt x="0" y="0"/>
                </a:moveTo>
                <a:lnTo>
                  <a:pt x="8572348" y="0"/>
                </a:lnTo>
                <a:lnTo>
                  <a:pt x="8572348" y="4043501"/>
                </a:lnTo>
                <a:lnTo>
                  <a:pt x="0" y="404350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7" name="Freeform 7"/>
          <p:cNvSpPr/>
          <p:nvPr/>
        </p:nvSpPr>
        <p:spPr>
          <a:xfrm>
            <a:off x="13270706" y="6637609"/>
            <a:ext cx="8572348" cy="4043501"/>
          </a:xfrm>
          <a:custGeom>
            <a:avLst/>
            <a:gdLst/>
            <a:ahLst/>
            <a:cxnLst/>
            <a:rect l="l" t="t" r="r" b="b"/>
            <a:pathLst>
              <a:path w="8572348" h="4043501">
                <a:moveTo>
                  <a:pt x="0" y="0"/>
                </a:moveTo>
                <a:lnTo>
                  <a:pt x="8572348" y="0"/>
                </a:lnTo>
                <a:lnTo>
                  <a:pt x="8572348" y="4043501"/>
                </a:lnTo>
                <a:lnTo>
                  <a:pt x="0" y="404350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8" name="Freeform 8"/>
          <p:cNvSpPr/>
          <p:nvPr/>
        </p:nvSpPr>
        <p:spPr>
          <a:xfrm>
            <a:off x="8278001" y="1028700"/>
            <a:ext cx="1731997" cy="1499565"/>
          </a:xfrm>
          <a:custGeom>
            <a:avLst/>
            <a:gdLst/>
            <a:ahLst/>
            <a:cxnLst/>
            <a:rect l="l" t="t" r="r" b="b"/>
            <a:pathLst>
              <a:path w="1731997" h="1499565">
                <a:moveTo>
                  <a:pt x="0" y="0"/>
                </a:moveTo>
                <a:lnTo>
                  <a:pt x="1731998" y="0"/>
                </a:lnTo>
                <a:lnTo>
                  <a:pt x="1731998" y="1499565"/>
                </a:lnTo>
                <a:lnTo>
                  <a:pt x="0" y="149956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2261</Words>
  <Application>Microsoft Office PowerPoint</Application>
  <PresentationFormat>Custom</PresentationFormat>
  <Paragraphs>193</Paragraphs>
  <Slides>37</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37</vt:i4>
      </vt:variant>
    </vt:vector>
  </HeadingPairs>
  <TitlesOfParts>
    <vt:vector size="44" baseType="lpstr">
      <vt:lpstr>League Spartan</vt:lpstr>
      <vt:lpstr>Arimo</vt:lpstr>
      <vt:lpstr>Arial</vt:lpstr>
      <vt:lpstr>Arimo Bold</vt:lpstr>
      <vt:lpstr>Calibri</vt: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and White Simple Business Plan Presentation</dc:title>
  <cp:lastModifiedBy>Thanh Trần</cp:lastModifiedBy>
  <cp:revision>2</cp:revision>
  <dcterms:created xsi:type="dcterms:W3CDTF">2006-08-16T00:00:00Z</dcterms:created>
  <dcterms:modified xsi:type="dcterms:W3CDTF">2025-08-07T17:33:48Z</dcterms:modified>
  <dc:identifier>DAGsqKL6qZo</dc:identifier>
</cp:coreProperties>
</file>